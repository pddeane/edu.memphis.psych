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6"/>
  </p:notesMasterIdLst>
  <p:sldIdLst>
    <p:sldId id="258" r:id="rId2"/>
    <p:sldId id="312" r:id="rId3"/>
    <p:sldId id="257" r:id="rId4"/>
    <p:sldId id="343" r:id="rId5"/>
    <p:sldId id="259" r:id="rId6"/>
    <p:sldId id="260" r:id="rId7"/>
    <p:sldId id="261" r:id="rId8"/>
    <p:sldId id="331" r:id="rId9"/>
    <p:sldId id="338" r:id="rId10"/>
    <p:sldId id="262" r:id="rId11"/>
    <p:sldId id="263" r:id="rId12"/>
    <p:sldId id="264" r:id="rId13"/>
    <p:sldId id="265" r:id="rId14"/>
    <p:sldId id="266" r:id="rId15"/>
    <p:sldId id="267" r:id="rId16"/>
    <p:sldId id="268" r:id="rId17"/>
    <p:sldId id="269" r:id="rId18"/>
    <p:sldId id="270" r:id="rId19"/>
    <p:sldId id="340" r:id="rId20"/>
    <p:sldId id="271" r:id="rId21"/>
    <p:sldId id="272" r:id="rId22"/>
    <p:sldId id="273" r:id="rId23"/>
    <p:sldId id="274" r:id="rId24"/>
    <p:sldId id="275" r:id="rId25"/>
    <p:sldId id="276" r:id="rId26"/>
    <p:sldId id="277" r:id="rId27"/>
    <p:sldId id="278" r:id="rId28"/>
    <p:sldId id="279" r:id="rId29"/>
    <p:sldId id="280" r:id="rId30"/>
    <p:sldId id="342"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300" r:id="rId49"/>
    <p:sldId id="302" r:id="rId50"/>
    <p:sldId id="339" r:id="rId51"/>
    <p:sldId id="303" r:id="rId52"/>
    <p:sldId id="304" r:id="rId53"/>
    <p:sldId id="305" r:id="rId54"/>
    <p:sldId id="306" r:id="rId55"/>
    <p:sldId id="307" r:id="rId56"/>
    <p:sldId id="308" r:id="rId57"/>
    <p:sldId id="347" r:id="rId58"/>
    <p:sldId id="345" r:id="rId59"/>
    <p:sldId id="333" r:id="rId60"/>
    <p:sldId id="337" r:id="rId61"/>
    <p:sldId id="352" r:id="rId62"/>
    <p:sldId id="354" r:id="rId63"/>
    <p:sldId id="349" r:id="rId64"/>
    <p:sldId id="348" r:id="rId65"/>
  </p:sldIdLst>
  <p:sldSz cx="9144000" cy="6858000" type="screen4x3"/>
  <p:notesSz cx="6858000" cy="9144000"/>
  <p:embeddedFontLst>
    <p:embeddedFont>
      <p:font typeface="Alexandria Medium" panose="020F0502020204030204" pitchFamily="34" charset="0"/>
      <p:regular r:id="rId67"/>
      <p:bold r:id="rId68"/>
      <p:italic r:id="rId69"/>
      <p:boldItalic r:id="rId70"/>
    </p:embeddedFont>
    <p:embeddedFont>
      <p:font typeface="Noto Sans Symbols" pitchFamily="2" charset="0"/>
      <p:regular r:id="rId71"/>
      <p:bold r:id="rId72"/>
    </p:embeddedFont>
    <p:embeddedFont>
      <p:font typeface="Trebuchet MS" panose="020B0703020202090204" pitchFamily="34" charset="0"/>
      <p:regular r:id="rId73"/>
      <p:bold r:id="rId74"/>
      <p: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68">
          <p15:clr>
            <a:srgbClr val="A4A3A4"/>
          </p15:clr>
        </p15:guide>
        <p15:guide id="2" pos="2965">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2" roundtripDataSignature="AMtx7mjSEWnhBZxYS9onlXL12Dti5hDf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0070C0"/>
    <a:srgbClr val="012C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73320A-F7E7-45D1-BDA6-34F271F3EE2B}">
  <a:tblStyle styleId="{8C73320A-F7E7-45D1-BDA6-34F271F3EE2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DF1FC"/>
          </a:solidFill>
        </a:fill>
      </a:tcStyle>
    </a:wholeTbl>
    <a:band1H>
      <a:tcTxStyle b="off" i="off"/>
      <a:tcStyle>
        <a:tcBdr/>
        <a:fill>
          <a:solidFill>
            <a:srgbClr val="DAE3F8"/>
          </a:solidFill>
        </a:fill>
      </a:tcStyle>
    </a:band1H>
    <a:band2H>
      <a:tcTxStyle b="off" i="off"/>
      <a:tcStyle>
        <a:tcBdr/>
      </a:tcStyle>
    </a:band2H>
    <a:band1V>
      <a:tcTxStyle b="off" i="off"/>
      <a:tcStyle>
        <a:tcBdr/>
        <a:fill>
          <a:solidFill>
            <a:srgbClr val="DAE3F8"/>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53416"/>
  </p:normalViewPr>
  <p:slideViewPr>
    <p:cSldViewPr snapToGrid="0">
      <p:cViewPr varScale="1">
        <p:scale>
          <a:sx n="56" d="100"/>
          <a:sy n="56" d="100"/>
        </p:scale>
        <p:origin x="1880" y="168"/>
      </p:cViewPr>
      <p:guideLst>
        <p:guide orient="horz" pos="768"/>
        <p:guide pos="2965"/>
      </p:guideLst>
    </p:cSldViewPr>
  </p:slideViewPr>
  <p:notesTextViewPr>
    <p:cViewPr>
      <p:scale>
        <a:sx n="130" d="100"/>
        <a:sy n="13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slide" Target="slides/slide60.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5.fntdata"/><Relationship Id="rId92" Type="http://customschemas.google.com/relationships/presentationmetadata" Target="meta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69" name="Google Shape;69;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 Please remind students that these meetings are mandatory!! Emphasize that the sooner they complete the meeting, the better. **</a:t>
            </a:r>
          </a:p>
          <a:p>
            <a:endParaRPr lang="en-US" sz="1600" dirty="0"/>
          </a:p>
          <a:p>
            <a:r>
              <a:rPr lang="en-US" sz="1600" dirty="0"/>
              <a:t>Read slide. </a:t>
            </a:r>
          </a:p>
          <a:p>
            <a:endParaRPr lang="en-US" sz="1600" dirty="0"/>
          </a:p>
          <a:p>
            <a:r>
              <a:rPr lang="en-US" sz="1600" b="1" dirty="0"/>
              <a:t>“Please, do not stand us up for your five-minute meeting! </a:t>
            </a:r>
            <a:r>
              <a:rPr lang="en-US" sz="1600" b="1" dirty="0">
                <a:sym typeface="Wingdings" pitchFamily="2" charset="2"/>
              </a:rPr>
              <a:t> </a:t>
            </a:r>
            <a:r>
              <a:rPr lang="en-US" sz="1600" b="1" dirty="0"/>
              <a:t>If you MUST miss unexpectedly, please email us.”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025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rtl="0">
              <a:spcBef>
                <a:spcPts val="0"/>
              </a:spcBef>
              <a:spcAft>
                <a:spcPts val="0"/>
              </a:spcAft>
            </a:pPr>
            <a:r>
              <a:rPr lang="en-US" sz="1800" b="0" i="0" u="none" strike="noStrike" dirty="0">
                <a:solidFill>
                  <a:srgbClr val="000000"/>
                </a:solidFill>
                <a:effectLst/>
                <a:latin typeface="Calibri" panose="020F0502020204030204" pitchFamily="34" charset="0"/>
              </a:rPr>
              <a:t>Today, we will be covering Operant Conditioning! </a:t>
            </a:r>
            <a:endParaRPr lang="en-US" b="0" dirty="0">
              <a:effectLst/>
            </a:endParaRPr>
          </a:p>
          <a:p>
            <a:pPr rtl="0">
              <a:spcBef>
                <a:spcPts val="0"/>
              </a:spcBef>
              <a:spcAft>
                <a:spcPts val="0"/>
              </a:spcAft>
            </a:pPr>
            <a:br>
              <a:rPr lang="en-US" b="0" dirty="0">
                <a:effectLst/>
              </a:rPr>
            </a:br>
            <a:r>
              <a:rPr lang="en-US" sz="1800" b="0" i="0" u="none" strike="noStrike" dirty="0">
                <a:solidFill>
                  <a:srgbClr val="000000"/>
                </a:solidFill>
                <a:effectLst/>
                <a:latin typeface="Calibri" panose="020F0502020204030204" pitchFamily="34" charset="0"/>
              </a:rPr>
              <a:t>Sometimes Operant Conditioning is hard for students to grasp at first; however, we will </a:t>
            </a:r>
            <a:r>
              <a:rPr lang="en-US" sz="1800" b="0" i="1" u="none" strike="noStrike" dirty="0">
                <a:solidFill>
                  <a:srgbClr val="000000"/>
                </a:solidFill>
                <a:effectLst/>
                <a:latin typeface="Calibri" panose="020F0502020204030204" pitchFamily="34" charset="0"/>
              </a:rPr>
              <a:t>slowly</a:t>
            </a:r>
            <a:r>
              <a:rPr lang="en-US" sz="1800" b="0" i="0" u="none" strike="noStrike" dirty="0">
                <a:solidFill>
                  <a:srgbClr val="000000"/>
                </a:solidFill>
                <a:effectLst/>
                <a:latin typeface="Calibri" panose="020F0502020204030204" pitchFamily="34" charset="0"/>
              </a:rPr>
              <a:t> walk you through it and provide you with A LOT of examples. </a:t>
            </a:r>
            <a:endParaRPr lang="en-US" b="0" dirty="0">
              <a:effectLst/>
            </a:endParaRPr>
          </a:p>
          <a:p>
            <a:pPr rtl="0">
              <a:spcBef>
                <a:spcPts val="0"/>
              </a:spcBef>
              <a:spcAft>
                <a:spcPts val="0"/>
              </a:spcAft>
            </a:pPr>
            <a:br>
              <a:rPr lang="en-US" b="0" dirty="0">
                <a:effectLst/>
              </a:rPr>
            </a:br>
            <a:r>
              <a:rPr lang="en-US" sz="1800" b="0" i="0" u="none" strike="noStrike" dirty="0">
                <a:solidFill>
                  <a:srgbClr val="000000"/>
                </a:solidFill>
                <a:effectLst/>
                <a:latin typeface="Calibri" panose="020F0502020204030204" pitchFamily="34" charset="0"/>
              </a:rPr>
              <a:t>You will also be completing a worksheet to practice labeling different scenarios as specific types of operant conditioning later in class today.</a:t>
            </a:r>
            <a:endParaRPr lang="en-US" b="0" dirty="0">
              <a:effectLst/>
            </a:endParaRPr>
          </a:p>
          <a:p>
            <a:br>
              <a:rPr lang="en-US" dirty="0"/>
            </a:br>
            <a:endParaRPr dirty="0"/>
          </a:p>
        </p:txBody>
      </p:sp>
      <p:sp>
        <p:nvSpPr>
          <p:cNvPr id="63" name="Google Shape;63;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5C8FA3DF-1051-E246-BEB0-2224C1C06AF5}"/>
            </a:ext>
          </a:extLst>
        </p:cNvPr>
        <p:cNvGrpSpPr/>
        <p:nvPr/>
      </p:nvGrpSpPr>
      <p:grpSpPr>
        <a:xfrm>
          <a:off x="0" y="0"/>
          <a:ext cx="0" cy="0"/>
          <a:chOff x="0" y="0"/>
          <a:chExt cx="0" cy="0"/>
        </a:xfrm>
      </p:grpSpPr>
      <p:sp>
        <p:nvSpPr>
          <p:cNvPr id="67" name="Google Shape;67;p2:notes">
            <a:extLst>
              <a:ext uri="{FF2B5EF4-FFF2-40B4-BE49-F238E27FC236}">
                <a16:creationId xmlns:a16="http://schemas.microsoft.com/office/drawing/2014/main" id="{9F63675A-0CFF-B2A6-1E7D-8BBD2DDF2CA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2:notes">
            <a:extLst>
              <a:ext uri="{FF2B5EF4-FFF2-40B4-BE49-F238E27FC236}">
                <a16:creationId xmlns:a16="http://schemas.microsoft.com/office/drawing/2014/main" id="{2CE4F844-066B-7759-159F-0778A0B404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69" name="Google Shape;69;p2:notes">
            <a:extLst>
              <a:ext uri="{FF2B5EF4-FFF2-40B4-BE49-F238E27FC236}">
                <a16:creationId xmlns:a16="http://schemas.microsoft.com/office/drawing/2014/main" id="{AE49D07C-64B3-328A-AA27-21231E4B2F4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701583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dirty="0">
                <a:solidFill>
                  <a:srgbClr val="000000"/>
                </a:solidFill>
                <a:effectLst/>
                <a:latin typeface="Calibri" panose="020F0502020204030204" pitchFamily="34" charset="0"/>
              </a:rPr>
              <a:t>Since this is the learning chapter, we are having you engage in </a:t>
            </a:r>
            <a:r>
              <a:rPr lang="en-US" sz="1800" b="0" i="0" u="sng" dirty="0">
                <a:solidFill>
                  <a:srgbClr val="000000"/>
                </a:solidFill>
                <a:effectLst/>
                <a:latin typeface="Calibri" panose="020F0502020204030204" pitchFamily="34" charset="0"/>
              </a:rPr>
              <a:t>active learning</a:t>
            </a:r>
            <a:r>
              <a:rPr lang="en-US" sz="1800" b="0" i="0" u="none" strike="noStrike" dirty="0">
                <a:solidFill>
                  <a:srgbClr val="000000"/>
                </a:solidFill>
                <a:effectLst/>
                <a:latin typeface="Calibri" panose="020F0502020204030204" pitchFamily="34" charset="0"/>
              </a:rPr>
              <a:t>, which involves not only going through examples of the types of Operant Conditioning one by one in the PowerPoint and your taking notes, but also having you practice the skill of labeling different types of Operant Conditioning by completing a worksheet later in class. </a:t>
            </a:r>
            <a:endParaRPr dirty="0"/>
          </a:p>
        </p:txBody>
      </p:sp>
      <p:sp>
        <p:nvSpPr>
          <p:cNvPr id="76" name="Google Shape;76;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A behavior is not a thought – can you see someone’s thoughts?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The behavior must be observable (action verbs).</a:t>
            </a:r>
          </a:p>
        </p:txBody>
      </p:sp>
      <p:sp>
        <p:nvSpPr>
          <p:cNvPr id="82" name="Google Shape;82;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dirty="0"/>
              <a:t>First, let’s take a look at this chart. TAKE NOTES ON YOUR CHART!! Write down examples of the different types of operant conditioning as we teach you. </a:t>
            </a:r>
            <a:r>
              <a:rPr lang="en-US" b="1" dirty="0">
                <a:sym typeface="Wingdings" pitchFamily="2" charset="2"/>
              </a:rPr>
              <a:t></a:t>
            </a:r>
            <a:endParaRPr dirty="0"/>
          </a:p>
          <a:p>
            <a:pPr marL="0" lvl="0" indent="0" algn="l" rtl="0">
              <a:lnSpc>
                <a:spcPct val="100000"/>
              </a:lnSpc>
              <a:spcBef>
                <a:spcPts val="0"/>
              </a:spcBef>
              <a:spcAft>
                <a:spcPts val="0"/>
              </a:spcAft>
              <a:buSzPts val="1400"/>
              <a:buNone/>
            </a:pPr>
            <a:endParaRPr b="1" dirty="0"/>
          </a:p>
          <a:p>
            <a:pPr marL="0" lvl="0" indent="0" algn="l" rtl="0">
              <a:lnSpc>
                <a:spcPct val="100000"/>
              </a:lnSpc>
              <a:spcBef>
                <a:spcPts val="0"/>
              </a:spcBef>
              <a:spcAft>
                <a:spcPts val="0"/>
              </a:spcAft>
              <a:buSzPts val="1400"/>
              <a:buNone/>
            </a:pPr>
            <a:r>
              <a:rPr lang="en-US" b="1" dirty="0"/>
              <a:t>Go through this visual representation of four types of operant conditioning. </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b="1" dirty="0"/>
              <a:t>Mention to students that this may look confusing, but we are going to walk them through it slowly. </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b="1" dirty="0"/>
              <a:t>Talk about Rows and Columns.</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b="1" dirty="0"/>
              <a:t>The Middle Row -  </a:t>
            </a:r>
            <a:r>
              <a:rPr lang="en-US" dirty="0"/>
              <a:t>When the behavior happens MORE often, then </a:t>
            </a:r>
            <a:r>
              <a:rPr lang="en-US" u="sng" dirty="0"/>
              <a:t>reinforcement</a:t>
            </a:r>
            <a:r>
              <a:rPr lang="en-US" dirty="0"/>
              <a:t> is at work.</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b="1" dirty="0"/>
              <a:t>The Bottom Row – </a:t>
            </a:r>
            <a:r>
              <a:rPr lang="en-US" dirty="0"/>
              <a:t>When the behavior happens LESS often, then </a:t>
            </a:r>
            <a:r>
              <a:rPr lang="en-US" u="sng" dirty="0"/>
              <a:t>punishment</a:t>
            </a:r>
            <a:r>
              <a:rPr lang="en-US" dirty="0"/>
              <a:t> is at work. </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b="1" dirty="0"/>
              <a:t>The Middle Column – </a:t>
            </a:r>
            <a:r>
              <a:rPr lang="en-US" dirty="0"/>
              <a:t>When you ADD or give something, then it is </a:t>
            </a:r>
            <a:r>
              <a:rPr lang="en-US" u="sng" dirty="0"/>
              <a:t>positive</a:t>
            </a:r>
            <a:r>
              <a:rPr lang="en-US" dirty="0"/>
              <a:t>. </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b="1" dirty="0"/>
              <a:t>The Right Column – </a:t>
            </a:r>
            <a:r>
              <a:rPr lang="en-US" dirty="0"/>
              <a:t>When you SUBTRACT or take away something, then it is </a:t>
            </a:r>
            <a:r>
              <a:rPr lang="en-US" u="sng" dirty="0"/>
              <a:t>negative</a:t>
            </a:r>
            <a:r>
              <a:rPr lang="en-US" dirty="0"/>
              <a:t>. </a:t>
            </a:r>
            <a:endParaRPr dirty="0"/>
          </a:p>
        </p:txBody>
      </p:sp>
      <p:sp>
        <p:nvSpPr>
          <p:cNvPr id="90" name="Google Shape;90;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2677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Dr. Mollie introduced in lecture, there are four types of operant conditioning, and we are going to review them today in Small Group.” </a:t>
            </a:r>
          </a:p>
          <a:p>
            <a:endParaRPr lang="en-US" dirty="0"/>
          </a:p>
          <a:p>
            <a:r>
              <a:rPr lang="en-US" dirty="0"/>
              <a:t>“Here is a chart that we are going to use today to help us understand more about each type. For now, I just want you to recall the four types.” Point out the four squares with your hands. </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3578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dirty="0"/>
              <a:t>Operates: </a:t>
            </a:r>
            <a:r>
              <a:rPr lang="en-US" b="0" u="sng" dirty="0"/>
              <a:t>active – action verb!</a:t>
            </a:r>
            <a:endParaRPr b="0" dirty="0"/>
          </a:p>
          <a:p>
            <a:pPr marL="0" lvl="0" indent="0" algn="l" rtl="0">
              <a:lnSpc>
                <a:spcPct val="100000"/>
              </a:lnSpc>
              <a:spcBef>
                <a:spcPts val="0"/>
              </a:spcBef>
              <a:spcAft>
                <a:spcPts val="0"/>
              </a:spcAft>
              <a:buSzPts val="1400"/>
              <a:buNone/>
            </a:pPr>
            <a:endParaRPr b="1" dirty="0"/>
          </a:p>
          <a:p>
            <a:pPr marL="0" lvl="0" indent="0" algn="l" rtl="0">
              <a:lnSpc>
                <a:spcPct val="100000"/>
              </a:lnSpc>
              <a:spcBef>
                <a:spcPts val="0"/>
              </a:spcBef>
              <a:spcAft>
                <a:spcPts val="0"/>
              </a:spcAft>
              <a:buSzPts val="1400"/>
              <a:buNone/>
            </a:pPr>
            <a:r>
              <a:rPr lang="en-US" b="1" dirty="0"/>
              <a:t>Example for definition: </a:t>
            </a:r>
            <a:endParaRPr b="1"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dirty="0"/>
              <a:t>I wear a new pair of earrings. (Behavior). </a:t>
            </a:r>
            <a:endParaRPr dirty="0"/>
          </a:p>
          <a:p>
            <a:pPr marL="0" lvl="0" indent="0" algn="l" rtl="0">
              <a:lnSpc>
                <a:spcPct val="100000"/>
              </a:lnSpc>
              <a:spcBef>
                <a:spcPts val="0"/>
              </a:spcBef>
              <a:spcAft>
                <a:spcPts val="0"/>
              </a:spcAft>
              <a:buSzPts val="1400"/>
              <a:buNone/>
            </a:pPr>
            <a:r>
              <a:rPr lang="en-US" dirty="0"/>
              <a:t>My friends compliment me on the earrings (reinforced for doing that behavior).</a:t>
            </a:r>
            <a:endParaRPr dirty="0"/>
          </a:p>
          <a:p>
            <a:pPr marL="0" lvl="0" indent="0" algn="l" rtl="0">
              <a:lnSpc>
                <a:spcPct val="100000"/>
              </a:lnSpc>
              <a:spcBef>
                <a:spcPts val="0"/>
              </a:spcBef>
              <a:spcAft>
                <a:spcPts val="0"/>
              </a:spcAft>
              <a:buSzPts val="1400"/>
              <a:buNone/>
            </a:pPr>
            <a:r>
              <a:rPr lang="en-US" dirty="0"/>
              <a:t>I am more likely to wear those earrings in the future. (Continuance of the behavior because of Positive reinforcement) </a:t>
            </a:r>
          </a:p>
        </p:txBody>
      </p:sp>
      <p:sp>
        <p:nvSpPr>
          <p:cNvPr id="97" name="Google Shape;9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Raise hand for:</a:t>
            </a:r>
            <a:br>
              <a:rPr lang="en-US"/>
            </a:br>
            <a:r>
              <a:rPr lang="en-US"/>
              <a:t>A</a:t>
            </a:r>
            <a:endParaRPr/>
          </a:p>
          <a:p>
            <a:pPr marL="0" lvl="0" indent="0" algn="l" rtl="0">
              <a:lnSpc>
                <a:spcPct val="100000"/>
              </a:lnSpc>
              <a:spcBef>
                <a:spcPts val="0"/>
              </a:spcBef>
              <a:spcAft>
                <a:spcPts val="0"/>
              </a:spcAft>
              <a:buSzPts val="1400"/>
              <a:buNone/>
            </a:pPr>
            <a:r>
              <a:rPr lang="en-US"/>
              <a:t>B</a:t>
            </a:r>
            <a:endParaRPr/>
          </a:p>
          <a:p>
            <a:pPr marL="0" lvl="0" indent="0" algn="l" rtl="0">
              <a:lnSpc>
                <a:spcPct val="100000"/>
              </a:lnSpc>
              <a:spcBef>
                <a:spcPts val="0"/>
              </a:spcBef>
              <a:spcAft>
                <a:spcPts val="0"/>
              </a:spcAft>
              <a:buSzPts val="1400"/>
              <a:buNone/>
            </a:pPr>
            <a:r>
              <a:rPr lang="en-US"/>
              <a:t>C</a:t>
            </a:r>
            <a:endParaRPr/>
          </a:p>
          <a:p>
            <a:pPr marL="0" lvl="0" indent="0" algn="l" rtl="0">
              <a:lnSpc>
                <a:spcPct val="100000"/>
              </a:lnSpc>
              <a:spcBef>
                <a:spcPts val="0"/>
              </a:spcBef>
              <a:spcAft>
                <a:spcPts val="0"/>
              </a:spcAft>
              <a:buSzPts val="1400"/>
              <a:buNone/>
            </a:pPr>
            <a:endParaRPr/>
          </a:p>
        </p:txBody>
      </p:sp>
      <p:sp>
        <p:nvSpPr>
          <p:cNvPr id="108" name="Google Shape;108;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Raise hand for:</a:t>
            </a:r>
            <a:br>
              <a:rPr lang="en-US"/>
            </a:br>
            <a:r>
              <a:rPr lang="en-US"/>
              <a:t>A</a:t>
            </a:r>
            <a:endParaRPr/>
          </a:p>
          <a:p>
            <a:pPr marL="0" lvl="0" indent="0" algn="l" rtl="0">
              <a:lnSpc>
                <a:spcPct val="100000"/>
              </a:lnSpc>
              <a:spcBef>
                <a:spcPts val="0"/>
              </a:spcBef>
              <a:spcAft>
                <a:spcPts val="0"/>
              </a:spcAft>
              <a:buSzPts val="1400"/>
              <a:buNone/>
            </a:pPr>
            <a:r>
              <a:rPr lang="en-US"/>
              <a:t>B</a:t>
            </a:r>
            <a:endParaRPr/>
          </a:p>
          <a:p>
            <a:pPr marL="0" lvl="0" indent="0" algn="l" rtl="0">
              <a:lnSpc>
                <a:spcPct val="100000"/>
              </a:lnSpc>
              <a:spcBef>
                <a:spcPts val="0"/>
              </a:spcBef>
              <a:spcAft>
                <a:spcPts val="0"/>
              </a:spcAft>
              <a:buSzPts val="1400"/>
              <a:buNone/>
            </a:pPr>
            <a:r>
              <a:rPr lang="en-US"/>
              <a:t>C</a:t>
            </a:r>
            <a:endParaRPr/>
          </a:p>
          <a:p>
            <a:pPr marL="0" lvl="0" indent="0" algn="l" rtl="0">
              <a:lnSpc>
                <a:spcPct val="100000"/>
              </a:lnSpc>
              <a:spcBef>
                <a:spcPts val="0"/>
              </a:spcBef>
              <a:spcAft>
                <a:spcPts val="0"/>
              </a:spcAft>
              <a:buSzPts val="1400"/>
              <a:buNone/>
            </a:pPr>
            <a:endParaRPr/>
          </a:p>
        </p:txBody>
      </p:sp>
      <p:sp>
        <p:nvSpPr>
          <p:cNvPr id="115" name="Google Shape;115;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Raise hand for:</a:t>
            </a:r>
            <a:br>
              <a:rPr lang="en-US"/>
            </a:br>
            <a:r>
              <a:rPr lang="en-US"/>
              <a:t>A</a:t>
            </a:r>
            <a:endParaRPr/>
          </a:p>
          <a:p>
            <a:pPr marL="0" lvl="0" indent="0" algn="l" rtl="0">
              <a:lnSpc>
                <a:spcPct val="100000"/>
              </a:lnSpc>
              <a:spcBef>
                <a:spcPts val="0"/>
              </a:spcBef>
              <a:spcAft>
                <a:spcPts val="0"/>
              </a:spcAft>
              <a:buSzPts val="1400"/>
              <a:buNone/>
            </a:pPr>
            <a:r>
              <a:rPr lang="en-US"/>
              <a:t>B</a:t>
            </a:r>
            <a:endParaRPr/>
          </a:p>
          <a:p>
            <a:pPr marL="0" lvl="0" indent="0" algn="l" rtl="0">
              <a:lnSpc>
                <a:spcPct val="100000"/>
              </a:lnSpc>
              <a:spcBef>
                <a:spcPts val="0"/>
              </a:spcBef>
              <a:spcAft>
                <a:spcPts val="0"/>
              </a:spcAft>
              <a:buSzPts val="1400"/>
              <a:buNone/>
            </a:pPr>
            <a:r>
              <a:rPr lang="en-US"/>
              <a:t>C</a:t>
            </a:r>
            <a:endParaRPr/>
          </a:p>
          <a:p>
            <a:pPr marL="0" lvl="0" indent="0" algn="l" rtl="0">
              <a:lnSpc>
                <a:spcPct val="100000"/>
              </a:lnSpc>
              <a:spcBef>
                <a:spcPts val="0"/>
              </a:spcBef>
              <a:spcAft>
                <a:spcPts val="0"/>
              </a:spcAft>
              <a:buSzPts val="1400"/>
              <a:buNone/>
            </a:pPr>
            <a:endParaRPr/>
          </a:p>
        </p:txBody>
      </p:sp>
      <p:sp>
        <p:nvSpPr>
          <p:cNvPr id="123" name="Google Shape;123;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dirty="0"/>
              <a:t>This is a good slide to point out good test-taking skills</a:t>
            </a:r>
            <a:r>
              <a:rPr lang="en-US" dirty="0"/>
              <a:t>. We already know what statement is associated with b. (ASK CLASS WHAT B ANSWERS). </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dirty="0"/>
              <a:t>Who all says:</a:t>
            </a:r>
            <a:br>
              <a:rPr lang="en-US" dirty="0"/>
            </a:br>
            <a:r>
              <a:rPr lang="en-US" dirty="0"/>
              <a:t>A?</a:t>
            </a:r>
            <a:endParaRPr dirty="0"/>
          </a:p>
          <a:p>
            <a:pPr marL="0" lvl="0" indent="0" algn="l" rtl="0">
              <a:lnSpc>
                <a:spcPct val="100000"/>
              </a:lnSpc>
              <a:spcBef>
                <a:spcPts val="0"/>
              </a:spcBef>
              <a:spcAft>
                <a:spcPts val="0"/>
              </a:spcAft>
              <a:buSzPts val="1400"/>
              <a:buNone/>
            </a:pPr>
            <a:r>
              <a:rPr lang="en-US" dirty="0"/>
              <a:t>B? – no one should choose B because of Question 1</a:t>
            </a:r>
            <a:endParaRPr dirty="0"/>
          </a:p>
          <a:p>
            <a:pPr marL="0" lvl="0" indent="0" algn="l" rtl="0">
              <a:lnSpc>
                <a:spcPct val="100000"/>
              </a:lnSpc>
              <a:spcBef>
                <a:spcPts val="0"/>
              </a:spcBef>
              <a:spcAft>
                <a:spcPts val="0"/>
              </a:spcAft>
              <a:buSzPts val="1400"/>
              <a:buNone/>
            </a:pPr>
            <a:r>
              <a:rPr lang="en-US" dirty="0"/>
              <a:t>C?</a:t>
            </a:r>
            <a:endParaRPr dirty="0"/>
          </a:p>
        </p:txBody>
      </p:sp>
      <p:sp>
        <p:nvSpPr>
          <p:cNvPr id="137" name="Google Shape;137;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44" name="Google Shape;14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“Notice the colors here, throughout this presentation today:</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Reinforcement will be noted by the color green. </a:t>
            </a:r>
          </a:p>
          <a:p>
            <a:pPr marL="0" lvl="0" indent="0" algn="l" rtl="0">
              <a:lnSpc>
                <a:spcPct val="100000"/>
              </a:lnSpc>
              <a:spcBef>
                <a:spcPts val="0"/>
              </a:spcBef>
              <a:spcAft>
                <a:spcPts val="0"/>
              </a:spcAft>
              <a:buSzPts val="1400"/>
              <a:buNone/>
            </a:pPr>
            <a:r>
              <a:rPr lang="en-US" dirty="0"/>
              <a:t>Punishment will be noted by the color red. </a:t>
            </a:r>
          </a:p>
          <a:p>
            <a:pPr marL="0" lvl="0" indent="0" algn="l" rtl="0">
              <a:lnSpc>
                <a:spcPct val="100000"/>
              </a:lnSpc>
              <a:spcBef>
                <a:spcPts val="0"/>
              </a:spcBef>
              <a:spcAft>
                <a:spcPts val="0"/>
              </a:spcAft>
              <a:buSzPts val="1400"/>
              <a:buNone/>
            </a:pPr>
            <a:r>
              <a:rPr lang="en-US" dirty="0"/>
              <a:t>Positive will be noted by the color blue</a:t>
            </a:r>
          </a:p>
          <a:p>
            <a:pPr marL="0" lvl="0" indent="0" algn="l" rtl="0">
              <a:lnSpc>
                <a:spcPct val="100000"/>
              </a:lnSpc>
              <a:spcBef>
                <a:spcPts val="0"/>
              </a:spcBef>
              <a:spcAft>
                <a:spcPts val="0"/>
              </a:spcAft>
              <a:buSzPts val="1400"/>
              <a:buNone/>
            </a:pPr>
            <a:r>
              <a:rPr lang="en-US" dirty="0"/>
              <a:t>Negative will be noted by the color purple. </a:t>
            </a:r>
          </a:p>
        </p:txBody>
      </p:sp>
      <p:sp>
        <p:nvSpPr>
          <p:cNvPr id="151" name="Google Shape;15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31948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b="1" dirty="0">
                <a:solidFill>
                  <a:schemeClr val="dk1"/>
                </a:solidFill>
                <a:latin typeface="Calibri"/>
                <a:ea typeface="Calibri"/>
                <a:cs typeface="Calibri"/>
                <a:sym typeface="Calibri"/>
              </a:rPr>
              <a:t>Positive Reinforcement </a:t>
            </a:r>
            <a:r>
              <a:rPr lang="en-US" sz="1600" dirty="0">
                <a:solidFill>
                  <a:schemeClr val="dk1"/>
                </a:solidFill>
                <a:latin typeface="Calibri"/>
                <a:ea typeface="Calibri"/>
                <a:cs typeface="Calibri"/>
                <a:sym typeface="Calibri"/>
              </a:rPr>
              <a:t>– </a:t>
            </a:r>
          </a:p>
          <a:p>
            <a:pPr marL="0" lvl="0" indent="0" algn="l" rtl="0">
              <a:lnSpc>
                <a:spcPct val="100000"/>
              </a:lnSpc>
              <a:spcBef>
                <a:spcPts val="0"/>
              </a:spcBef>
              <a:spcAft>
                <a:spcPts val="0"/>
              </a:spcAft>
              <a:buSzPts val="1400"/>
              <a:buNone/>
            </a:pPr>
            <a:endParaRPr lang="en-US"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(Giving dog a treat for sitting) </a:t>
            </a:r>
          </a:p>
          <a:p>
            <a:pPr marL="0" lvl="0" indent="0" algn="l" rtl="0">
              <a:lnSpc>
                <a:spcPct val="100000"/>
              </a:lnSpc>
              <a:spcBef>
                <a:spcPts val="0"/>
              </a:spcBef>
              <a:spcAft>
                <a:spcPts val="0"/>
              </a:spcAft>
              <a:buSzPts val="1400"/>
              <a:buNone/>
            </a:pPr>
            <a:endParaRPr lang="en-US"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When you are trying to teach a puppy to sit, as soon as the puppy sits to your oral command you give the puppy a treat.</a:t>
            </a:r>
          </a:p>
          <a:p>
            <a:pPr marL="0" lvl="0" indent="0" algn="l" rtl="0">
              <a:lnSpc>
                <a:spcPct val="100000"/>
              </a:lnSpc>
              <a:spcBef>
                <a:spcPts val="0"/>
              </a:spcBef>
              <a:spcAft>
                <a:spcPts val="0"/>
              </a:spcAft>
              <a:buSzPts val="1400"/>
              <a:buNone/>
            </a:pPr>
            <a:endParaRPr lang="en-US"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Does that make it more likely for the puppy to sit? </a:t>
            </a:r>
          </a:p>
          <a:p>
            <a:pPr marL="0" lvl="0" indent="0" algn="l" rtl="0">
              <a:lnSpc>
                <a:spcPct val="100000"/>
              </a:lnSpc>
              <a:spcBef>
                <a:spcPts val="0"/>
              </a:spcBef>
              <a:spcAft>
                <a:spcPts val="0"/>
              </a:spcAft>
              <a:buSzPts val="1400"/>
              <a:buNone/>
            </a:pPr>
            <a:endParaRPr lang="en-US"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Are you adding something or taking something away to get the puppy to sit again? </a:t>
            </a:r>
          </a:p>
          <a:p>
            <a:pPr marL="0" lvl="0" indent="0" algn="l" rtl="0">
              <a:lnSpc>
                <a:spcPct val="100000"/>
              </a:lnSpc>
              <a:spcBef>
                <a:spcPts val="0"/>
              </a:spcBef>
              <a:spcAft>
                <a:spcPts val="0"/>
              </a:spcAft>
              <a:buSzPts val="1400"/>
              <a:buNone/>
            </a:pPr>
            <a:endParaRPr lang="en-US"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(Another example: Sticker Chart for children) </a:t>
            </a:r>
            <a:endParaRPr sz="1600" dirty="0"/>
          </a:p>
          <a:p>
            <a:pPr marL="0" lvl="0" indent="0" algn="l" rtl="0">
              <a:lnSpc>
                <a:spcPct val="100000"/>
              </a:lnSpc>
              <a:spcBef>
                <a:spcPts val="0"/>
              </a:spcBef>
              <a:spcAft>
                <a:spcPts val="0"/>
              </a:spcAft>
              <a:buSzPts val="1400"/>
              <a:buNone/>
            </a:pPr>
            <a:endParaRPr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Try to think of personal examples here. </a:t>
            </a:r>
          </a:p>
          <a:p>
            <a:pPr marL="0" lvl="0" indent="0" algn="l" rtl="0">
              <a:lnSpc>
                <a:spcPct val="100000"/>
              </a:lnSpc>
              <a:spcBef>
                <a:spcPts val="0"/>
              </a:spcBef>
              <a:spcAft>
                <a:spcPts val="0"/>
              </a:spcAft>
              <a:buSzPts val="1400"/>
              <a:buNone/>
            </a:pPr>
            <a:endParaRPr lang="en-US"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Continuing to apply these concepts to real life will aid students in understanding. </a:t>
            </a:r>
            <a:endParaRPr sz="1600" dirty="0"/>
          </a:p>
          <a:p>
            <a:pPr marL="0" lvl="0" indent="0" algn="l" rtl="0">
              <a:lnSpc>
                <a:spcPct val="100000"/>
              </a:lnSpc>
              <a:spcBef>
                <a:spcPts val="0"/>
              </a:spcBef>
              <a:spcAft>
                <a:spcPts val="0"/>
              </a:spcAft>
              <a:buSzPts val="1400"/>
              <a:buNone/>
            </a:pPr>
            <a:endParaRPr sz="1200" dirty="0">
              <a:solidFill>
                <a:schemeClr val="dk1"/>
              </a:solidFill>
              <a:latin typeface="Calibri"/>
              <a:ea typeface="Calibri"/>
              <a:cs typeface="Calibri"/>
              <a:sym typeface="Calibri"/>
            </a:endParaRPr>
          </a:p>
        </p:txBody>
      </p:sp>
      <p:sp>
        <p:nvSpPr>
          <p:cNvPr id="166" name="Google Shape;166;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1" dirty="0">
                <a:solidFill>
                  <a:schemeClr val="dk1"/>
                </a:solidFill>
                <a:latin typeface="Calibri"/>
                <a:ea typeface="Calibri"/>
                <a:cs typeface="Calibri"/>
                <a:sym typeface="Calibri"/>
              </a:rPr>
              <a:t>Negative Reinforcement</a:t>
            </a:r>
            <a:r>
              <a:rPr lang="en-US" sz="1200" dirty="0">
                <a:solidFill>
                  <a:schemeClr val="dk1"/>
                </a:solidFill>
                <a:latin typeface="Calibri"/>
                <a:ea typeface="Calibri"/>
                <a:cs typeface="Calibri"/>
                <a:sym typeface="Calibri"/>
              </a:rPr>
              <a:t> – (The beeping noise in your car stopping when you put your seat belt on) </a:t>
            </a:r>
          </a:p>
          <a:p>
            <a:pPr marL="0" lvl="0" indent="0" algn="l" rtl="0">
              <a:lnSpc>
                <a:spcPct val="100000"/>
              </a:lnSpc>
              <a:spcBef>
                <a:spcPts val="0"/>
              </a:spcBef>
              <a:spcAft>
                <a:spcPts val="0"/>
              </a:spcAft>
              <a:buSzPts val="1400"/>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dirty="0">
                <a:solidFill>
                  <a:schemeClr val="dk1"/>
                </a:solidFill>
                <a:latin typeface="Calibri"/>
                <a:ea typeface="Calibri"/>
                <a:cs typeface="Calibri"/>
                <a:sym typeface="Calibri"/>
              </a:rPr>
              <a:t>When you sit in your car and start the engine after a few seconds an annoying beeping noise starts, as soon as you put on your seat belt the beeping noise stops. </a:t>
            </a:r>
          </a:p>
          <a:p>
            <a:pPr marL="0" lvl="0" indent="0" algn="l" rtl="0">
              <a:lnSpc>
                <a:spcPct val="100000"/>
              </a:lnSpc>
              <a:spcBef>
                <a:spcPts val="0"/>
              </a:spcBef>
              <a:spcAft>
                <a:spcPts val="0"/>
              </a:spcAft>
              <a:buSzPts val="1400"/>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dirty="0">
                <a:solidFill>
                  <a:schemeClr val="dk1"/>
                </a:solidFill>
                <a:latin typeface="Calibri"/>
                <a:ea typeface="Calibri"/>
                <a:cs typeface="Calibri"/>
                <a:sym typeface="Calibri"/>
              </a:rPr>
              <a:t>The next time you get in your car, are you more or less likely to put on your seatbelt? </a:t>
            </a:r>
          </a:p>
          <a:p>
            <a:pPr marL="0" lvl="0" indent="0" algn="l" rtl="0">
              <a:lnSpc>
                <a:spcPct val="100000"/>
              </a:lnSpc>
              <a:spcBef>
                <a:spcPts val="0"/>
              </a:spcBef>
              <a:spcAft>
                <a:spcPts val="0"/>
              </a:spcAft>
              <a:buSzPts val="1400"/>
              <a:buNone/>
            </a:pPr>
            <a:endParaRPr lang="en-US"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dirty="0">
                <a:solidFill>
                  <a:schemeClr val="dk1"/>
                </a:solidFill>
                <a:latin typeface="Calibri"/>
                <a:ea typeface="Calibri"/>
                <a:cs typeface="Calibri"/>
                <a:sym typeface="Calibri"/>
              </a:rPr>
              <a:t>Is something being added or is something being taken away in order to encourage you to wear your seat belt? </a:t>
            </a:r>
            <a:endParaRPr dirty="0"/>
          </a:p>
          <a:p>
            <a:pPr marL="0" lvl="0" indent="0" algn="l" rtl="0">
              <a:lnSpc>
                <a:spcPct val="100000"/>
              </a:lnSpc>
              <a:spcBef>
                <a:spcPts val="0"/>
              </a:spcBef>
              <a:spcAft>
                <a:spcPts val="0"/>
              </a:spcAft>
              <a:buSzPts val="1400"/>
              <a:buNone/>
            </a:pPr>
            <a:endParaRPr sz="120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dk1"/>
                </a:solidFill>
                <a:latin typeface="Calibri"/>
                <a:ea typeface="Calibri"/>
                <a:cs typeface="Calibri"/>
                <a:sym typeface="Calibri"/>
              </a:rPr>
              <a:t>Another NR example: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dk1"/>
                </a:solidFill>
                <a:latin typeface="Calibri"/>
                <a:ea typeface="Calibri"/>
                <a:cs typeface="Calibri"/>
                <a:sym typeface="Calibri"/>
              </a:rPr>
              <a:t>Behavior: Taking aspirin - When you have a headache and you take an aspirin, and the aspirin takes your headache away [removing pain]. The next time you have a headache, are you more or less likely to take an aspirin? (more likely right? So reinforcement is in play) Are you adding something or taking something away? (taking away the pain associated w the headache so that strengthens your aspirin taking behavior.)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dirty="0">
              <a:solidFill>
                <a:schemeClr val="dk1"/>
              </a:solidFill>
              <a:latin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***Anticipate that some people may mistake the </a:t>
            </a:r>
            <a:r>
              <a:rPr lang="en-US" b="1" dirty="0"/>
              <a:t>headache </a:t>
            </a:r>
            <a:r>
              <a:rPr lang="en-US" b="0" dirty="0"/>
              <a:t>as the behavior. Refer back to the information from the earlier slide about the behavior being an action and observable by someone else. </a:t>
            </a:r>
            <a:endParaRPr dirty="0"/>
          </a:p>
          <a:p>
            <a:pPr marL="0" lvl="0" indent="0" algn="l" rtl="0">
              <a:lnSpc>
                <a:spcPct val="100000"/>
              </a:lnSpc>
              <a:spcBef>
                <a:spcPts val="0"/>
              </a:spcBef>
              <a:spcAft>
                <a:spcPts val="0"/>
              </a:spcAft>
              <a:buSzPts val="1400"/>
              <a:buNone/>
            </a:pPr>
            <a:endParaRPr sz="120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dk1"/>
                </a:solidFill>
                <a:latin typeface="Calibri"/>
                <a:ea typeface="Calibri"/>
                <a:cs typeface="Calibri"/>
                <a:sym typeface="Calibri"/>
              </a:rPr>
              <a:t>If you can, think of another personal example here.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dk1"/>
                </a:solidFill>
                <a:latin typeface="Calibri"/>
                <a:ea typeface="Calibri"/>
                <a:cs typeface="Calibri"/>
                <a:sym typeface="Calibri"/>
              </a:rPr>
              <a:t>Negative reinforcement can be confusing so the more examples the better!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dk1"/>
                </a:solidFill>
                <a:latin typeface="Calibri"/>
                <a:ea typeface="Calibri"/>
                <a:cs typeface="Calibri"/>
                <a:sym typeface="Calibri"/>
              </a:rPr>
              <a:t>(Ex: drinking alcohol may take away someone’s anxiety about their bills. The behavior of alcohol drinking gets negatively reinforced by taking away those feelings of anxiety about the bills. That makes it more likely the person will drink alcohol in the future when they are anxious about finances. The problem is that the bills are still there when the alcohol wears off. </a:t>
            </a:r>
            <a:endParaRPr dirty="0"/>
          </a:p>
        </p:txBody>
      </p:sp>
      <p:sp>
        <p:nvSpPr>
          <p:cNvPr id="174" name="Google Shape;174;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u="none" dirty="0"/>
              <a:t>Who says:</a:t>
            </a:r>
            <a:br>
              <a:rPr lang="en-US" u="none" dirty="0"/>
            </a:br>
            <a:r>
              <a:rPr lang="en-US" u="none" dirty="0"/>
              <a:t>A?</a:t>
            </a:r>
            <a:br>
              <a:rPr lang="en-US" u="none" dirty="0"/>
            </a:br>
            <a:r>
              <a:rPr lang="en-US" u="none" dirty="0"/>
              <a:t>B?</a:t>
            </a:r>
            <a:br>
              <a:rPr lang="en-US" u="none" dirty="0"/>
            </a:br>
            <a:r>
              <a:rPr lang="en-US" u="none" dirty="0"/>
              <a:t>C?</a:t>
            </a:r>
            <a:br>
              <a:rPr lang="en-US" u="none" dirty="0"/>
            </a:br>
            <a:r>
              <a:rPr lang="en-US" u="none" dirty="0"/>
              <a:t>D</a:t>
            </a:r>
          </a:p>
          <a:p>
            <a:pPr marL="0" lvl="0" indent="0" algn="l" rtl="0">
              <a:lnSpc>
                <a:spcPct val="100000"/>
              </a:lnSpc>
              <a:spcBef>
                <a:spcPts val="0"/>
              </a:spcBef>
              <a:spcAft>
                <a:spcPts val="0"/>
              </a:spcAft>
              <a:buSzPts val="1400"/>
              <a:buNone/>
            </a:pPr>
            <a:endParaRPr lang="en-US" u="none" dirty="0"/>
          </a:p>
        </p:txBody>
      </p:sp>
      <p:sp>
        <p:nvSpPr>
          <p:cNvPr id="182" name="Google Shape;182;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Positive and Negative aren’t being used here to indicate good or bad.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i="1"/>
              <a:t>Instead</a:t>
            </a:r>
            <a:r>
              <a:rPr lang="en-US"/>
              <a:t>, </a:t>
            </a:r>
            <a:r>
              <a:rPr lang="en-US" b="1" u="sng"/>
              <a:t>positive</a:t>
            </a:r>
            <a:r>
              <a:rPr lang="en-US"/>
              <a:t> means that something is being </a:t>
            </a:r>
            <a:r>
              <a:rPr lang="en-US" u="sng"/>
              <a:t>added</a:t>
            </a:r>
            <a:r>
              <a:rPr lang="en-US"/>
              <a:t> AND </a:t>
            </a:r>
            <a:r>
              <a:rPr lang="en-US" b="1" u="sng"/>
              <a:t>negative</a:t>
            </a:r>
            <a:r>
              <a:rPr lang="en-US"/>
              <a:t> means that something is being </a:t>
            </a:r>
            <a:r>
              <a:rPr lang="en-US" u="sng"/>
              <a:t>taken away.</a:t>
            </a:r>
            <a:endParaRPr/>
          </a:p>
        </p:txBody>
      </p:sp>
      <p:sp>
        <p:nvSpPr>
          <p:cNvPr id="189" name="Google Shape;189;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dirty="0"/>
          </a:p>
        </p:txBody>
      </p:sp>
      <p:sp>
        <p:nvSpPr>
          <p:cNvPr id="196" name="Google Shape;196;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chemeClr val="dk1"/>
                </a:solidFill>
                <a:latin typeface="Calibri"/>
                <a:ea typeface="Calibri"/>
                <a:cs typeface="Calibri"/>
                <a:sym typeface="Calibri"/>
              </a:rPr>
              <a:t>Positive Punishment</a:t>
            </a:r>
            <a:r>
              <a:rPr lang="en-US" sz="1200" dirty="0">
                <a:solidFill>
                  <a:schemeClr val="dk1"/>
                </a:solidFill>
                <a:latin typeface="Calibri"/>
                <a:ea typeface="Calibri"/>
                <a:cs typeface="Calibri"/>
                <a:sym typeface="Calibri"/>
              </a:rPr>
              <a:t> –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(Spanking) A young child runs out into the street without looking both ways.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The young child almost gets hit.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The parent spanks the child.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Does the spanking make it more or less likely that the young child will run out into the street again without looking both ways?</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Is the parent adding something or taking something away to get the child not to run out in the street again?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Yes, adding something undesirable. </a:t>
            </a:r>
            <a:endParaRP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dirty="0"/>
          </a:p>
        </p:txBody>
      </p:sp>
      <p:sp>
        <p:nvSpPr>
          <p:cNvPr id="205" name="Google Shape;205;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chemeClr val="dk1"/>
                </a:solidFill>
                <a:latin typeface="Calibri"/>
                <a:ea typeface="Calibri"/>
                <a:cs typeface="Calibri"/>
                <a:sym typeface="Calibri"/>
              </a:rPr>
              <a:t>Positive Punishment</a:t>
            </a:r>
            <a:r>
              <a:rPr lang="en-US" sz="1200" dirty="0">
                <a:solidFill>
                  <a:schemeClr val="dk1"/>
                </a:solidFill>
                <a:latin typeface="Calibri"/>
                <a:ea typeface="Calibri"/>
                <a:cs typeface="Calibri"/>
                <a:sym typeface="Calibri"/>
              </a:rPr>
              <a:t> – After presenting both examples, try to present another personal example.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Tell them that positive punishment is the most aversive technique for behavior change and usually one of the last resorts. </a:t>
            </a:r>
            <a:endParaRP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dirty="0"/>
          </a:p>
        </p:txBody>
      </p:sp>
      <p:sp>
        <p:nvSpPr>
          <p:cNvPr id="213" name="Google Shape;213;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chemeClr val="dk1"/>
                </a:solidFill>
                <a:latin typeface="Calibri"/>
                <a:ea typeface="Calibri"/>
                <a:cs typeface="Calibri"/>
                <a:sym typeface="Calibri"/>
              </a:rPr>
              <a:t>Negative Punishment</a:t>
            </a:r>
            <a:r>
              <a:rPr lang="en-US" sz="1200" dirty="0">
                <a:solidFill>
                  <a:schemeClr val="dk1"/>
                </a:solidFill>
                <a:latin typeface="Calibri"/>
                <a:ea typeface="Calibri"/>
                <a:cs typeface="Calibri"/>
                <a:sym typeface="Calibri"/>
              </a:rPr>
              <a:t> –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(Time-out or Grounding) When a teenager comes home late with their parent’s car, the parent is late to work.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The parent grounds the teen from driving over the weekend, so they will not be able to have fun and hang out with friends.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Does the grounding make it more or less likely that the teen will arrive home late again?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Is the parent adding something or taking something away to get the teen not to return home late again?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**If students say, the parent is adding something bad - grounding. Help them to understand that the act of grounding is only effective because it takes away something that the child really enjoys. Grounding isn’t effective if the child doesn’t care. The action of grounding only has power because it is taking away something desirable. </a:t>
            </a:r>
          </a:p>
          <a:p>
            <a:pPr marL="0" marR="0" lvl="0" indent="0" algn="l" rtl="0">
              <a:lnSpc>
                <a:spcPct val="100000"/>
              </a:lnSpc>
              <a:spcBef>
                <a:spcPts val="0"/>
              </a:spcBef>
              <a:spcAft>
                <a:spcPts val="0"/>
              </a:spcAft>
              <a:buClr>
                <a:schemeClr val="dk1"/>
              </a:buClr>
              <a:buSzPts val="1200"/>
              <a:buFont typeface="Calibri"/>
              <a:buNone/>
            </a:pPr>
            <a:endParaRPr lang="en-US"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Try to add another personal example here!</a:t>
            </a:r>
            <a:endParaRPr dirty="0"/>
          </a:p>
          <a:p>
            <a:pPr marL="0" marR="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dirty="0">
                <a:solidFill>
                  <a:schemeClr val="dk1"/>
                </a:solidFill>
                <a:latin typeface="Calibri"/>
                <a:ea typeface="Calibri"/>
                <a:cs typeface="Calibri"/>
                <a:sym typeface="Calibri"/>
              </a:rPr>
              <a:t>*** Make sure to define the behavior. </a:t>
            </a:r>
            <a:r>
              <a:rPr lang="en-US" sz="1200" b="1" dirty="0">
                <a:solidFill>
                  <a:schemeClr val="dk1"/>
                </a:solidFill>
                <a:latin typeface="Calibri"/>
                <a:ea typeface="Calibri"/>
                <a:cs typeface="Calibri"/>
                <a:sym typeface="Calibri"/>
              </a:rPr>
              <a:t>The behavior is not grounding</a:t>
            </a:r>
            <a:r>
              <a:rPr lang="en-US" sz="1200" dirty="0">
                <a:solidFill>
                  <a:schemeClr val="dk1"/>
                </a:solidFill>
                <a:latin typeface="Calibri"/>
                <a:ea typeface="Calibri"/>
                <a:cs typeface="Calibri"/>
                <a:sym typeface="Calibri"/>
              </a:rPr>
              <a:t>. The behavior is coming home late. </a:t>
            </a:r>
            <a:endParaRP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dirty="0"/>
          </a:p>
        </p:txBody>
      </p:sp>
      <p:sp>
        <p:nvSpPr>
          <p:cNvPr id="221" name="Google Shape;221;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u="none" dirty="0"/>
              <a:t>Who says:</a:t>
            </a:r>
            <a:br>
              <a:rPr lang="en-US" u="none" dirty="0"/>
            </a:br>
            <a:r>
              <a:rPr lang="en-US" u="none" dirty="0"/>
              <a:t>A?</a:t>
            </a:r>
            <a:br>
              <a:rPr lang="en-US" u="none" dirty="0"/>
            </a:br>
            <a:r>
              <a:rPr lang="en-US" u="none" dirty="0"/>
              <a:t>B?</a:t>
            </a:r>
            <a:br>
              <a:rPr lang="en-US" u="none" dirty="0"/>
            </a:br>
            <a:r>
              <a:rPr lang="en-US" u="none" dirty="0"/>
              <a:t>C?</a:t>
            </a:r>
            <a:br>
              <a:rPr lang="en-US" u="none" dirty="0"/>
            </a:br>
            <a:r>
              <a:rPr lang="en-US" u="none" dirty="0"/>
              <a:t>D?</a:t>
            </a:r>
            <a:endParaRPr lang="en-US" dirty="0"/>
          </a:p>
          <a:p>
            <a:pPr marL="0" lvl="0" indent="0" algn="l" rtl="0">
              <a:lnSpc>
                <a:spcPct val="100000"/>
              </a:lnSpc>
              <a:spcBef>
                <a:spcPts val="0"/>
              </a:spcBef>
              <a:spcAft>
                <a:spcPts val="0"/>
              </a:spcAft>
              <a:buSzPts val="1400"/>
              <a:buNone/>
            </a:pPr>
            <a:endParaRPr lang="en-US" dirty="0"/>
          </a:p>
        </p:txBody>
      </p:sp>
      <p:sp>
        <p:nvSpPr>
          <p:cNvPr id="229" name="Google Shape;229;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Positive and Negative aren’t being used here to indicate good or bad.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i="1"/>
              <a:t>Instead</a:t>
            </a:r>
            <a:r>
              <a:rPr lang="en-US"/>
              <a:t>, </a:t>
            </a:r>
            <a:r>
              <a:rPr lang="en-US" b="1" u="sng"/>
              <a:t>positive</a:t>
            </a:r>
            <a:r>
              <a:rPr lang="en-US"/>
              <a:t> means that something is being </a:t>
            </a:r>
            <a:r>
              <a:rPr lang="en-US" u="sng"/>
              <a:t>added</a:t>
            </a:r>
            <a:r>
              <a:rPr lang="en-US"/>
              <a:t> AND </a:t>
            </a:r>
            <a:r>
              <a:rPr lang="en-US" b="1" u="sng"/>
              <a:t>negative</a:t>
            </a:r>
            <a:r>
              <a:rPr lang="en-US"/>
              <a:t> means that something is being </a:t>
            </a:r>
            <a:r>
              <a:rPr lang="en-US" u="sng"/>
              <a:t>taken away.</a:t>
            </a:r>
            <a:endParaRPr/>
          </a:p>
        </p:txBody>
      </p:sp>
      <p:sp>
        <p:nvSpPr>
          <p:cNvPr id="236" name="Google Shape;236;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3C6E-1102-4E43-ACAF-0D0360973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D312F-628F-C874-2B96-C4E523D095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D96A4-D655-7BA5-9F84-8715916BABE8}"/>
              </a:ext>
            </a:extLst>
          </p:cNvPr>
          <p:cNvSpPr>
            <a:spLocks noGrp="1"/>
          </p:cNvSpPr>
          <p:nvPr>
            <p:ph type="body" idx="1"/>
          </p:nvPr>
        </p:nvSpPr>
        <p:spPr/>
        <p:txBody>
          <a:bodyPr/>
          <a:lstStyle/>
          <a:p>
            <a:r>
              <a:rPr lang="en-US" dirty="0"/>
              <a:t>“Okay, so let’s return to our trusty table...</a:t>
            </a:r>
          </a:p>
          <a:p>
            <a:endParaRPr lang="en-US" dirty="0"/>
          </a:p>
          <a:p>
            <a:r>
              <a:rPr lang="en-US" dirty="0"/>
              <a:t>Today, as you are completing your worksheet, I want you to use this table.</a:t>
            </a:r>
          </a:p>
          <a:p>
            <a:endParaRPr lang="en-US" dirty="0"/>
          </a:p>
          <a:p>
            <a:r>
              <a:rPr lang="en-US" dirty="0"/>
              <a:t>First, you need to ask yourself… </a:t>
            </a:r>
            <a:r>
              <a:rPr lang="en-US" b="1" dirty="0"/>
              <a:t>What is the behavior in the scenario?</a:t>
            </a:r>
          </a:p>
          <a:p>
            <a:endParaRPr lang="en-US" dirty="0"/>
          </a:p>
          <a:p>
            <a:r>
              <a:rPr lang="en-US" dirty="0"/>
              <a:t>(For the rest of this slide, you want to point out the columns and the rows as they are described.) </a:t>
            </a:r>
          </a:p>
          <a:p>
            <a:endParaRPr lang="en-US" dirty="0"/>
          </a:p>
          <a:p>
            <a:r>
              <a:rPr lang="en-US" dirty="0"/>
              <a:t>Then, ask yourself… </a:t>
            </a:r>
            <a:r>
              <a:rPr lang="en-US" b="1" dirty="0"/>
              <a:t>What happens AFTER the behavior occurs</a:t>
            </a:r>
            <a:r>
              <a:rPr lang="en-US" dirty="0"/>
              <a:t>? </a:t>
            </a:r>
          </a:p>
          <a:p>
            <a:endParaRPr lang="en-US" dirty="0"/>
          </a:p>
          <a:p>
            <a:r>
              <a:rPr lang="en-US" dirty="0"/>
              <a:t>If something is being added or given after the behavior, then you use the term positive. See the blue writing?</a:t>
            </a:r>
          </a:p>
          <a:p>
            <a:r>
              <a:rPr lang="en-US" dirty="0"/>
              <a:t>If something is being subtracted or taken away after the behavior, then you use the term negative. See the purple writing? </a:t>
            </a:r>
          </a:p>
          <a:p>
            <a:endParaRPr lang="en-US" dirty="0"/>
          </a:p>
          <a:p>
            <a:r>
              <a:rPr lang="en-US" dirty="0"/>
              <a:t>Next, ask yourself… </a:t>
            </a:r>
            <a:r>
              <a:rPr lang="en-US" b="1" dirty="0"/>
              <a:t>How is the behavior going to be affected in the future</a:t>
            </a:r>
            <a:r>
              <a:rPr lang="en-US" dirty="0"/>
              <a:t>? </a:t>
            </a:r>
          </a:p>
          <a:p>
            <a:endParaRPr lang="en-US" dirty="0"/>
          </a:p>
          <a:p>
            <a:r>
              <a:rPr lang="en-US" dirty="0"/>
              <a:t>If the behavior is likely to happen more often in the future, then you use the term reinforcement. See the green writing? </a:t>
            </a:r>
          </a:p>
          <a:p>
            <a:r>
              <a:rPr lang="en-US" dirty="0"/>
              <a:t>If the behavior is likely to happen less often in the future, then you use the term punishment. See the red writing?</a:t>
            </a:r>
          </a:p>
          <a:p>
            <a:endParaRPr lang="en-US" dirty="0"/>
          </a:p>
          <a:p>
            <a:r>
              <a:rPr lang="en-US" dirty="0"/>
              <a:t>Now, let’s go through </a:t>
            </a:r>
            <a:r>
              <a:rPr lang="en-US" u="sng" dirty="0"/>
              <a:t>each</a:t>
            </a:r>
            <a:r>
              <a:rPr lang="en-US" dirty="0"/>
              <a:t> square that describes a different type of operant conditioning. (Point out the squares as you go through.)</a:t>
            </a:r>
          </a:p>
          <a:p>
            <a:endParaRPr lang="en-US" dirty="0"/>
          </a:p>
          <a:p>
            <a:r>
              <a:rPr lang="en-US" dirty="0"/>
              <a:t>In Positive Reinforcement, something desirable is being added after the behavior occurs, so the behavior is more likely to recur. </a:t>
            </a:r>
          </a:p>
          <a:p>
            <a:r>
              <a:rPr lang="en-US" dirty="0"/>
              <a:t>In Negative Reinforcement, something undesirable is being taken away after the behavior occurs, so the behavior is more likely to recur. </a:t>
            </a:r>
          </a:p>
          <a:p>
            <a:endParaRPr lang="en-US" dirty="0"/>
          </a:p>
          <a:p>
            <a:r>
              <a:rPr lang="en-US" dirty="0"/>
              <a:t>In Positive Punishment, something undesirable is being added after the behavior occurs, so the behavior is less likely to recur. </a:t>
            </a:r>
          </a:p>
          <a:p>
            <a:r>
              <a:rPr lang="en-US" dirty="0"/>
              <a:t>In Negative Punishment, something desirable is being taken away after the behavior occurs, so the behavior is less likely to recur.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CA248EA-DBEB-8A74-38AF-D25B2391DF8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71171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dirty="0"/>
              <a:t>Read through slide first. </a:t>
            </a:r>
            <a:endParaRPr sz="1600"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Then, give out the class handout. I go through the first five with them one at a time using the following method.</a:t>
            </a:r>
            <a:endParaRPr sz="1600" dirty="0"/>
          </a:p>
          <a:p>
            <a:pPr marL="0" lvl="0" indent="0" algn="l" rtl="0">
              <a:lnSpc>
                <a:spcPct val="100000"/>
              </a:lnSpc>
              <a:spcBef>
                <a:spcPts val="0"/>
              </a:spcBef>
              <a:spcAft>
                <a:spcPts val="0"/>
              </a:spcAft>
              <a:buSzPts val="1400"/>
              <a:buNone/>
            </a:pPr>
            <a:endParaRPr sz="1600" dirty="0">
              <a:solidFill>
                <a:schemeClr val="dk1"/>
              </a:solidFill>
              <a:latin typeface="Calibri"/>
              <a:ea typeface="Calibri"/>
              <a:cs typeface="Calibri"/>
              <a:sym typeface="Calibri"/>
            </a:endParaRPr>
          </a:p>
          <a:p>
            <a:pPr marL="171450" lvl="0" indent="-171450" algn="l" rtl="0">
              <a:lnSpc>
                <a:spcPct val="100000"/>
              </a:lnSpc>
              <a:spcBef>
                <a:spcPts val="0"/>
              </a:spcBef>
              <a:spcAft>
                <a:spcPts val="0"/>
              </a:spcAft>
              <a:buClr>
                <a:schemeClr val="dk1"/>
              </a:buClr>
              <a:buSzPts val="1200"/>
              <a:buFont typeface="Arial"/>
              <a:buChar char="•"/>
            </a:pPr>
            <a:r>
              <a:rPr lang="en-US" sz="1600" dirty="0">
                <a:solidFill>
                  <a:schemeClr val="dk1"/>
                </a:solidFill>
                <a:latin typeface="Calibri"/>
                <a:ea typeface="Calibri"/>
                <a:cs typeface="Calibri"/>
                <a:sym typeface="Calibri"/>
              </a:rPr>
              <a:t>First, I read the statement to the class. </a:t>
            </a:r>
            <a:endParaRPr sz="1600" dirty="0"/>
          </a:p>
          <a:p>
            <a:pPr marL="171450" lvl="0" indent="-171450" algn="l" rtl="0">
              <a:lnSpc>
                <a:spcPct val="100000"/>
              </a:lnSpc>
              <a:spcBef>
                <a:spcPts val="0"/>
              </a:spcBef>
              <a:spcAft>
                <a:spcPts val="0"/>
              </a:spcAft>
              <a:buClr>
                <a:schemeClr val="dk1"/>
              </a:buClr>
              <a:buSzPts val="1200"/>
              <a:buFont typeface="Arial"/>
              <a:buChar char="•"/>
            </a:pPr>
            <a:r>
              <a:rPr lang="en-US" sz="1600" dirty="0">
                <a:solidFill>
                  <a:schemeClr val="dk1"/>
                </a:solidFill>
                <a:latin typeface="Calibri"/>
                <a:ea typeface="Calibri"/>
                <a:cs typeface="Calibri"/>
                <a:sym typeface="Calibri"/>
              </a:rPr>
              <a:t>Then, I ask each of the three questions above one at a time to the class. </a:t>
            </a:r>
            <a:endParaRPr sz="1600" dirty="0"/>
          </a:p>
          <a:p>
            <a:pPr marL="171450" lvl="0" indent="-171450" algn="l" rtl="0">
              <a:lnSpc>
                <a:spcPct val="100000"/>
              </a:lnSpc>
              <a:spcBef>
                <a:spcPts val="0"/>
              </a:spcBef>
              <a:spcAft>
                <a:spcPts val="0"/>
              </a:spcAft>
              <a:buClr>
                <a:schemeClr val="dk1"/>
              </a:buClr>
              <a:buSzPts val="1200"/>
              <a:buFont typeface="Arial"/>
              <a:buChar char="•"/>
            </a:pPr>
            <a:r>
              <a:rPr lang="en-US" sz="1600" dirty="0">
                <a:solidFill>
                  <a:schemeClr val="dk1"/>
                </a:solidFill>
                <a:latin typeface="Calibri"/>
                <a:ea typeface="Calibri"/>
                <a:cs typeface="Calibri"/>
                <a:sym typeface="Calibri"/>
              </a:rPr>
              <a:t>Then, I ask them what type of operant conditioning is being used. </a:t>
            </a:r>
            <a:endParaRPr sz="1600" dirty="0"/>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 </a:t>
            </a:r>
            <a:endParaRPr sz="1600" dirty="0"/>
          </a:p>
          <a:p>
            <a:pPr marL="0" lvl="0" indent="0" algn="l" rtl="0">
              <a:lnSpc>
                <a:spcPct val="100000"/>
              </a:lnSpc>
              <a:spcBef>
                <a:spcPts val="0"/>
              </a:spcBef>
              <a:spcAft>
                <a:spcPts val="0"/>
              </a:spcAft>
              <a:buSzPts val="1400"/>
              <a:buNone/>
            </a:pPr>
            <a:r>
              <a:rPr lang="en-US" sz="1600" dirty="0">
                <a:solidFill>
                  <a:schemeClr val="dk1"/>
                </a:solidFill>
                <a:latin typeface="Calibri"/>
                <a:ea typeface="Calibri"/>
                <a:cs typeface="Calibri"/>
                <a:sym typeface="Calibri"/>
              </a:rPr>
              <a:t>When I am done with the first five, I </a:t>
            </a:r>
            <a:r>
              <a:rPr lang="en-US" sz="1600" dirty="0"/>
              <a:t>send them </a:t>
            </a:r>
            <a:r>
              <a:rPr lang="en-US" sz="1600" dirty="0">
                <a:solidFill>
                  <a:schemeClr val="dk1"/>
                </a:solidFill>
                <a:latin typeface="Calibri"/>
                <a:ea typeface="Calibri"/>
                <a:cs typeface="Calibri"/>
                <a:sym typeface="Calibri"/>
              </a:rPr>
              <a:t>into </a:t>
            </a:r>
            <a:r>
              <a:rPr lang="en-US" sz="1600" dirty="0"/>
              <a:t>groups </a:t>
            </a:r>
            <a:r>
              <a:rPr lang="en-US" sz="1600" dirty="0">
                <a:solidFill>
                  <a:schemeClr val="dk1"/>
                </a:solidFill>
                <a:latin typeface="Calibri"/>
                <a:ea typeface="Calibri"/>
                <a:cs typeface="Calibri"/>
                <a:sym typeface="Calibri"/>
              </a:rPr>
              <a:t>of two to three to work through the rest of the handout one question at a time while checking their answer for every question.  </a:t>
            </a:r>
            <a:endParaRPr sz="1600" dirty="0"/>
          </a:p>
          <a:p>
            <a:pPr marL="0" lvl="0" indent="0" algn="l" rtl="0">
              <a:lnSpc>
                <a:spcPct val="100000"/>
              </a:lnSpc>
              <a:spcBef>
                <a:spcPts val="0"/>
              </a:spcBef>
              <a:spcAft>
                <a:spcPts val="0"/>
              </a:spcAft>
              <a:buSzPts val="1400"/>
              <a:buNone/>
            </a:pPr>
            <a:endParaRPr sz="16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600" b="1" u="sng" dirty="0">
                <a:solidFill>
                  <a:schemeClr val="dk1"/>
                </a:solidFill>
                <a:latin typeface="Calibri"/>
                <a:ea typeface="Calibri"/>
                <a:cs typeface="Calibri"/>
                <a:sym typeface="Calibri"/>
              </a:rPr>
              <a:t>I </a:t>
            </a:r>
            <a:r>
              <a:rPr lang="en-US" sz="1600" b="1" u="sng" dirty="0"/>
              <a:t>visit</a:t>
            </a:r>
            <a:r>
              <a:rPr lang="en-US" sz="1600" b="1" u="sng" dirty="0">
                <a:solidFill>
                  <a:schemeClr val="dk1"/>
                </a:solidFill>
                <a:latin typeface="Calibri"/>
                <a:ea typeface="Calibri"/>
                <a:cs typeface="Calibri"/>
                <a:sym typeface="Calibri"/>
              </a:rPr>
              <a:t> each group to make sure that each person understands every answer. </a:t>
            </a:r>
          </a:p>
          <a:p>
            <a:pPr marL="0" lvl="0" indent="0" algn="l" rtl="0">
              <a:lnSpc>
                <a:spcPct val="100000"/>
              </a:lnSpc>
              <a:spcBef>
                <a:spcPts val="0"/>
              </a:spcBef>
              <a:spcAft>
                <a:spcPts val="0"/>
              </a:spcAft>
              <a:buSzPts val="1400"/>
              <a:buNone/>
            </a:pPr>
            <a:endParaRPr sz="1600" dirty="0"/>
          </a:p>
          <a:p>
            <a:pPr marL="0" lvl="0" indent="0" algn="l" rtl="0">
              <a:lnSpc>
                <a:spcPct val="100000"/>
              </a:lnSpc>
              <a:spcBef>
                <a:spcPts val="0"/>
              </a:spcBef>
              <a:spcAft>
                <a:spcPts val="0"/>
              </a:spcAft>
              <a:buSzPts val="1400"/>
              <a:buNone/>
            </a:pPr>
            <a:r>
              <a:rPr lang="en-US" sz="1600" b="0" u="none" dirty="0">
                <a:solidFill>
                  <a:schemeClr val="dk1"/>
                </a:solidFill>
                <a:latin typeface="Calibri"/>
                <a:ea typeface="Calibri"/>
                <a:cs typeface="Calibri"/>
                <a:sym typeface="Calibri"/>
              </a:rPr>
              <a:t>******“What questions do you have?”******</a:t>
            </a:r>
          </a:p>
          <a:p>
            <a:pPr marL="0" lvl="0" indent="0" algn="l" rtl="0">
              <a:lnSpc>
                <a:spcPct val="100000"/>
              </a:lnSpc>
              <a:spcBef>
                <a:spcPts val="0"/>
              </a:spcBef>
              <a:spcAft>
                <a:spcPts val="0"/>
              </a:spcAft>
              <a:buSzPts val="1400"/>
              <a:buNone/>
            </a:pPr>
            <a:endParaRPr lang="en-US" sz="1600" b="0" u="none" dirty="0">
              <a:solidFill>
                <a:schemeClr val="dk1"/>
              </a:solidFill>
              <a:latin typeface="Calibri"/>
              <a:cs typeface="Calibri"/>
              <a:sym typeface="Calibri"/>
            </a:endParaRPr>
          </a:p>
          <a:p>
            <a:pPr marL="0" lvl="0" indent="0" algn="l" rtl="0">
              <a:lnSpc>
                <a:spcPct val="100000"/>
              </a:lnSpc>
              <a:spcBef>
                <a:spcPts val="0"/>
              </a:spcBef>
              <a:spcAft>
                <a:spcPts val="0"/>
              </a:spcAft>
              <a:buSzPts val="1400"/>
              <a:buNone/>
            </a:pPr>
            <a:r>
              <a:rPr lang="en-US" sz="1600" b="0" u="none" dirty="0">
                <a:solidFill>
                  <a:schemeClr val="dk1"/>
                </a:solidFill>
                <a:latin typeface="Calibri"/>
                <a:cs typeface="Calibri"/>
                <a:sym typeface="Calibri"/>
              </a:rPr>
              <a:t>Think of questions they should have that they may not know to ask. What questions did you have as a student? </a:t>
            </a:r>
            <a:endParaRPr sz="1600" b="0" u="none" dirty="0"/>
          </a:p>
          <a:p>
            <a:pPr marL="0" lvl="0" indent="0" algn="l" rtl="0">
              <a:lnSpc>
                <a:spcPct val="100000"/>
              </a:lnSpc>
              <a:spcBef>
                <a:spcPts val="0"/>
              </a:spcBef>
              <a:spcAft>
                <a:spcPts val="0"/>
              </a:spcAft>
              <a:buSzPts val="1400"/>
              <a:buNone/>
            </a:pPr>
            <a:endParaRPr dirty="0"/>
          </a:p>
        </p:txBody>
      </p:sp>
      <p:sp>
        <p:nvSpPr>
          <p:cNvPr id="250" name="Google Shape;250;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dirty="0"/>
              <a:t>Read slide.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sz="1600" b="1" dirty="0"/>
              <a:t>“Up to now, we have been using different colors to distinguish between different components of Operant Conditioning. </a:t>
            </a:r>
          </a:p>
          <a:p>
            <a:pPr marL="0" lvl="0" indent="0" algn="l" rtl="0">
              <a:lnSpc>
                <a:spcPct val="100000"/>
              </a:lnSpc>
              <a:spcBef>
                <a:spcPts val="0"/>
              </a:spcBef>
              <a:spcAft>
                <a:spcPts val="0"/>
              </a:spcAft>
              <a:buSzPts val="1400"/>
              <a:buNone/>
            </a:pPr>
            <a:endParaRPr lang="en-US" sz="1600" b="1" dirty="0"/>
          </a:p>
          <a:p>
            <a:pPr marL="0" lvl="0" indent="0" algn="l" rtl="0">
              <a:lnSpc>
                <a:spcPct val="100000"/>
              </a:lnSpc>
              <a:spcBef>
                <a:spcPts val="0"/>
              </a:spcBef>
              <a:spcAft>
                <a:spcPts val="0"/>
              </a:spcAft>
              <a:buSzPts val="1400"/>
              <a:buNone/>
            </a:pPr>
            <a:r>
              <a:rPr lang="en-US" sz="1600" b="1" dirty="0"/>
              <a:t>As we go through the example questions on the handout, we are going to use the color orange to point out important elements of the examples.  </a:t>
            </a:r>
          </a:p>
          <a:p>
            <a:pPr marL="0" lvl="0" indent="0" algn="l" rtl="0">
              <a:lnSpc>
                <a:spcPct val="100000"/>
              </a:lnSpc>
              <a:spcBef>
                <a:spcPts val="0"/>
              </a:spcBef>
              <a:spcAft>
                <a:spcPts val="0"/>
              </a:spcAft>
              <a:buSzPts val="1400"/>
              <a:buNone/>
            </a:pPr>
            <a:endParaRPr lang="en-US" sz="1600" b="1" dirty="0"/>
          </a:p>
          <a:p>
            <a:pPr marL="0" lvl="0" indent="0" algn="l" rtl="0">
              <a:lnSpc>
                <a:spcPct val="100000"/>
              </a:lnSpc>
              <a:spcBef>
                <a:spcPts val="0"/>
              </a:spcBef>
              <a:spcAft>
                <a:spcPts val="0"/>
              </a:spcAft>
              <a:buSzPts val="1400"/>
              <a:buNone/>
            </a:pPr>
            <a:r>
              <a:rPr lang="en-US" sz="1600" b="1" dirty="0"/>
              <a:t>As you are going through these questions, remember that a behavior is an action. It is observable/visible AND measurable!!” </a:t>
            </a:r>
          </a:p>
        </p:txBody>
      </p:sp>
      <p:sp>
        <p:nvSpPr>
          <p:cNvPr id="256" name="Google Shape;25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dirty="0"/>
              <a:t>Read slide.</a:t>
            </a:r>
            <a:endParaRPr sz="1600" dirty="0"/>
          </a:p>
        </p:txBody>
      </p:sp>
      <p:sp>
        <p:nvSpPr>
          <p:cNvPr id="264" name="Google Shape;26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dirty="0"/>
              <a:t>Read slide. </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 Remind students that the behavior cannot also be the reinforcer/punisher – if you underline ‘scoring a goal’ as the behavior, you cannot label it as something that is being added (reinforcer) or taken away (punisher).</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Who is the subject of the sentence?</a:t>
            </a:r>
            <a:endParaRPr sz="1600" dirty="0"/>
          </a:p>
        </p:txBody>
      </p:sp>
      <p:sp>
        <p:nvSpPr>
          <p:cNvPr id="270" name="Google Shape;27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i="1" dirty="0"/>
              <a:t>First read slide, then say statement below. </a:t>
            </a:r>
            <a:endParaRPr sz="1600" dirty="0"/>
          </a:p>
          <a:p>
            <a:pPr marL="0" lvl="0" indent="0" algn="l" rtl="0">
              <a:lnSpc>
                <a:spcPct val="100000"/>
              </a:lnSpc>
              <a:spcBef>
                <a:spcPts val="0"/>
              </a:spcBef>
              <a:spcAft>
                <a:spcPts val="0"/>
              </a:spcAft>
              <a:buSzPts val="1400"/>
              <a:buNone/>
            </a:pPr>
            <a:endParaRPr sz="1600" dirty="0"/>
          </a:p>
          <a:p>
            <a:pPr marL="0" lvl="0" indent="0" algn="l" rtl="0">
              <a:lnSpc>
                <a:spcPct val="100000"/>
              </a:lnSpc>
              <a:spcBef>
                <a:spcPts val="0"/>
              </a:spcBef>
              <a:spcAft>
                <a:spcPts val="0"/>
              </a:spcAft>
              <a:buSzPts val="1400"/>
              <a:buNone/>
            </a:pPr>
            <a:r>
              <a:rPr lang="en-US" sz="1600" b="1" dirty="0"/>
              <a:t>"The next time Johnny is playing soccer, is it more or less likely he will try to get a goal?”</a:t>
            </a:r>
            <a:endParaRPr sz="1600" b="1" dirty="0"/>
          </a:p>
          <a:p>
            <a:pPr marL="0" lvl="0" indent="0" algn="l" rtl="0">
              <a:lnSpc>
                <a:spcPct val="100000"/>
              </a:lnSpc>
              <a:spcBef>
                <a:spcPts val="0"/>
              </a:spcBef>
              <a:spcAft>
                <a:spcPts val="0"/>
              </a:spcAft>
              <a:buSzPts val="1400"/>
              <a:buNone/>
            </a:pPr>
            <a:endParaRPr dirty="0"/>
          </a:p>
        </p:txBody>
      </p:sp>
      <p:sp>
        <p:nvSpPr>
          <p:cNvPr id="278" name="Google Shape;27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So, something desirable is being added – What is that? Positive Reinforcement</a:t>
            </a:r>
            <a:endParaRPr dirty="0"/>
          </a:p>
        </p:txBody>
      </p:sp>
      <p:sp>
        <p:nvSpPr>
          <p:cNvPr id="298" name="Google Shape;298;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06" name="Google Shape;30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dirty="0"/>
              <a:t>***Getting a sunburn is not an action. It is the result of inaction.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60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600" dirty="0"/>
              <a:t>Remind students that the behavior cannot also be the reinforcer/punisher – if you underline ‘putting on sunscreen’ as the behavior, you cannot label it as something that is being added (reinforcer) or taken away (punisher)</a:t>
            </a:r>
          </a:p>
          <a:p>
            <a:pPr marL="0" lvl="0" indent="0" algn="l" rtl="0">
              <a:lnSpc>
                <a:spcPct val="100000"/>
              </a:lnSpc>
              <a:spcBef>
                <a:spcPts val="0"/>
              </a:spcBef>
              <a:spcAft>
                <a:spcPts val="0"/>
              </a:spcAft>
              <a:buSzPts val="1400"/>
              <a:buNone/>
            </a:pPr>
            <a:endParaRPr dirty="0"/>
          </a:p>
        </p:txBody>
      </p:sp>
      <p:sp>
        <p:nvSpPr>
          <p:cNvPr id="320" name="Google Shape;320;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i="1" dirty="0"/>
              <a:t>First review slide, then say statement below. </a:t>
            </a:r>
          </a:p>
          <a:p>
            <a:pPr marL="0" lvl="0" indent="0" algn="l" rtl="0">
              <a:lnSpc>
                <a:spcPct val="100000"/>
              </a:lnSpc>
              <a:spcBef>
                <a:spcPts val="0"/>
              </a:spcBef>
              <a:spcAft>
                <a:spcPts val="0"/>
              </a:spcAft>
              <a:buSzPts val="1400"/>
              <a:buNone/>
            </a:pPr>
            <a:endParaRPr lang="en-US" i="1" dirty="0"/>
          </a:p>
          <a:p>
            <a:pPr marL="0" lvl="0" indent="0" algn="l" rtl="0">
              <a:lnSpc>
                <a:spcPct val="100000"/>
              </a:lnSpc>
              <a:spcBef>
                <a:spcPts val="0"/>
              </a:spcBef>
              <a:spcAft>
                <a:spcPts val="0"/>
              </a:spcAft>
              <a:buSzPts val="1400"/>
              <a:buNone/>
            </a:pPr>
            <a:r>
              <a:rPr lang="en-US" i="1" dirty="0"/>
              <a:t>Remember, the behavior is putting on sunscreen. </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dirty="0"/>
              <a:t>The next time you go out in the sun, are you more or less likely to put on sunscreen, if the last time you put sunscreen on it protected you from a sunburn?</a:t>
            </a:r>
          </a:p>
        </p:txBody>
      </p:sp>
      <p:sp>
        <p:nvSpPr>
          <p:cNvPr id="328" name="Google Shape;328;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Avoid sunburn = </a:t>
            </a:r>
            <a:r>
              <a:rPr lang="en-US" u="sng" dirty="0"/>
              <a:t>take away</a:t>
            </a:r>
            <a:r>
              <a:rPr lang="en-US" u="none" dirty="0"/>
              <a:t> pain</a:t>
            </a:r>
            <a:endParaRPr dirty="0"/>
          </a:p>
          <a:p>
            <a:pPr marL="0" lvl="0" indent="0" algn="l" rtl="0">
              <a:lnSpc>
                <a:spcPct val="100000"/>
              </a:lnSpc>
              <a:spcBef>
                <a:spcPts val="0"/>
              </a:spcBef>
              <a:spcAft>
                <a:spcPts val="0"/>
              </a:spcAft>
              <a:buSzPts val="1400"/>
              <a:buNone/>
            </a:pPr>
            <a:endParaRPr u="none" dirty="0"/>
          </a:p>
          <a:p>
            <a:pPr marL="0" lvl="0" indent="0" algn="l" rtl="0">
              <a:lnSpc>
                <a:spcPct val="100000"/>
              </a:lnSpc>
              <a:spcBef>
                <a:spcPts val="0"/>
              </a:spcBef>
              <a:spcAft>
                <a:spcPts val="0"/>
              </a:spcAft>
              <a:buSzPts val="1400"/>
              <a:buNone/>
            </a:pPr>
            <a:r>
              <a:rPr lang="en-US" u="none" dirty="0"/>
              <a:t>***Make sure to recap which type of Operant Conditioning is this. </a:t>
            </a:r>
          </a:p>
          <a:p>
            <a:pPr marL="0" lvl="0" indent="0" algn="l" rtl="0">
              <a:lnSpc>
                <a:spcPct val="100000"/>
              </a:lnSpc>
              <a:spcBef>
                <a:spcPts val="0"/>
              </a:spcBef>
              <a:spcAft>
                <a:spcPts val="0"/>
              </a:spcAft>
              <a:buSzPts val="1400"/>
              <a:buNone/>
            </a:pPr>
            <a:endParaRPr lang="en-US" u="none" dirty="0"/>
          </a:p>
          <a:p>
            <a:pPr marL="0" lvl="0" indent="0" algn="l" rtl="0">
              <a:lnSpc>
                <a:spcPct val="100000"/>
              </a:lnSpc>
              <a:spcBef>
                <a:spcPts val="0"/>
              </a:spcBef>
              <a:spcAft>
                <a:spcPts val="0"/>
              </a:spcAft>
              <a:buSzPts val="1400"/>
              <a:buNone/>
            </a:pPr>
            <a:r>
              <a:rPr lang="en-US" u="none" dirty="0"/>
              <a:t>For example for this one: If something is being taken away and the likelihood of the future behavior is being increased, it would be Negative Reinforcement. </a:t>
            </a:r>
          </a:p>
          <a:p>
            <a:pPr marL="0" lvl="0" indent="0" algn="l" rtl="0">
              <a:lnSpc>
                <a:spcPct val="100000"/>
              </a:lnSpc>
              <a:spcBef>
                <a:spcPts val="0"/>
              </a:spcBef>
              <a:spcAft>
                <a:spcPts val="0"/>
              </a:spcAft>
              <a:buSzPts val="1400"/>
              <a:buNone/>
            </a:pPr>
            <a:endParaRPr lang="en-US" u="none" dirty="0"/>
          </a:p>
          <a:p>
            <a:pPr marL="0" lvl="0" indent="0" algn="l" rtl="0">
              <a:lnSpc>
                <a:spcPct val="100000"/>
              </a:lnSpc>
              <a:spcBef>
                <a:spcPts val="0"/>
              </a:spcBef>
              <a:spcAft>
                <a:spcPts val="0"/>
              </a:spcAft>
              <a:buSzPts val="1400"/>
              <a:buNone/>
            </a:pPr>
            <a:r>
              <a:rPr lang="en-US" u="none" dirty="0"/>
              <a:t>Remember, When we take something undesirable away, that’s Negative Reinforcement. We took away a sunburn by preventing it. </a:t>
            </a:r>
            <a:endParaRPr dirty="0"/>
          </a:p>
        </p:txBody>
      </p:sp>
      <p:sp>
        <p:nvSpPr>
          <p:cNvPr id="348" name="Google Shape;34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Give the students 5 mins to work on the assignment.</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Put the three-question method slide back up during this time and tell them to use their chart!! </a:t>
            </a:r>
            <a:r>
              <a:rPr lang="en-US" dirty="0">
                <a:sym typeface="Wingdings" pitchFamily="2" charset="2"/>
              </a:rPr>
              <a:t> </a:t>
            </a:r>
            <a:endParaRPr dirty="0"/>
          </a:p>
        </p:txBody>
      </p:sp>
      <p:sp>
        <p:nvSpPr>
          <p:cNvPr id="358" name="Google Shape;35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dirty="0"/>
              <a:t>***TA’s: Make sure you’re prepared to explain all </a:t>
            </a:r>
            <a:r>
              <a:rPr lang="en-US" sz="1600" b="1" dirty="0"/>
              <a:t>negative reinforcement and negative punishment </a:t>
            </a:r>
            <a:r>
              <a:rPr lang="en-US" sz="1600" dirty="0"/>
              <a:t>examples on the handout and come up with some from your own life to help explain these concepts in a story format.</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Students will easily grasp positive reinforcement and even slowly understand positive punishment. </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They WILL struggle with negative reinforcement and negative punishment. </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Remind them: </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In </a:t>
            </a:r>
            <a:r>
              <a:rPr lang="en-US" sz="1600" b="1" u="sng" dirty="0"/>
              <a:t>Negative Reinforcement</a:t>
            </a:r>
            <a:r>
              <a:rPr lang="en-US" sz="1600" dirty="0"/>
              <a:t>, something undesirable is being taken away to increase the likelihood of the behavior happening again. </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In </a:t>
            </a:r>
            <a:r>
              <a:rPr lang="en-US" sz="1600" b="1" u="sng" dirty="0"/>
              <a:t>Negative Punishment</a:t>
            </a:r>
            <a:r>
              <a:rPr lang="en-US" sz="1600" dirty="0"/>
              <a:t>, something desirable is being taken away to decrease the likelihood of the behavior happening again.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p:sp>
        <p:nvSpPr>
          <p:cNvPr id="363" name="Google Shape;363;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4" name="Google Shape;37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600" b="1" dirty="0"/>
              <a:t>“Last week, you chose an Unwanted Target Behavior that YOU want to try to change this semester for your Behavior Modification Assignment Project.</a:t>
            </a:r>
          </a:p>
          <a:p>
            <a:pPr marL="0" marR="0" lvl="0" indent="0" algn="l" rtl="0">
              <a:lnSpc>
                <a:spcPct val="100000"/>
              </a:lnSpc>
              <a:spcBef>
                <a:spcPts val="0"/>
              </a:spcBef>
              <a:spcAft>
                <a:spcPts val="0"/>
              </a:spcAft>
              <a:buClr>
                <a:srgbClr val="000000"/>
              </a:buClr>
              <a:buSzPts val="1400"/>
              <a:buFont typeface="Arial"/>
              <a:buNone/>
            </a:pPr>
            <a:endParaRPr lang="en-US" sz="1600" b="1" dirty="0"/>
          </a:p>
          <a:p>
            <a:pPr marL="0" marR="0" lvl="0" indent="0" algn="l" rtl="0">
              <a:lnSpc>
                <a:spcPct val="100000"/>
              </a:lnSpc>
              <a:spcBef>
                <a:spcPts val="0"/>
              </a:spcBef>
              <a:spcAft>
                <a:spcPts val="0"/>
              </a:spcAft>
              <a:buClr>
                <a:srgbClr val="000000"/>
              </a:buClr>
              <a:buSzPts val="1400"/>
              <a:buFont typeface="Arial"/>
              <a:buNone/>
            </a:pPr>
            <a:r>
              <a:rPr lang="en-US" sz="1600" b="1" dirty="0"/>
              <a:t>Here are the Unwanted Target Behaviors that you were asked to chose from. </a:t>
            </a:r>
          </a:p>
          <a:p>
            <a:pPr marL="0" marR="0" lvl="0" indent="0" algn="l" rtl="0">
              <a:lnSpc>
                <a:spcPct val="100000"/>
              </a:lnSpc>
              <a:spcBef>
                <a:spcPts val="0"/>
              </a:spcBef>
              <a:spcAft>
                <a:spcPts val="0"/>
              </a:spcAft>
              <a:buClr>
                <a:srgbClr val="000000"/>
              </a:buClr>
              <a:buSzPts val="1400"/>
              <a:buFont typeface="Arial"/>
              <a:buNone/>
            </a:pPr>
            <a:endParaRPr lang="en-US" sz="1600" b="1" dirty="0"/>
          </a:p>
          <a:p>
            <a:pPr marL="0" marR="0" lvl="0" indent="0" algn="l" rtl="0">
              <a:lnSpc>
                <a:spcPct val="100000"/>
              </a:lnSpc>
              <a:spcBef>
                <a:spcPts val="0"/>
              </a:spcBef>
              <a:spcAft>
                <a:spcPts val="0"/>
              </a:spcAft>
              <a:buClr>
                <a:srgbClr val="000000"/>
              </a:buClr>
              <a:buSzPts val="1400"/>
              <a:buFont typeface="Arial"/>
              <a:buNone/>
            </a:pPr>
            <a:r>
              <a:rPr lang="en-US" sz="1600" b="1" dirty="0"/>
              <a:t>When you’re trying to change a behavior, research says that it could be helpful to have social support.</a:t>
            </a:r>
          </a:p>
          <a:p>
            <a:pPr marL="0" marR="0" lvl="0" indent="0" algn="l" rtl="0">
              <a:lnSpc>
                <a:spcPct val="100000"/>
              </a:lnSpc>
              <a:spcBef>
                <a:spcPts val="0"/>
              </a:spcBef>
              <a:spcAft>
                <a:spcPts val="0"/>
              </a:spcAft>
              <a:buClr>
                <a:srgbClr val="000000"/>
              </a:buClr>
              <a:buSzPts val="1400"/>
              <a:buFont typeface="Arial"/>
              <a:buNone/>
            </a:pPr>
            <a:endParaRPr lang="en-US" sz="1600" dirty="0"/>
          </a:p>
          <a:p>
            <a:pPr marL="0" marR="0" lvl="0" indent="0" algn="l" rtl="0">
              <a:lnSpc>
                <a:spcPct val="100000"/>
              </a:lnSpc>
              <a:spcBef>
                <a:spcPts val="0"/>
              </a:spcBef>
              <a:spcAft>
                <a:spcPts val="0"/>
              </a:spcAft>
              <a:buClr>
                <a:srgbClr val="000000"/>
              </a:buClr>
              <a:buSzPts val="1400"/>
              <a:buFont typeface="Arial"/>
              <a:buNone/>
            </a:pPr>
            <a:r>
              <a:rPr lang="en-US" sz="1600" b="1" dirty="0"/>
              <a:t>Think about recruiting an accountability partner (i.e., roommate, family member, person who sits next to you in class, etc.).”</a:t>
            </a:r>
            <a:endParaRPr sz="1600" b="1" dirty="0"/>
          </a:p>
          <a:p>
            <a:pPr marL="0" lvl="0" indent="0" algn="l" rtl="0">
              <a:lnSpc>
                <a:spcPct val="100000"/>
              </a:lnSpc>
              <a:spcBef>
                <a:spcPts val="0"/>
              </a:spcBef>
              <a:spcAft>
                <a:spcPts val="0"/>
              </a:spcAft>
              <a:buSzPts val="1400"/>
              <a:buNone/>
            </a:pPr>
            <a:endParaRPr sz="1200" dirty="0">
              <a:solidFill>
                <a:schemeClr val="dk1"/>
              </a:solidFill>
              <a:latin typeface="Calibri"/>
              <a:ea typeface="Calibri"/>
              <a:cs typeface="Calibri"/>
              <a:sym typeface="Calibri"/>
            </a:endParaRPr>
          </a:p>
        </p:txBody>
      </p:sp>
      <p:sp>
        <p:nvSpPr>
          <p:cNvPr id="387" name="Google Shape;387;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a:extLst>
            <a:ext uri="{FF2B5EF4-FFF2-40B4-BE49-F238E27FC236}">
              <a16:creationId xmlns:a16="http://schemas.microsoft.com/office/drawing/2014/main" id="{0E47CE0C-ACC9-3698-3D92-40F1423B400F}"/>
            </a:ext>
          </a:extLst>
        </p:cNvPr>
        <p:cNvGrpSpPr/>
        <p:nvPr/>
      </p:nvGrpSpPr>
      <p:grpSpPr>
        <a:xfrm>
          <a:off x="0" y="0"/>
          <a:ext cx="0" cy="0"/>
          <a:chOff x="0" y="0"/>
          <a:chExt cx="0" cy="0"/>
        </a:xfrm>
      </p:grpSpPr>
      <p:sp>
        <p:nvSpPr>
          <p:cNvPr id="392" name="Google Shape;392;p27:notes">
            <a:extLst>
              <a:ext uri="{FF2B5EF4-FFF2-40B4-BE49-F238E27FC236}">
                <a16:creationId xmlns:a16="http://schemas.microsoft.com/office/drawing/2014/main" id="{7ED3764B-35C8-3717-5A7D-49A918F8DB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600" b="1" dirty="0">
                <a:solidFill>
                  <a:schemeClr val="dk1"/>
                </a:solidFill>
                <a:latin typeface="Calibri"/>
                <a:ea typeface="Calibri"/>
                <a:cs typeface="Calibri"/>
                <a:sym typeface="Calibri"/>
              </a:rPr>
              <a:t>*When YOU are trying to change your behavior, you want to work toward </a:t>
            </a:r>
            <a:r>
              <a:rPr lang="en-US" sz="1600" b="1" u="sng" dirty="0">
                <a:solidFill>
                  <a:schemeClr val="dk1"/>
                </a:solidFill>
                <a:latin typeface="Calibri"/>
                <a:ea typeface="Calibri"/>
                <a:cs typeface="Calibri"/>
                <a:sym typeface="Calibri"/>
              </a:rPr>
              <a:t>increasing</a:t>
            </a:r>
            <a:r>
              <a:rPr lang="en-US" sz="1600" b="1" dirty="0">
                <a:solidFill>
                  <a:schemeClr val="dk1"/>
                </a:solidFill>
                <a:latin typeface="Calibri"/>
                <a:ea typeface="Calibri"/>
                <a:cs typeface="Calibri"/>
                <a:sym typeface="Calibri"/>
              </a:rPr>
              <a:t> your goal behavior, and at the same time, you also need to work toward </a:t>
            </a:r>
            <a:r>
              <a:rPr lang="en-US" sz="1600" b="1" u="sng" dirty="0">
                <a:solidFill>
                  <a:schemeClr val="dk1"/>
                </a:solidFill>
                <a:latin typeface="Calibri"/>
                <a:ea typeface="Calibri"/>
                <a:cs typeface="Calibri"/>
                <a:sym typeface="Calibri"/>
              </a:rPr>
              <a:t>decreasing </a:t>
            </a:r>
            <a:r>
              <a:rPr lang="en-US" sz="1600" b="1" dirty="0">
                <a:solidFill>
                  <a:schemeClr val="dk1"/>
                </a:solidFill>
                <a:latin typeface="Calibri"/>
                <a:ea typeface="Calibri"/>
                <a:cs typeface="Calibri"/>
                <a:sym typeface="Calibri"/>
              </a:rPr>
              <a:t>an unwanted behavior that is interfering with your goal behavior.”</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600" b="0" dirty="0">
              <a:solidFill>
                <a:schemeClr val="dk1"/>
              </a:solidFill>
              <a:latin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600" b="0" dirty="0">
                <a:solidFill>
                  <a:schemeClr val="dk1"/>
                </a:solidFill>
                <a:latin typeface="Calibri"/>
                <a:cs typeface="Calibri"/>
                <a:sym typeface="Calibri"/>
              </a:rPr>
              <a:t>Read slide. </a:t>
            </a:r>
            <a:endParaRPr lang="en-US" sz="1600" b="0" dirty="0"/>
          </a:p>
          <a:p>
            <a:pPr marL="0" indent="0"/>
            <a:endParaRPr lang="en-US" dirty="0"/>
          </a:p>
        </p:txBody>
      </p:sp>
      <p:sp>
        <p:nvSpPr>
          <p:cNvPr id="393" name="Google Shape;393;p27:notes">
            <a:extLst>
              <a:ext uri="{FF2B5EF4-FFF2-40B4-BE49-F238E27FC236}">
                <a16:creationId xmlns:a16="http://schemas.microsoft.com/office/drawing/2014/main" id="{21B19891-F7AF-A86A-F3C1-4BD746B5E6A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23397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b="1" dirty="0"/>
              <a:t>“In last Small Group, we figured out the ABCs (antecedents, behaviors, and consequences) of not drinking enough water. </a:t>
            </a:r>
          </a:p>
          <a:p>
            <a:pPr marL="0" lvl="0" indent="0" algn="l" rtl="0">
              <a:lnSpc>
                <a:spcPct val="100000"/>
              </a:lnSpc>
              <a:spcBef>
                <a:spcPts val="0"/>
              </a:spcBef>
              <a:spcAft>
                <a:spcPts val="0"/>
              </a:spcAft>
              <a:buSzPts val="1400"/>
              <a:buNone/>
            </a:pPr>
            <a:endParaRPr lang="en-US" sz="1600" b="1" dirty="0"/>
          </a:p>
          <a:p>
            <a:pPr marL="0" lvl="0" indent="0" algn="l" rtl="0">
              <a:lnSpc>
                <a:spcPct val="100000"/>
              </a:lnSpc>
              <a:spcBef>
                <a:spcPts val="0"/>
              </a:spcBef>
              <a:spcAft>
                <a:spcPts val="0"/>
              </a:spcAft>
              <a:buSzPts val="1400"/>
              <a:buNone/>
            </a:pPr>
            <a:r>
              <a:rPr lang="en-US" sz="1600" b="1" dirty="0"/>
              <a:t>We described our wanted goal behavior of drinking more water in SMART goal terms.</a:t>
            </a:r>
          </a:p>
          <a:p>
            <a:pPr marL="0" lvl="0" indent="0" algn="l" rtl="0">
              <a:lnSpc>
                <a:spcPct val="100000"/>
              </a:lnSpc>
              <a:spcBef>
                <a:spcPts val="0"/>
              </a:spcBef>
              <a:spcAft>
                <a:spcPts val="0"/>
              </a:spcAft>
              <a:buSzPts val="1400"/>
              <a:buNone/>
            </a:pPr>
            <a:endParaRPr lang="en-US" sz="1600" b="1" dirty="0"/>
          </a:p>
          <a:p>
            <a:pPr marL="0" lvl="0" indent="0" algn="l" rtl="0">
              <a:lnSpc>
                <a:spcPct val="100000"/>
              </a:lnSpc>
              <a:spcBef>
                <a:spcPts val="0"/>
              </a:spcBef>
              <a:spcAft>
                <a:spcPts val="0"/>
              </a:spcAft>
              <a:buSzPts val="1400"/>
              <a:buNone/>
            </a:pPr>
            <a:r>
              <a:rPr lang="en-US" sz="1600" b="1" dirty="0"/>
              <a:t>And, we figured out how changing antecedents can change behavior and its consequences. </a:t>
            </a:r>
          </a:p>
          <a:p>
            <a:pPr marL="0" lvl="0" indent="0" algn="l" rtl="0">
              <a:lnSpc>
                <a:spcPct val="100000"/>
              </a:lnSpc>
              <a:spcBef>
                <a:spcPts val="0"/>
              </a:spcBef>
              <a:spcAft>
                <a:spcPts val="0"/>
              </a:spcAft>
              <a:buSzPts val="1400"/>
              <a:buNone/>
            </a:pPr>
            <a:endParaRPr lang="en-US" sz="1600" b="1" dirty="0"/>
          </a:p>
          <a:p>
            <a:pPr marL="0" lvl="0" indent="0" algn="l" rtl="0">
              <a:lnSpc>
                <a:spcPct val="100000"/>
              </a:lnSpc>
              <a:spcBef>
                <a:spcPts val="0"/>
              </a:spcBef>
              <a:spcAft>
                <a:spcPts val="0"/>
              </a:spcAft>
              <a:buSzPts val="1400"/>
              <a:buNone/>
            </a:pPr>
            <a:r>
              <a:rPr lang="en-US" sz="1600" b="1" dirty="0"/>
              <a:t>This week, we are going to review how we can use the different types of operant conditioning to change water drinking behavior.”</a:t>
            </a:r>
          </a:p>
          <a:p>
            <a:pPr marL="0" lvl="0" indent="0" algn="l" rtl="0">
              <a:lnSpc>
                <a:spcPct val="100000"/>
              </a:lnSpc>
              <a:spcBef>
                <a:spcPts val="0"/>
              </a:spcBef>
              <a:spcAft>
                <a:spcPts val="0"/>
              </a:spcAft>
              <a:buSzPts val="1400"/>
              <a:buNone/>
            </a:pPr>
            <a:endParaRPr lang="en-US" sz="1600" dirty="0"/>
          </a:p>
          <a:p>
            <a:pPr marL="0" lvl="0" indent="0" algn="l" rtl="0">
              <a:lnSpc>
                <a:spcPct val="100000"/>
              </a:lnSpc>
              <a:spcBef>
                <a:spcPts val="0"/>
              </a:spcBef>
              <a:spcAft>
                <a:spcPts val="0"/>
              </a:spcAft>
              <a:buSzPts val="1400"/>
              <a:buNone/>
            </a:pPr>
            <a:r>
              <a:rPr lang="en-US" sz="1600" dirty="0"/>
              <a:t>Read slide. </a:t>
            </a:r>
            <a:endParaRPr sz="1600" dirty="0"/>
          </a:p>
        </p:txBody>
      </p:sp>
      <p:sp>
        <p:nvSpPr>
          <p:cNvPr id="393" name="Google Shape;39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13" name="Google Shape;41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0" name="Google Shape;42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8" name="Google Shape;428;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38126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600" b="1" dirty="0"/>
              <a:t>“For your actual Behavior Modification intervention this semester, you are going to choose </a:t>
            </a:r>
            <a:r>
              <a:rPr lang="en-US" sz="1600" b="1" u="sng" dirty="0"/>
              <a:t>two</a:t>
            </a:r>
            <a:r>
              <a:rPr lang="en-US" sz="1600" b="1" dirty="0"/>
              <a:t> different types of Operant Conditioning you plan to use to change your behavior. First, define the type of Operant Conditioning, and then, provide an example of how you will use it daily and weekly.” </a:t>
            </a:r>
            <a:endParaRPr lang="en-US" sz="1600"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442480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9582679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082414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445709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520571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25E5-B3B5-B8D5-63DF-0882753DB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8D94B-BEFF-F969-5DC1-2916BD2D8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25DBB-B085-601D-8EDA-4EACDEB8ADEC}"/>
              </a:ext>
            </a:extLst>
          </p:cNvPr>
          <p:cNvSpPr>
            <a:spLocks noGrp="1"/>
          </p:cNvSpPr>
          <p:nvPr>
            <p:ph type="body" idx="1"/>
          </p:nvPr>
        </p:nvSpPr>
        <p:spPr/>
        <p:txBody>
          <a:bodyPr/>
          <a:lstStyle/>
          <a:p>
            <a:r>
              <a:rPr lang="en-US" sz="1600" dirty="0"/>
              <a:t>** Please remind students that these meetings are mandatory!! Emphasize that the sooner they complete the meeting, the better. **</a:t>
            </a:r>
          </a:p>
          <a:p>
            <a:endParaRPr lang="en-US" sz="1600" dirty="0"/>
          </a:p>
          <a:p>
            <a:r>
              <a:rPr lang="en-US" sz="1600" dirty="0"/>
              <a:t>Read slide. </a:t>
            </a:r>
          </a:p>
          <a:p>
            <a:endParaRPr lang="en-US" sz="1600" dirty="0"/>
          </a:p>
          <a:p>
            <a:r>
              <a:rPr lang="en-US" sz="1600" b="1" dirty="0"/>
              <a:t>“Please, do not stand us up for your five-minute meeting! </a:t>
            </a:r>
            <a:r>
              <a:rPr lang="en-US" sz="1600" b="1" dirty="0">
                <a:sym typeface="Wingdings" pitchFamily="2" charset="2"/>
              </a:rPr>
              <a:t> </a:t>
            </a:r>
            <a:r>
              <a:rPr lang="en-US" sz="1600" b="1" dirty="0"/>
              <a:t>If you MUST miss unexpectedly, please email us.”</a:t>
            </a:r>
          </a:p>
        </p:txBody>
      </p:sp>
      <p:sp>
        <p:nvSpPr>
          <p:cNvPr id="4" name="Slide Number Placeholder 3">
            <a:extLst>
              <a:ext uri="{FF2B5EF4-FFF2-40B4-BE49-F238E27FC236}">
                <a16:creationId xmlns:a16="http://schemas.microsoft.com/office/drawing/2014/main" id="{AA6D8175-5EBB-5DA3-2D15-3C61E4214EB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959338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41BA9B4-859C-3B7A-37EC-5F2771BFC4F0}"/>
            </a:ext>
          </a:extLst>
        </p:cNvPr>
        <p:cNvGrpSpPr/>
        <p:nvPr/>
      </p:nvGrpSpPr>
      <p:grpSpPr>
        <a:xfrm>
          <a:off x="0" y="0"/>
          <a:ext cx="0" cy="0"/>
          <a:chOff x="0" y="0"/>
          <a:chExt cx="0" cy="0"/>
        </a:xfrm>
      </p:grpSpPr>
      <p:sp>
        <p:nvSpPr>
          <p:cNvPr id="67" name="Google Shape;67;p2:notes">
            <a:extLst>
              <a:ext uri="{FF2B5EF4-FFF2-40B4-BE49-F238E27FC236}">
                <a16:creationId xmlns:a16="http://schemas.microsoft.com/office/drawing/2014/main" id="{7AB14B03-0AFB-C9F4-78D3-7432EB71F07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2:notes">
            <a:extLst>
              <a:ext uri="{FF2B5EF4-FFF2-40B4-BE49-F238E27FC236}">
                <a16:creationId xmlns:a16="http://schemas.microsoft.com/office/drawing/2014/main" id="{258BF844-C06C-1885-A168-4362B4255E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69" name="Google Shape;69;p2:notes">
            <a:extLst>
              <a:ext uri="{FF2B5EF4-FFF2-40B4-BE49-F238E27FC236}">
                <a16:creationId xmlns:a16="http://schemas.microsoft.com/office/drawing/2014/main" id="{F3795A71-F177-3B6A-8574-01AF31C50B6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64</a:t>
            </a:fld>
            <a:endParaRPr/>
          </a:p>
        </p:txBody>
      </p:sp>
    </p:spTree>
    <p:extLst>
      <p:ext uri="{BB962C8B-B14F-4D97-AF65-F5344CB8AC3E}">
        <p14:creationId xmlns:p14="http://schemas.microsoft.com/office/powerpoint/2010/main" val="393575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4"/>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Clr>
                <a:schemeClr val="dk2"/>
              </a:buClr>
              <a:buSzPts val="18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4"/>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40"/>
              </a:spcBef>
              <a:spcAft>
                <a:spcPts val="0"/>
              </a:spcAft>
              <a:buSzPts val="1800"/>
              <a:buChar char="•"/>
              <a:defRPr/>
            </a:lvl1pPr>
            <a:lvl2pPr marL="914400" lvl="1" indent="-342900" algn="l">
              <a:lnSpc>
                <a:spcPct val="100000"/>
              </a:lnSpc>
              <a:spcBef>
                <a:spcPts val="560"/>
              </a:spcBef>
              <a:spcAft>
                <a:spcPts val="0"/>
              </a:spcAft>
              <a:buSzPts val="1800"/>
              <a:buChar char="•"/>
              <a:defRPr/>
            </a:lvl2pPr>
            <a:lvl3pPr marL="1371600" lvl="2" indent="-342900" algn="l">
              <a:lnSpc>
                <a:spcPct val="100000"/>
              </a:lnSpc>
              <a:spcBef>
                <a:spcPts val="480"/>
              </a:spcBef>
              <a:spcAft>
                <a:spcPts val="0"/>
              </a:spcAft>
              <a:buSzPts val="1800"/>
              <a:buChar char="•"/>
              <a:defRPr/>
            </a:lvl3pPr>
            <a:lvl4pPr marL="1828800" lvl="3" indent="-342900" algn="l">
              <a:lnSpc>
                <a:spcPct val="100000"/>
              </a:lnSpc>
              <a:spcBef>
                <a:spcPts val="400"/>
              </a:spcBef>
              <a:spcAft>
                <a:spcPts val="0"/>
              </a:spcAft>
              <a:buSzPts val="1800"/>
              <a:buChar char="•"/>
              <a:defRPr/>
            </a:lvl4pPr>
            <a:lvl5pPr marL="2286000" lvl="4" indent="-342900" algn="l">
              <a:lnSpc>
                <a:spcPct val="100000"/>
              </a:lnSpc>
              <a:spcBef>
                <a:spcPts val="400"/>
              </a:spcBef>
              <a:spcAft>
                <a:spcPts val="0"/>
              </a:spcAft>
              <a:buSzPts val="1800"/>
              <a:buChar char="•"/>
              <a:defRPr/>
            </a:lvl5pPr>
            <a:lvl6pPr marL="2743200" lvl="5" indent="-342900" algn="l">
              <a:lnSpc>
                <a:spcPct val="100000"/>
              </a:lnSpc>
              <a:spcBef>
                <a:spcPts val="400"/>
              </a:spcBef>
              <a:spcAft>
                <a:spcPts val="0"/>
              </a:spcAft>
              <a:buSzPts val="1800"/>
              <a:buChar char="•"/>
              <a:defRPr/>
            </a:lvl6pPr>
            <a:lvl7pPr marL="3200400" lvl="6" indent="-342900" algn="l">
              <a:lnSpc>
                <a:spcPct val="100000"/>
              </a:lnSpc>
              <a:spcBef>
                <a:spcPts val="400"/>
              </a:spcBef>
              <a:spcAft>
                <a:spcPts val="0"/>
              </a:spcAft>
              <a:buSzPts val="1800"/>
              <a:buChar char="•"/>
              <a:defRPr/>
            </a:lvl7pPr>
            <a:lvl8pPr marL="3657600" lvl="7" indent="-342900" algn="l">
              <a:lnSpc>
                <a:spcPct val="100000"/>
              </a:lnSpc>
              <a:spcBef>
                <a:spcPts val="400"/>
              </a:spcBef>
              <a:spcAft>
                <a:spcPts val="0"/>
              </a:spcAft>
              <a:buSzPts val="1800"/>
              <a:buChar char="•"/>
              <a:defRPr/>
            </a:lvl8pPr>
            <a:lvl9pPr marL="4114800" lvl="8" indent="-342900" algn="l">
              <a:lnSpc>
                <a:spcPct val="100000"/>
              </a:lnSpc>
              <a:spcBef>
                <a:spcPts val="400"/>
              </a:spcBef>
              <a:spcAft>
                <a:spcPts val="0"/>
              </a:spcAft>
              <a:buSzPts val="1800"/>
              <a:buChar char="•"/>
              <a:defRPr/>
            </a:lvl9pPr>
          </a:lstStyle>
          <a:p>
            <a:endParaRPr/>
          </a:p>
        </p:txBody>
      </p:sp>
      <p:sp>
        <p:nvSpPr>
          <p:cNvPr id="18" name="Google Shape;18;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 name="Google Shape;19;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0" name="Google Shape;20;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5"/>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Clr>
                <a:schemeClr val="dk2"/>
              </a:buClr>
              <a:buSzPts val="18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5"/>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40"/>
              </a:spcBef>
              <a:spcAft>
                <a:spcPts val="0"/>
              </a:spcAft>
              <a:buSzPts val="3200"/>
              <a:buNone/>
              <a:defRPr>
                <a:solidFill>
                  <a:srgbClr val="888888"/>
                </a:solidFill>
              </a:defRPr>
            </a:lvl1pPr>
            <a:lvl2pPr lvl="1" algn="ctr">
              <a:lnSpc>
                <a:spcPct val="100000"/>
              </a:lnSpc>
              <a:spcBef>
                <a:spcPts val="560"/>
              </a:spcBef>
              <a:spcAft>
                <a:spcPts val="0"/>
              </a:spcAft>
              <a:buSzPts val="2800"/>
              <a:buNone/>
              <a:defRPr>
                <a:solidFill>
                  <a:srgbClr val="888888"/>
                </a:solidFill>
              </a:defRPr>
            </a:lvl2pPr>
            <a:lvl3pPr lvl="2" algn="ctr">
              <a:lnSpc>
                <a:spcPct val="100000"/>
              </a:lnSpc>
              <a:spcBef>
                <a:spcPts val="480"/>
              </a:spcBef>
              <a:spcAft>
                <a:spcPts val="0"/>
              </a:spcAft>
              <a:buSzPts val="2400"/>
              <a:buNone/>
              <a:defRPr>
                <a:solidFill>
                  <a:srgbClr val="888888"/>
                </a:solidFill>
              </a:defRPr>
            </a:lvl3pPr>
            <a:lvl4pPr lvl="3" algn="ctr">
              <a:lnSpc>
                <a:spcPct val="100000"/>
              </a:lnSpc>
              <a:spcBef>
                <a:spcPts val="400"/>
              </a:spcBef>
              <a:spcAft>
                <a:spcPts val="0"/>
              </a:spcAft>
              <a:buSzPts val="2000"/>
              <a:buNone/>
              <a:defRPr>
                <a:solidFill>
                  <a:srgbClr val="888888"/>
                </a:solidFill>
              </a:defRPr>
            </a:lvl4pPr>
            <a:lvl5pPr lvl="4" algn="ctr">
              <a:lnSpc>
                <a:spcPct val="100000"/>
              </a:lnSpc>
              <a:spcBef>
                <a:spcPts val="400"/>
              </a:spcBef>
              <a:spcAft>
                <a:spcPts val="0"/>
              </a:spcAft>
              <a:buSzPts val="2000"/>
              <a:buNone/>
              <a:defRPr>
                <a:solidFill>
                  <a:srgbClr val="888888"/>
                </a:solidFill>
              </a:defRPr>
            </a:lvl5pPr>
            <a:lvl6pPr lvl="5" algn="ctr">
              <a:lnSpc>
                <a:spcPct val="100000"/>
              </a:lnSpc>
              <a:spcBef>
                <a:spcPts val="400"/>
              </a:spcBef>
              <a:spcAft>
                <a:spcPts val="0"/>
              </a:spcAft>
              <a:buSzPts val="2000"/>
              <a:buNone/>
              <a:defRPr>
                <a:solidFill>
                  <a:srgbClr val="888888"/>
                </a:solidFill>
              </a:defRPr>
            </a:lvl6pPr>
            <a:lvl7pPr lvl="6" algn="ctr">
              <a:lnSpc>
                <a:spcPct val="100000"/>
              </a:lnSpc>
              <a:spcBef>
                <a:spcPts val="400"/>
              </a:spcBef>
              <a:spcAft>
                <a:spcPts val="0"/>
              </a:spcAft>
              <a:buSzPts val="2000"/>
              <a:buNone/>
              <a:defRPr>
                <a:solidFill>
                  <a:srgbClr val="888888"/>
                </a:solidFill>
              </a:defRPr>
            </a:lvl7pPr>
            <a:lvl8pPr lvl="7" algn="ctr">
              <a:lnSpc>
                <a:spcPct val="100000"/>
              </a:lnSpc>
              <a:spcBef>
                <a:spcPts val="400"/>
              </a:spcBef>
              <a:spcAft>
                <a:spcPts val="0"/>
              </a:spcAft>
              <a:buSzPts val="2000"/>
              <a:buNone/>
              <a:defRPr>
                <a:solidFill>
                  <a:srgbClr val="888888"/>
                </a:solidFill>
              </a:defRPr>
            </a:lvl8pPr>
            <a:lvl9pPr lvl="8" algn="ctr">
              <a:lnSpc>
                <a:spcPct val="100000"/>
              </a:lnSpc>
              <a:spcBef>
                <a:spcPts val="400"/>
              </a:spcBef>
              <a:spcAft>
                <a:spcPts val="0"/>
              </a:spcAft>
              <a:buSzPts val="2000"/>
              <a:buNone/>
              <a:defRPr>
                <a:solidFill>
                  <a:srgbClr val="888888"/>
                </a:solidFill>
              </a:defRPr>
            </a:lvl9pPr>
          </a:lstStyle>
          <a:p>
            <a:endParaRPr/>
          </a:p>
        </p:txBody>
      </p:sp>
      <p:sp>
        <p:nvSpPr>
          <p:cNvPr id="24" name="Google Shape;24;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5" name="Google Shape;25;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6" name="Google Shape;26;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TitleAndTx" type="vertTitleAndTx">
  <p:cSld name="VERTICAL_TITLE_AND_VERTICAL_TEXT">
    <p:spTree>
      <p:nvGrpSpPr>
        <p:cNvPr id="1" name="Shape 31"/>
        <p:cNvGrpSpPr/>
        <p:nvPr/>
      </p:nvGrpSpPr>
      <p:grpSpPr>
        <a:xfrm>
          <a:off x="0" y="0"/>
          <a:ext cx="0" cy="0"/>
          <a:chOff x="0" y="0"/>
          <a:chExt cx="0" cy="0"/>
        </a:xfrm>
      </p:grpSpPr>
      <p:sp>
        <p:nvSpPr>
          <p:cNvPr id="32" name="Google Shape;32;p36"/>
          <p:cNvSpPr txBox="1">
            <a:spLocks noGrp="1"/>
          </p:cNvSpPr>
          <p:nvPr>
            <p:ph type="title"/>
          </p:nvPr>
        </p:nvSpPr>
        <p:spPr>
          <a:xfrm rot="5400000">
            <a:off x="5067299" y="2552700"/>
            <a:ext cx="5867400" cy="2286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1pPr>
            <a:lvl2pPr lvl="1"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2pPr>
            <a:lvl3pPr lvl="2"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3pPr>
            <a:lvl4pPr lvl="3"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4pPr>
            <a:lvl5pPr lvl="4"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5pPr>
            <a:lvl6pPr lvl="5"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6pPr>
            <a:lvl7pPr lvl="6"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7pPr>
            <a:lvl8pPr lvl="7"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8pPr>
            <a:lvl9pPr lvl="8"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9pPr>
          </a:lstStyle>
          <a:p>
            <a:endParaRPr/>
          </a:p>
        </p:txBody>
      </p:sp>
      <p:sp>
        <p:nvSpPr>
          <p:cNvPr id="33" name="Google Shape;33;p36"/>
          <p:cNvSpPr txBox="1">
            <a:spLocks noGrp="1"/>
          </p:cNvSpPr>
          <p:nvPr>
            <p:ph type="body" idx="1"/>
          </p:nvPr>
        </p:nvSpPr>
        <p:spPr>
          <a:xfrm rot="5400000">
            <a:off x="419100" y="342900"/>
            <a:ext cx="5867400" cy="6705599"/>
          </a:xfrm>
          <a:prstGeom prst="rect">
            <a:avLst/>
          </a:prstGeom>
          <a:noFill/>
          <a:ln>
            <a:noFill/>
          </a:ln>
        </p:spPr>
        <p:txBody>
          <a:bodyPr spcFirstLastPara="1" wrap="square" lIns="91425" tIns="91425" rIns="91425" bIns="91425" anchor="t" anchorCtr="0">
            <a:noAutofit/>
          </a:bodyPr>
          <a:lstStyle>
            <a:lvl1pPr marL="457200" lvl="0" indent="-431800" algn="l">
              <a:lnSpc>
                <a:spcPct val="100000"/>
              </a:lnSpc>
              <a:spcBef>
                <a:spcPts val="640"/>
              </a:spcBef>
              <a:spcAft>
                <a:spcPts val="0"/>
              </a:spcAft>
              <a:buClr>
                <a:schemeClr val="dk1"/>
              </a:buClr>
              <a:buSzPts val="3200"/>
              <a:buFont typeface="Arial"/>
              <a:buChar char="•"/>
              <a:defRPr sz="3200">
                <a:solidFill>
                  <a:schemeClr val="dk1"/>
                </a:solidFill>
                <a:latin typeface="Trebuchet MS"/>
                <a:ea typeface="Trebuchet MS"/>
                <a:cs typeface="Trebuchet MS"/>
                <a:sym typeface="Trebuchet MS"/>
              </a:defRPr>
            </a:lvl1pPr>
            <a:lvl2pPr marL="914400" lvl="1" indent="-406400" algn="l">
              <a:lnSpc>
                <a:spcPct val="100000"/>
              </a:lnSpc>
              <a:spcBef>
                <a:spcPts val="560"/>
              </a:spcBef>
              <a:spcAft>
                <a:spcPts val="0"/>
              </a:spcAft>
              <a:buClr>
                <a:schemeClr val="dk1"/>
              </a:buClr>
              <a:buSzPts val="2800"/>
              <a:buFont typeface="Arial"/>
              <a:buChar char="•"/>
              <a:defRPr sz="2800">
                <a:solidFill>
                  <a:schemeClr val="dk1"/>
                </a:solidFill>
                <a:latin typeface="Trebuchet MS"/>
                <a:ea typeface="Trebuchet MS"/>
                <a:cs typeface="Trebuchet MS"/>
                <a:sym typeface="Trebuchet MS"/>
              </a:defRPr>
            </a:lvl2pPr>
            <a:lvl3pPr marL="1371600" lvl="2" indent="-381000" algn="l">
              <a:lnSpc>
                <a:spcPct val="100000"/>
              </a:lnSpc>
              <a:spcBef>
                <a:spcPts val="480"/>
              </a:spcBef>
              <a:spcAft>
                <a:spcPts val="0"/>
              </a:spcAft>
              <a:buClr>
                <a:schemeClr val="dk1"/>
              </a:buClr>
              <a:buSzPts val="2400"/>
              <a:buFont typeface="Arial"/>
              <a:buChar char="•"/>
              <a:defRPr sz="2400">
                <a:solidFill>
                  <a:schemeClr val="dk1"/>
                </a:solidFill>
                <a:latin typeface="Trebuchet MS"/>
                <a:ea typeface="Trebuchet MS"/>
                <a:cs typeface="Trebuchet MS"/>
                <a:sym typeface="Trebuchet MS"/>
              </a:defRPr>
            </a:lvl3pPr>
            <a:lvl4pPr marL="1828800" lvl="3"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4pPr>
            <a:lvl5pPr marL="2286000" lvl="4"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5pPr>
            <a:lvl6pPr marL="2743200" lvl="5"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6pPr>
            <a:lvl7pPr marL="3200400" lvl="6"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7pPr>
            <a:lvl8pPr marL="3657600" lvl="7"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8pPr>
            <a:lvl9pPr marL="4114800" lvl="8"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Tx" type="vertTx">
  <p:cSld name="VERTICAL_TEXT">
    <p:spTree>
      <p:nvGrpSpPr>
        <p:cNvPr id="1" name="Shape 34"/>
        <p:cNvGrpSpPr/>
        <p:nvPr/>
      </p:nvGrpSpPr>
      <p:grpSpPr>
        <a:xfrm>
          <a:off x="0" y="0"/>
          <a:ext cx="0" cy="0"/>
          <a:chOff x="0" y="0"/>
          <a:chExt cx="0" cy="0"/>
        </a:xfrm>
      </p:grpSpPr>
      <p:sp>
        <p:nvSpPr>
          <p:cNvPr id="35" name="Google Shape;35;p37"/>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1pPr>
            <a:lvl2pPr lvl="1"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2pPr>
            <a:lvl3pPr lvl="2"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3pPr>
            <a:lvl4pPr lvl="3"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4pPr>
            <a:lvl5pPr lvl="4"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5pPr>
            <a:lvl6pPr lvl="5"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6pPr>
            <a:lvl7pPr lvl="6"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7pPr>
            <a:lvl8pPr lvl="7"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8pPr>
            <a:lvl9pPr lvl="8"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9pPr>
          </a:lstStyle>
          <a:p>
            <a:endParaRPr/>
          </a:p>
        </p:txBody>
      </p:sp>
      <p:sp>
        <p:nvSpPr>
          <p:cNvPr id="36" name="Google Shape;36;p37"/>
          <p:cNvSpPr txBox="1">
            <a:spLocks noGrp="1"/>
          </p:cNvSpPr>
          <p:nvPr>
            <p:ph type="body" idx="1"/>
          </p:nvPr>
        </p:nvSpPr>
        <p:spPr>
          <a:xfrm rot="5400000">
            <a:off x="2133599" y="-381000"/>
            <a:ext cx="4876799" cy="9144000"/>
          </a:xfrm>
          <a:prstGeom prst="rect">
            <a:avLst/>
          </a:prstGeom>
          <a:noFill/>
          <a:ln>
            <a:noFill/>
          </a:ln>
        </p:spPr>
        <p:txBody>
          <a:bodyPr spcFirstLastPara="1" wrap="square" lIns="91425" tIns="91425" rIns="91425" bIns="91425" anchor="t" anchorCtr="0">
            <a:noAutofit/>
          </a:bodyPr>
          <a:lstStyle>
            <a:lvl1pPr marL="457200" lvl="0" indent="-431800" algn="l">
              <a:lnSpc>
                <a:spcPct val="100000"/>
              </a:lnSpc>
              <a:spcBef>
                <a:spcPts val="640"/>
              </a:spcBef>
              <a:spcAft>
                <a:spcPts val="0"/>
              </a:spcAft>
              <a:buClr>
                <a:schemeClr val="dk1"/>
              </a:buClr>
              <a:buSzPts val="3200"/>
              <a:buFont typeface="Arial"/>
              <a:buChar char="•"/>
              <a:defRPr sz="3200">
                <a:solidFill>
                  <a:schemeClr val="dk1"/>
                </a:solidFill>
                <a:latin typeface="Trebuchet MS"/>
                <a:ea typeface="Trebuchet MS"/>
                <a:cs typeface="Trebuchet MS"/>
                <a:sym typeface="Trebuchet MS"/>
              </a:defRPr>
            </a:lvl1pPr>
            <a:lvl2pPr marL="914400" lvl="1" indent="-406400" algn="l">
              <a:lnSpc>
                <a:spcPct val="100000"/>
              </a:lnSpc>
              <a:spcBef>
                <a:spcPts val="560"/>
              </a:spcBef>
              <a:spcAft>
                <a:spcPts val="0"/>
              </a:spcAft>
              <a:buClr>
                <a:schemeClr val="dk1"/>
              </a:buClr>
              <a:buSzPts val="2800"/>
              <a:buFont typeface="Arial"/>
              <a:buChar char="•"/>
              <a:defRPr sz="2800">
                <a:solidFill>
                  <a:schemeClr val="dk1"/>
                </a:solidFill>
                <a:latin typeface="Trebuchet MS"/>
                <a:ea typeface="Trebuchet MS"/>
                <a:cs typeface="Trebuchet MS"/>
                <a:sym typeface="Trebuchet MS"/>
              </a:defRPr>
            </a:lvl2pPr>
            <a:lvl3pPr marL="1371600" lvl="2" indent="-381000" algn="l">
              <a:lnSpc>
                <a:spcPct val="100000"/>
              </a:lnSpc>
              <a:spcBef>
                <a:spcPts val="480"/>
              </a:spcBef>
              <a:spcAft>
                <a:spcPts val="0"/>
              </a:spcAft>
              <a:buClr>
                <a:schemeClr val="dk1"/>
              </a:buClr>
              <a:buSzPts val="2400"/>
              <a:buFont typeface="Arial"/>
              <a:buChar char="•"/>
              <a:defRPr sz="2400">
                <a:solidFill>
                  <a:schemeClr val="dk1"/>
                </a:solidFill>
                <a:latin typeface="Trebuchet MS"/>
                <a:ea typeface="Trebuchet MS"/>
                <a:cs typeface="Trebuchet MS"/>
                <a:sym typeface="Trebuchet MS"/>
              </a:defRPr>
            </a:lvl3pPr>
            <a:lvl4pPr marL="1828800" lvl="3"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4pPr>
            <a:lvl5pPr marL="2286000" lvl="4"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5pPr>
            <a:lvl6pPr marL="2743200" lvl="5"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6pPr>
            <a:lvl7pPr marL="3200400" lvl="6"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7pPr>
            <a:lvl8pPr marL="3657600" lvl="7"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8pPr>
            <a:lvl9pPr marL="4114800" lvl="8" indent="-355600" algn="l">
              <a:lnSpc>
                <a:spcPct val="100000"/>
              </a:lnSpc>
              <a:spcBef>
                <a:spcPts val="400"/>
              </a:spcBef>
              <a:spcAft>
                <a:spcPts val="0"/>
              </a:spcAft>
              <a:buClr>
                <a:schemeClr val="dk1"/>
              </a:buClr>
              <a:buSzPts val="2000"/>
              <a:buFont typeface="Arial"/>
              <a:buChar char="•"/>
              <a:defRPr sz="2000">
                <a:solidFill>
                  <a:schemeClr val="dk1"/>
                </a:solidFill>
                <a:latin typeface="Trebuchet MS"/>
                <a:ea typeface="Trebuchet MS"/>
                <a:cs typeface="Trebuchet MS"/>
                <a:sym typeface="Trebuchet M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bjTx" type="objTx">
  <p:cSld name="OBJECT_WITH_CAPTION_TEXT">
    <p:spTree>
      <p:nvGrpSpPr>
        <p:cNvPr id="1" name="Shape 37"/>
        <p:cNvGrpSpPr/>
        <p:nvPr/>
      </p:nvGrpSpPr>
      <p:grpSpPr>
        <a:xfrm>
          <a:off x="0" y="0"/>
          <a:ext cx="0" cy="0"/>
          <a:chOff x="0" y="0"/>
          <a:chExt cx="0" cy="0"/>
        </a:xfrm>
      </p:grpSpPr>
      <p:sp>
        <p:nvSpPr>
          <p:cNvPr id="38" name="Google Shape;38;p38"/>
          <p:cNvSpPr txBox="1">
            <a:spLocks noGrp="1"/>
          </p:cNvSpPr>
          <p:nvPr>
            <p:ph type="title"/>
          </p:nvPr>
        </p:nvSpPr>
        <p:spPr>
          <a:xfrm>
            <a:off x="457200" y="273050"/>
            <a:ext cx="3008313" cy="116204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2"/>
              </a:buClr>
              <a:buSzPts val="2000"/>
              <a:buFont typeface="Trebuchet MS"/>
              <a:buNone/>
              <a:defRPr sz="2000" b="1"/>
            </a:lvl1pPr>
            <a:lvl2pPr lvl="1" algn="l">
              <a:lnSpc>
                <a:spcPct val="100000"/>
              </a:lnSpc>
              <a:spcBef>
                <a:spcPts val="0"/>
              </a:spcBef>
              <a:spcAft>
                <a:spcPts val="0"/>
              </a:spcAft>
              <a:buClr>
                <a:schemeClr val="dk2"/>
              </a:buClr>
              <a:buSzPts val="4400"/>
              <a:buFont typeface="Trebuchet MS"/>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8"/>
          <p:cNvSpPr txBox="1">
            <a:spLocks noGrp="1"/>
          </p:cNvSpPr>
          <p:nvPr>
            <p:ph type="body" idx="1"/>
          </p:nvPr>
        </p:nvSpPr>
        <p:spPr>
          <a:xfrm>
            <a:off x="3575050" y="273050"/>
            <a:ext cx="5111750" cy="5853112"/>
          </a:xfrm>
          <a:prstGeom prst="rect">
            <a:avLst/>
          </a:prstGeom>
          <a:noFill/>
          <a:ln>
            <a:noFill/>
          </a:ln>
        </p:spPr>
        <p:txBody>
          <a:bodyPr spcFirstLastPara="1" wrap="square" lIns="91425" tIns="91425" rIns="91425" bIns="91425" anchor="t" anchorCtr="0">
            <a:noAutofit/>
          </a:bodyPr>
          <a:lstStyle>
            <a:lvl1pPr marL="457200" lvl="0" indent="-431800" algn="l">
              <a:lnSpc>
                <a:spcPct val="100000"/>
              </a:lnSpc>
              <a:spcBef>
                <a:spcPts val="640"/>
              </a:spcBef>
              <a:spcAft>
                <a:spcPts val="0"/>
              </a:spcAft>
              <a:buSzPts val="3200"/>
              <a:buChar char="•"/>
              <a:defRPr sz="3200"/>
            </a:lvl1pPr>
            <a:lvl2pPr marL="914400" lvl="1" indent="-406400" algn="l">
              <a:lnSpc>
                <a:spcPct val="100000"/>
              </a:lnSpc>
              <a:spcBef>
                <a:spcPts val="56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40" name="Google Shape;40;p38"/>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640"/>
              </a:spcBef>
              <a:spcAft>
                <a:spcPts val="0"/>
              </a:spcAft>
              <a:buSzPts val="1400"/>
              <a:buFont typeface="Trebuchet MS"/>
              <a:buNone/>
              <a:defRPr sz="1400"/>
            </a:lvl1pPr>
            <a:lvl2pPr marL="914400" lvl="1" indent="-228600" algn="l">
              <a:lnSpc>
                <a:spcPct val="100000"/>
              </a:lnSpc>
              <a:spcBef>
                <a:spcPts val="560"/>
              </a:spcBef>
              <a:spcAft>
                <a:spcPts val="0"/>
              </a:spcAft>
              <a:buSzPts val="1200"/>
              <a:buFont typeface="Trebuchet MS"/>
              <a:buNone/>
              <a:defRPr sz="1200"/>
            </a:lvl2pPr>
            <a:lvl3pPr marL="1371600" lvl="2" indent="-228600" algn="l">
              <a:lnSpc>
                <a:spcPct val="100000"/>
              </a:lnSpc>
              <a:spcBef>
                <a:spcPts val="480"/>
              </a:spcBef>
              <a:spcAft>
                <a:spcPts val="0"/>
              </a:spcAft>
              <a:buSzPts val="1000"/>
              <a:buFont typeface="Trebuchet MS"/>
              <a:buNone/>
              <a:defRPr sz="1000"/>
            </a:lvl3pPr>
            <a:lvl4pPr marL="1828800" lvl="3" indent="-228600" algn="l">
              <a:lnSpc>
                <a:spcPct val="100000"/>
              </a:lnSpc>
              <a:spcBef>
                <a:spcPts val="400"/>
              </a:spcBef>
              <a:spcAft>
                <a:spcPts val="0"/>
              </a:spcAft>
              <a:buSzPts val="900"/>
              <a:buFont typeface="Trebuchet MS"/>
              <a:buNone/>
              <a:defRPr sz="900"/>
            </a:lvl4pPr>
            <a:lvl5pPr marL="2286000" lvl="4" indent="-228600" algn="l">
              <a:lnSpc>
                <a:spcPct val="100000"/>
              </a:lnSpc>
              <a:spcBef>
                <a:spcPts val="400"/>
              </a:spcBef>
              <a:spcAft>
                <a:spcPts val="0"/>
              </a:spcAft>
              <a:buSzPts val="900"/>
              <a:buFont typeface="Trebuchet MS"/>
              <a:buNone/>
              <a:defRPr sz="900"/>
            </a:lvl5pPr>
            <a:lvl6pPr marL="2743200" lvl="5" indent="-228600" algn="l">
              <a:lnSpc>
                <a:spcPct val="100000"/>
              </a:lnSpc>
              <a:spcBef>
                <a:spcPts val="400"/>
              </a:spcBef>
              <a:spcAft>
                <a:spcPts val="0"/>
              </a:spcAft>
              <a:buSzPts val="900"/>
              <a:buFont typeface="Trebuchet MS"/>
              <a:buNone/>
              <a:defRPr sz="900"/>
            </a:lvl6pPr>
            <a:lvl7pPr marL="3200400" lvl="6" indent="-228600" algn="l">
              <a:lnSpc>
                <a:spcPct val="100000"/>
              </a:lnSpc>
              <a:spcBef>
                <a:spcPts val="400"/>
              </a:spcBef>
              <a:spcAft>
                <a:spcPts val="0"/>
              </a:spcAft>
              <a:buSzPts val="900"/>
              <a:buFont typeface="Trebuchet MS"/>
              <a:buNone/>
              <a:defRPr sz="900"/>
            </a:lvl7pPr>
            <a:lvl8pPr marL="3657600" lvl="7" indent="-228600" algn="l">
              <a:lnSpc>
                <a:spcPct val="100000"/>
              </a:lnSpc>
              <a:spcBef>
                <a:spcPts val="400"/>
              </a:spcBef>
              <a:spcAft>
                <a:spcPts val="0"/>
              </a:spcAft>
              <a:buSzPts val="900"/>
              <a:buFont typeface="Trebuchet MS"/>
              <a:buNone/>
              <a:defRPr sz="900"/>
            </a:lvl8pPr>
            <a:lvl9pPr marL="4114800" lvl="8" indent="-228600" algn="l">
              <a:lnSpc>
                <a:spcPct val="100000"/>
              </a:lnSpc>
              <a:spcBef>
                <a:spcPts val="400"/>
              </a:spcBef>
              <a:spcAft>
                <a:spcPts val="0"/>
              </a:spcAft>
              <a:buSzPts val="900"/>
              <a:buFont typeface="Trebuchet MS"/>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Only" type="titleOnly">
  <p:cSld name="TITLE_ONLY">
    <p:spTree>
      <p:nvGrpSpPr>
        <p:cNvPr id="1" name="Shape 41"/>
        <p:cNvGrpSpPr/>
        <p:nvPr/>
      </p:nvGrpSpPr>
      <p:grpSpPr>
        <a:xfrm>
          <a:off x="0" y="0"/>
          <a:ext cx="0" cy="0"/>
          <a:chOff x="0" y="0"/>
          <a:chExt cx="0" cy="0"/>
        </a:xfrm>
      </p:grpSpPr>
      <p:sp>
        <p:nvSpPr>
          <p:cNvPr id="42" name="Google Shape;42;p39"/>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1pPr>
            <a:lvl2pPr lvl="1"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2pPr>
            <a:lvl3pPr lvl="2"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3pPr>
            <a:lvl4pPr lvl="3"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4pPr>
            <a:lvl5pPr lvl="4"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5pPr>
            <a:lvl6pPr lvl="5"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6pPr>
            <a:lvl7pPr lvl="6"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7pPr>
            <a:lvl8pPr lvl="7"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8pPr>
            <a:lvl9pPr lvl="8"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Obj" type="twoObj">
  <p:cSld name="TWO_OBJECTS">
    <p:spTree>
      <p:nvGrpSpPr>
        <p:cNvPr id="1" name="Shape 43"/>
        <p:cNvGrpSpPr/>
        <p:nvPr/>
      </p:nvGrpSpPr>
      <p:grpSpPr>
        <a:xfrm>
          <a:off x="0" y="0"/>
          <a:ext cx="0" cy="0"/>
          <a:chOff x="0" y="0"/>
          <a:chExt cx="0" cy="0"/>
        </a:xfrm>
      </p:grpSpPr>
      <p:sp>
        <p:nvSpPr>
          <p:cNvPr id="44" name="Google Shape;44;p40"/>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1pPr>
            <a:lvl2pPr lvl="1"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2pPr>
            <a:lvl3pPr lvl="2"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3pPr>
            <a:lvl4pPr lvl="3"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4pPr>
            <a:lvl5pPr lvl="4"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5pPr>
            <a:lvl6pPr lvl="5"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6pPr>
            <a:lvl7pPr lvl="6"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7pPr>
            <a:lvl8pPr lvl="7"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8pPr>
            <a:lvl9pPr lvl="8"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9pPr>
          </a:lstStyle>
          <a:p>
            <a:endParaRPr/>
          </a:p>
        </p:txBody>
      </p:sp>
      <p:sp>
        <p:nvSpPr>
          <p:cNvPr id="45" name="Google Shape;45;p40"/>
          <p:cNvSpPr txBox="1">
            <a:spLocks noGrp="1"/>
          </p:cNvSpPr>
          <p:nvPr>
            <p:ph type="body" idx="1"/>
          </p:nvPr>
        </p:nvSpPr>
        <p:spPr>
          <a:xfrm>
            <a:off x="0" y="1752600"/>
            <a:ext cx="4495800" cy="4876799"/>
          </a:xfrm>
          <a:prstGeom prst="rect">
            <a:avLst/>
          </a:prstGeom>
          <a:noFill/>
          <a:ln>
            <a:noFill/>
          </a:ln>
        </p:spPr>
        <p:txBody>
          <a:bodyPr spcFirstLastPara="1" wrap="square" lIns="91425" tIns="91425" rIns="91425" bIns="91425" anchor="t" anchorCtr="0">
            <a:noAutofit/>
          </a:bodyPr>
          <a:lstStyle>
            <a:lvl1pPr marL="457200" lvl="0" indent="-406400" algn="l">
              <a:lnSpc>
                <a:spcPct val="100000"/>
              </a:lnSpc>
              <a:spcBef>
                <a:spcPts val="640"/>
              </a:spcBef>
              <a:spcAft>
                <a:spcPts val="0"/>
              </a:spcAft>
              <a:buSzPts val="2800"/>
              <a:buChar char="•"/>
              <a:defRPr sz="2800"/>
            </a:lvl1pPr>
            <a:lvl2pPr marL="914400" lvl="1" indent="-381000" algn="l">
              <a:lnSpc>
                <a:spcPct val="100000"/>
              </a:lnSpc>
              <a:spcBef>
                <a:spcPts val="560"/>
              </a:spcBef>
              <a:spcAft>
                <a:spcPts val="0"/>
              </a:spcAft>
              <a:buSzPts val="2400"/>
              <a:buChar char="•"/>
              <a:defRPr sz="2400"/>
            </a:lvl2pPr>
            <a:lvl3pPr marL="1371600" lvl="2" indent="-355600" algn="l">
              <a:lnSpc>
                <a:spcPct val="100000"/>
              </a:lnSpc>
              <a:spcBef>
                <a:spcPts val="480"/>
              </a:spcBef>
              <a:spcAft>
                <a:spcPts val="0"/>
              </a:spcAft>
              <a:buSzPts val="2000"/>
              <a:buChar char="•"/>
              <a:defRPr sz="2000"/>
            </a:lvl3pPr>
            <a:lvl4pPr marL="1828800" lvl="3" indent="-342900" algn="l">
              <a:lnSpc>
                <a:spcPct val="100000"/>
              </a:lnSpc>
              <a:spcBef>
                <a:spcPts val="400"/>
              </a:spcBef>
              <a:spcAft>
                <a:spcPts val="0"/>
              </a:spcAft>
              <a:buSzPts val="1800"/>
              <a:buChar char="•"/>
              <a:defRPr sz="1800"/>
            </a:lvl4pPr>
            <a:lvl5pPr marL="2286000" lvl="4" indent="-342900" algn="l">
              <a:lnSpc>
                <a:spcPct val="100000"/>
              </a:lnSpc>
              <a:spcBef>
                <a:spcPts val="400"/>
              </a:spcBef>
              <a:spcAft>
                <a:spcPts val="0"/>
              </a:spcAft>
              <a:buSzPts val="1800"/>
              <a:buChar char="•"/>
              <a:defRPr sz="1800"/>
            </a:lvl5pPr>
            <a:lvl6pPr marL="2743200" lvl="5" indent="-342900" algn="l">
              <a:lnSpc>
                <a:spcPct val="100000"/>
              </a:lnSpc>
              <a:spcBef>
                <a:spcPts val="400"/>
              </a:spcBef>
              <a:spcAft>
                <a:spcPts val="0"/>
              </a:spcAft>
              <a:buSzPts val="1800"/>
              <a:buChar char="•"/>
              <a:defRPr sz="1800"/>
            </a:lvl6pPr>
            <a:lvl7pPr marL="3200400" lvl="6" indent="-342900" algn="l">
              <a:lnSpc>
                <a:spcPct val="100000"/>
              </a:lnSpc>
              <a:spcBef>
                <a:spcPts val="400"/>
              </a:spcBef>
              <a:spcAft>
                <a:spcPts val="0"/>
              </a:spcAft>
              <a:buSzPts val="1800"/>
              <a:buChar char="•"/>
              <a:defRPr sz="1800"/>
            </a:lvl7pPr>
            <a:lvl8pPr marL="3657600" lvl="7" indent="-342900" algn="l">
              <a:lnSpc>
                <a:spcPct val="100000"/>
              </a:lnSpc>
              <a:spcBef>
                <a:spcPts val="400"/>
              </a:spcBef>
              <a:spcAft>
                <a:spcPts val="0"/>
              </a:spcAft>
              <a:buSzPts val="1800"/>
              <a:buChar char="•"/>
              <a:defRPr sz="1800"/>
            </a:lvl8pPr>
            <a:lvl9pPr marL="4114800" lvl="8" indent="-342900" algn="l">
              <a:lnSpc>
                <a:spcPct val="100000"/>
              </a:lnSpc>
              <a:spcBef>
                <a:spcPts val="400"/>
              </a:spcBef>
              <a:spcAft>
                <a:spcPts val="0"/>
              </a:spcAft>
              <a:buSzPts val="1800"/>
              <a:buChar char="•"/>
              <a:defRPr sz="1800"/>
            </a:lvl9pPr>
          </a:lstStyle>
          <a:p>
            <a:endParaRPr/>
          </a:p>
        </p:txBody>
      </p:sp>
      <p:sp>
        <p:nvSpPr>
          <p:cNvPr id="46" name="Google Shape;46;p40"/>
          <p:cNvSpPr txBox="1">
            <a:spLocks noGrp="1"/>
          </p:cNvSpPr>
          <p:nvPr>
            <p:ph type="body" idx="2"/>
          </p:nvPr>
        </p:nvSpPr>
        <p:spPr>
          <a:xfrm>
            <a:off x="4648200" y="1752600"/>
            <a:ext cx="4495800" cy="4876799"/>
          </a:xfrm>
          <a:prstGeom prst="rect">
            <a:avLst/>
          </a:prstGeom>
          <a:noFill/>
          <a:ln>
            <a:noFill/>
          </a:ln>
        </p:spPr>
        <p:txBody>
          <a:bodyPr spcFirstLastPara="1" wrap="square" lIns="91425" tIns="91425" rIns="91425" bIns="91425" anchor="t" anchorCtr="0">
            <a:noAutofit/>
          </a:bodyPr>
          <a:lstStyle>
            <a:lvl1pPr marL="457200" lvl="0" indent="-406400" algn="l">
              <a:lnSpc>
                <a:spcPct val="100000"/>
              </a:lnSpc>
              <a:spcBef>
                <a:spcPts val="640"/>
              </a:spcBef>
              <a:spcAft>
                <a:spcPts val="0"/>
              </a:spcAft>
              <a:buSzPts val="2800"/>
              <a:buChar char="•"/>
              <a:defRPr sz="2800"/>
            </a:lvl1pPr>
            <a:lvl2pPr marL="914400" lvl="1" indent="-381000" algn="l">
              <a:lnSpc>
                <a:spcPct val="100000"/>
              </a:lnSpc>
              <a:spcBef>
                <a:spcPts val="560"/>
              </a:spcBef>
              <a:spcAft>
                <a:spcPts val="0"/>
              </a:spcAft>
              <a:buSzPts val="2400"/>
              <a:buChar char="•"/>
              <a:defRPr sz="2400"/>
            </a:lvl2pPr>
            <a:lvl3pPr marL="1371600" lvl="2" indent="-355600" algn="l">
              <a:lnSpc>
                <a:spcPct val="100000"/>
              </a:lnSpc>
              <a:spcBef>
                <a:spcPts val="480"/>
              </a:spcBef>
              <a:spcAft>
                <a:spcPts val="0"/>
              </a:spcAft>
              <a:buSzPts val="2000"/>
              <a:buChar char="•"/>
              <a:defRPr sz="2000"/>
            </a:lvl3pPr>
            <a:lvl4pPr marL="1828800" lvl="3" indent="-342900" algn="l">
              <a:lnSpc>
                <a:spcPct val="100000"/>
              </a:lnSpc>
              <a:spcBef>
                <a:spcPts val="400"/>
              </a:spcBef>
              <a:spcAft>
                <a:spcPts val="0"/>
              </a:spcAft>
              <a:buSzPts val="1800"/>
              <a:buChar char="•"/>
              <a:defRPr sz="1800"/>
            </a:lvl4pPr>
            <a:lvl5pPr marL="2286000" lvl="4" indent="-342900" algn="l">
              <a:lnSpc>
                <a:spcPct val="100000"/>
              </a:lnSpc>
              <a:spcBef>
                <a:spcPts val="400"/>
              </a:spcBef>
              <a:spcAft>
                <a:spcPts val="0"/>
              </a:spcAft>
              <a:buSzPts val="1800"/>
              <a:buChar char="•"/>
              <a:defRPr sz="1800"/>
            </a:lvl5pPr>
            <a:lvl6pPr marL="2743200" lvl="5" indent="-342900" algn="l">
              <a:lnSpc>
                <a:spcPct val="100000"/>
              </a:lnSpc>
              <a:spcBef>
                <a:spcPts val="400"/>
              </a:spcBef>
              <a:spcAft>
                <a:spcPts val="0"/>
              </a:spcAft>
              <a:buSzPts val="1800"/>
              <a:buChar char="•"/>
              <a:defRPr sz="1800"/>
            </a:lvl6pPr>
            <a:lvl7pPr marL="3200400" lvl="6" indent="-342900" algn="l">
              <a:lnSpc>
                <a:spcPct val="100000"/>
              </a:lnSpc>
              <a:spcBef>
                <a:spcPts val="400"/>
              </a:spcBef>
              <a:spcAft>
                <a:spcPts val="0"/>
              </a:spcAft>
              <a:buSzPts val="1800"/>
              <a:buChar char="•"/>
              <a:defRPr sz="1800"/>
            </a:lvl7pPr>
            <a:lvl8pPr marL="3657600" lvl="7" indent="-342900" algn="l">
              <a:lnSpc>
                <a:spcPct val="100000"/>
              </a:lnSpc>
              <a:spcBef>
                <a:spcPts val="400"/>
              </a:spcBef>
              <a:spcAft>
                <a:spcPts val="0"/>
              </a:spcAft>
              <a:buSzPts val="1800"/>
              <a:buChar char="•"/>
              <a:defRPr sz="1800"/>
            </a:lvl8pPr>
            <a:lvl9pPr marL="4114800" lvl="8" indent="-342900" algn="l">
              <a:lnSpc>
                <a:spcPct val="100000"/>
              </a:lnSpc>
              <a:spcBef>
                <a:spcPts val="400"/>
              </a:spcBef>
              <a:spcAft>
                <a:spcPts val="0"/>
              </a:spcAft>
              <a:buSzPts val="1800"/>
              <a:buChar char="•"/>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7"/>
        <p:cNvGrpSpPr/>
        <p:nvPr/>
      </p:nvGrpSpPr>
      <p:grpSpPr>
        <a:xfrm>
          <a:off x="0" y="0"/>
          <a:ext cx="0" cy="0"/>
          <a:chOff x="0" y="0"/>
          <a:chExt cx="0" cy="0"/>
        </a:xfrm>
      </p:grpSpPr>
      <p:sp>
        <p:nvSpPr>
          <p:cNvPr id="48" name="Google Shape;48;p41"/>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1pPr>
            <a:lvl2pPr lvl="1" algn="l">
              <a:lnSpc>
                <a:spcPct val="100000"/>
              </a:lnSpc>
              <a:spcBef>
                <a:spcPts val="0"/>
              </a:spcBef>
              <a:spcAft>
                <a:spcPts val="0"/>
              </a:spcAft>
              <a:buClr>
                <a:schemeClr val="dk2"/>
              </a:buClr>
              <a:buSzPts val="4400"/>
              <a:buFont typeface="Trebuchet MS"/>
              <a:buNone/>
              <a:defRPr sz="4400" b="1">
                <a:solidFill>
                  <a:schemeClr val="dk2"/>
                </a:solidFill>
                <a:latin typeface="Trebuchet MS"/>
                <a:ea typeface="Trebuchet MS"/>
                <a:cs typeface="Trebuchet MS"/>
                <a:sym typeface="Trebuchet MS"/>
              </a:defRPr>
            </a:lvl2pPr>
            <a:lvl3pPr lvl="2"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3pPr>
            <a:lvl4pPr lvl="3"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4pPr>
            <a:lvl5pPr lvl="4"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5pPr>
            <a:lvl6pPr lvl="5"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6pPr>
            <a:lvl7pPr lvl="6"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7pPr>
            <a:lvl8pPr lvl="7"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8pPr>
            <a:lvl9pPr lvl="8" algn="l">
              <a:lnSpc>
                <a:spcPct val="100000"/>
              </a:lnSpc>
              <a:spcBef>
                <a:spcPts val="0"/>
              </a:spcBef>
              <a:spcAft>
                <a:spcPts val="0"/>
              </a:spcAft>
              <a:buSzPts val="1400"/>
              <a:buNone/>
              <a:defRPr sz="4400" b="1">
                <a:solidFill>
                  <a:schemeClr val="dk2"/>
                </a:solidFill>
                <a:latin typeface="Trebuchet MS"/>
                <a:ea typeface="Trebuchet MS"/>
                <a:cs typeface="Trebuchet MS"/>
                <a:sym typeface="Trebuchet MS"/>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5">
  <p:cSld name="Title only 5">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1234500" y="922533"/>
            <a:ext cx="6675000" cy="85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109409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p:nvPr/>
        </p:nvSpPr>
        <p:spPr>
          <a:xfrm>
            <a:off x="7772400" y="1295400"/>
            <a:ext cx="1181100" cy="4638675"/>
          </a:xfrm>
          <a:prstGeom prst="rect">
            <a:avLst/>
          </a:prstGeom>
          <a:blipFill rotWithShape="1">
            <a:blip r:embed="rId11">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33"/>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dk2"/>
              </a:buClr>
              <a:buSzPts val="4400"/>
              <a:buFont typeface="Trebuchet MS"/>
              <a:buNone/>
              <a:defRPr sz="44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chemeClr val="dk2"/>
              </a:buClr>
              <a:buSzPts val="4400"/>
              <a:buFont typeface="Trebuchet MS"/>
              <a:buNone/>
              <a:defRPr sz="4400" b="1" i="0" u="none" strike="noStrike" cap="none">
                <a:solidFill>
                  <a:schemeClr val="dk2"/>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4400" b="1" i="0" u="none" strike="noStrike" cap="none">
                <a:solidFill>
                  <a:schemeClr val="dk2"/>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4400" b="1" i="0" u="none" strike="noStrike" cap="none">
                <a:solidFill>
                  <a:schemeClr val="dk2"/>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4400" b="1" i="0" u="none" strike="noStrike" cap="none">
                <a:solidFill>
                  <a:schemeClr val="dk2"/>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4400" b="1" i="0" u="none" strike="noStrike" cap="none">
                <a:solidFill>
                  <a:schemeClr val="dk2"/>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4400" b="1" i="0" u="none" strike="noStrike" cap="none">
                <a:solidFill>
                  <a:schemeClr val="dk2"/>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4400" b="1" i="0" u="none" strike="noStrike" cap="none">
                <a:solidFill>
                  <a:schemeClr val="dk2"/>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4400" b="1" i="0" u="none" strike="noStrike" cap="none">
                <a:solidFill>
                  <a:schemeClr val="dk2"/>
                </a:solidFill>
                <a:latin typeface="Trebuchet MS"/>
                <a:ea typeface="Trebuchet MS"/>
                <a:cs typeface="Trebuchet MS"/>
                <a:sym typeface="Trebuchet MS"/>
              </a:defRPr>
            </a:lvl9pPr>
          </a:lstStyle>
          <a:p>
            <a:endParaRPr/>
          </a:p>
        </p:txBody>
      </p:sp>
      <p:sp>
        <p:nvSpPr>
          <p:cNvPr id="12" name="Google Shape;12;p33"/>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Trebuchet MS"/>
                <a:ea typeface="Trebuchet MS"/>
                <a:cs typeface="Trebuchet MS"/>
                <a:sym typeface="Trebuchet M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Trebuchet MS"/>
                <a:ea typeface="Trebuchet MS"/>
                <a:cs typeface="Trebuchet MS"/>
                <a:sym typeface="Trebuchet MS"/>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9pPr>
          </a:lstStyle>
          <a:p>
            <a:endParaRPr/>
          </a:p>
        </p:txBody>
      </p:sp>
      <p:sp>
        <p:nvSpPr>
          <p:cNvPr id="13" name="Google Shape;13;p33"/>
          <p:cNvSpPr/>
          <p:nvPr/>
        </p:nvSpPr>
        <p:spPr>
          <a:xfrm>
            <a:off x="0" y="6629400"/>
            <a:ext cx="9144000" cy="228600"/>
          </a:xfrm>
          <a:prstGeom prst="rect">
            <a:avLst/>
          </a:prstGeom>
          <a:blipFill rotWithShape="1">
            <a:blip r:embed="rId12">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33"/>
          <p:cNvSpPr/>
          <p:nvPr/>
        </p:nvSpPr>
        <p:spPr>
          <a:xfrm>
            <a:off x="0" y="0"/>
            <a:ext cx="9144000" cy="781050"/>
          </a:xfrm>
          <a:prstGeom prst="rect">
            <a:avLst/>
          </a:prstGeom>
          <a:blipFill rotWithShape="1">
            <a:blip r:embed="rId1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txBox="1">
            <a:spLocks noGrp="1"/>
          </p:cNvSpPr>
          <p:nvPr>
            <p:ph type="title"/>
          </p:nvPr>
        </p:nvSpPr>
        <p:spPr>
          <a:xfrm>
            <a:off x="235131" y="649383"/>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Reminders and Due Dates</a:t>
            </a:r>
            <a:endParaRPr dirty="0"/>
          </a:p>
        </p:txBody>
      </p:sp>
      <p:sp>
        <p:nvSpPr>
          <p:cNvPr id="72" name="Google Shape;72;p2"/>
          <p:cNvSpPr txBox="1">
            <a:spLocks noGrp="1"/>
          </p:cNvSpPr>
          <p:nvPr>
            <p:ph type="body" idx="1"/>
          </p:nvPr>
        </p:nvSpPr>
        <p:spPr>
          <a:xfrm>
            <a:off x="0" y="1459738"/>
            <a:ext cx="8017329" cy="4495799"/>
          </a:xfrm>
          <a:prstGeom prst="rect">
            <a:avLst/>
          </a:prstGeom>
          <a:noFill/>
          <a:ln>
            <a:noFill/>
          </a:ln>
        </p:spPr>
        <p:txBody>
          <a:bodyPr spcFirstLastPara="1" wrap="square" lIns="91425" tIns="91425" rIns="91425" bIns="91425" anchor="t" anchorCtr="0">
            <a:noAutofit/>
          </a:bodyPr>
          <a:lstStyle/>
          <a:p>
            <a:pPr marL="120650" lvl="0" indent="0">
              <a:spcBef>
                <a:spcPts val="0"/>
              </a:spcBef>
              <a:buSzPts val="3200"/>
              <a:buNone/>
            </a:pPr>
            <a:r>
              <a:rPr lang="en-US" b="1" u="sng" dirty="0"/>
              <a:t>Friday, 02/13</a:t>
            </a:r>
          </a:p>
          <a:p>
            <a:pPr marL="690563" lvl="0" indent="-225425">
              <a:spcBef>
                <a:spcPts val="0"/>
              </a:spcBef>
              <a:buSzPts val="3200"/>
            </a:pPr>
            <a:r>
              <a:rPr lang="en-US" dirty="0"/>
              <a:t>SBA Part Two OPENS</a:t>
            </a:r>
          </a:p>
          <a:p>
            <a:pPr marL="120650" lvl="0" indent="0">
              <a:spcBef>
                <a:spcPts val="0"/>
              </a:spcBef>
              <a:buSzPts val="3200"/>
              <a:buNone/>
            </a:pPr>
            <a:r>
              <a:rPr lang="en-US" b="1" u="sng" dirty="0"/>
              <a:t>Sunday, 02/15</a:t>
            </a:r>
          </a:p>
          <a:p>
            <a:pPr marL="642938" lvl="0" indent="-225425">
              <a:spcBef>
                <a:spcPts val="0"/>
              </a:spcBef>
              <a:buSzPts val="3200"/>
            </a:pPr>
            <a:r>
              <a:rPr lang="en-US" dirty="0"/>
              <a:t>Behavior Modification Handout #2: Learning Operant Conditioning and Applying It to Behavior Change</a:t>
            </a:r>
          </a:p>
          <a:p>
            <a:pPr marL="120650" lvl="0" indent="0">
              <a:spcBef>
                <a:spcPts val="0"/>
              </a:spcBef>
              <a:buSzPts val="3200"/>
              <a:buNone/>
            </a:pPr>
            <a:r>
              <a:rPr lang="en-US" b="1" u="sng" dirty="0"/>
              <a:t>Monday, 02/16 due at 11:59pm</a:t>
            </a:r>
          </a:p>
          <a:p>
            <a:pPr marL="642938" lvl="0" indent="-225425">
              <a:spcBef>
                <a:spcPts val="0"/>
              </a:spcBef>
              <a:buSzPts val="3200"/>
            </a:pPr>
            <a:r>
              <a:rPr lang="en-US" dirty="0"/>
              <a:t>5 Chapter Seven Assignments</a:t>
            </a:r>
          </a:p>
          <a:p>
            <a:pPr marL="642938" lvl="0" indent="-225425">
              <a:spcBef>
                <a:spcPts val="0"/>
              </a:spcBef>
              <a:buSzPts val="3200"/>
            </a:pPr>
            <a:r>
              <a:rPr lang="en-US" dirty="0"/>
              <a:t>Five-Minute Meetings Start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77471-4688-89A8-8CB4-361170B87DC4}"/>
              </a:ext>
            </a:extLst>
          </p:cNvPr>
          <p:cNvSpPr>
            <a:spLocks noGrp="1"/>
          </p:cNvSpPr>
          <p:nvPr>
            <p:ph type="title"/>
          </p:nvPr>
        </p:nvSpPr>
        <p:spPr/>
        <p:txBody>
          <a:bodyPr/>
          <a:lstStyle/>
          <a:p>
            <a:pPr algn="ctr"/>
            <a:r>
              <a:rPr lang="en-US"/>
              <a:t>FIVE-MINUTE MEETINGS</a:t>
            </a:r>
          </a:p>
        </p:txBody>
      </p:sp>
      <p:sp>
        <p:nvSpPr>
          <p:cNvPr id="3" name="Text Placeholder 2">
            <a:extLst>
              <a:ext uri="{FF2B5EF4-FFF2-40B4-BE49-F238E27FC236}">
                <a16:creationId xmlns:a16="http://schemas.microsoft.com/office/drawing/2014/main" id="{199C9B17-871D-BBE1-33D9-246F89CD93CB}"/>
              </a:ext>
            </a:extLst>
          </p:cNvPr>
          <p:cNvSpPr>
            <a:spLocks noGrp="1"/>
          </p:cNvSpPr>
          <p:nvPr>
            <p:ph type="body" idx="1"/>
          </p:nvPr>
        </p:nvSpPr>
        <p:spPr>
          <a:xfrm>
            <a:off x="0" y="1569720"/>
            <a:ext cx="8042564" cy="5105400"/>
          </a:xfrm>
        </p:spPr>
        <p:txBody>
          <a:bodyPr>
            <a:normAutofit lnSpcReduction="10000"/>
          </a:bodyPr>
          <a:lstStyle/>
          <a:p>
            <a:r>
              <a:rPr lang="en-US" dirty="0"/>
              <a:t>Starting </a:t>
            </a:r>
            <a:r>
              <a:rPr lang="en-US" u="sng" dirty="0"/>
              <a:t>Monday, February 16</a:t>
            </a:r>
            <a:r>
              <a:rPr lang="en-US" u="sng" baseline="30000" dirty="0"/>
              <a:t>th</a:t>
            </a:r>
            <a:r>
              <a:rPr lang="en-US" dirty="0"/>
              <a:t> until </a:t>
            </a:r>
            <a:r>
              <a:rPr lang="en-US" u="sng" dirty="0"/>
              <a:t>Friday, September 27</a:t>
            </a:r>
            <a:r>
              <a:rPr lang="en-US" u="sng" baseline="30000" dirty="0"/>
              <a:t>th</a:t>
            </a:r>
            <a:r>
              <a:rPr lang="en-US" dirty="0"/>
              <a:t>, you will meet with one of your Small Group Teaching Team members to review your answers to today’s Handout and to discuss your Behavior Modification Assignment Project.</a:t>
            </a:r>
          </a:p>
          <a:p>
            <a:r>
              <a:rPr lang="en-US" dirty="0"/>
              <a:t>If you have not scheduled your Five-Minute Meeting yet, please do so </a:t>
            </a:r>
            <a:r>
              <a:rPr lang="en-US" u="sng" dirty="0"/>
              <a:t>today</a:t>
            </a:r>
            <a:r>
              <a:rPr lang="en-US" dirty="0"/>
              <a:t>. </a:t>
            </a:r>
          </a:p>
          <a:p>
            <a:pPr marL="114300" indent="0" algn="ctr">
              <a:buNone/>
            </a:pPr>
            <a:r>
              <a:rPr lang="en-US" dirty="0">
                <a:sym typeface="Wingdings" pitchFamily="2" charset="2"/>
              </a:rPr>
              <a:t></a:t>
            </a:r>
            <a:endParaRPr lang="en-US" dirty="0"/>
          </a:p>
        </p:txBody>
      </p:sp>
    </p:spTree>
    <p:extLst>
      <p:ext uri="{BB962C8B-B14F-4D97-AF65-F5344CB8AC3E}">
        <p14:creationId xmlns:p14="http://schemas.microsoft.com/office/powerpoint/2010/main" val="4259652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4"/>
          <p:cNvSpPr txBox="1">
            <a:spLocks noGrp="1"/>
          </p:cNvSpPr>
          <p:nvPr>
            <p:ph type="ctrTitle"/>
          </p:nvPr>
        </p:nvSpPr>
        <p:spPr>
          <a:xfrm>
            <a:off x="685800" y="2179507"/>
            <a:ext cx="7772400" cy="2498985"/>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7200"/>
              <a:buFont typeface="Trebuchet MS"/>
              <a:buNone/>
            </a:pPr>
            <a:r>
              <a:rPr lang="en-US" sz="7200"/>
              <a:t>Conditioning</a:t>
            </a:r>
            <a:br>
              <a:rPr lang="en-US" sz="7200"/>
            </a:br>
            <a:r>
              <a:rPr lang="en-US" sz="4000"/>
              <a:t>(It’s not about hair!)</a:t>
            </a:r>
            <a:br>
              <a:rPr lang="en-US" sz="4000"/>
            </a:br>
            <a:r>
              <a:rPr lang="en-US" sz="4000"/>
              <a:t>It’s about </a:t>
            </a:r>
            <a:r>
              <a:rPr lang="en-US" sz="4000" u="sng"/>
              <a:t>behavior</a:t>
            </a:r>
            <a:r>
              <a:rPr lang="en-US" sz="4000"/>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C51111BF-9CC5-9A24-A8CD-A646B9FE911B}"/>
            </a:ext>
          </a:extLst>
        </p:cNvPr>
        <p:cNvGrpSpPr/>
        <p:nvPr/>
      </p:nvGrpSpPr>
      <p:grpSpPr>
        <a:xfrm>
          <a:off x="0" y="0"/>
          <a:ext cx="0" cy="0"/>
          <a:chOff x="0" y="0"/>
          <a:chExt cx="0" cy="0"/>
        </a:xfrm>
      </p:grpSpPr>
      <p:sp>
        <p:nvSpPr>
          <p:cNvPr id="71" name="Google Shape;71;p2">
            <a:extLst>
              <a:ext uri="{FF2B5EF4-FFF2-40B4-BE49-F238E27FC236}">
                <a16:creationId xmlns:a16="http://schemas.microsoft.com/office/drawing/2014/main" id="{05BFC1F5-836D-10F0-B5B9-5AE5DC4B7B93}"/>
              </a:ext>
            </a:extLst>
          </p:cNvPr>
          <p:cNvSpPr txBox="1">
            <a:spLocks noGrp="1"/>
          </p:cNvSpPr>
          <p:nvPr>
            <p:ph type="title"/>
          </p:nvPr>
        </p:nvSpPr>
        <p:spPr>
          <a:xfrm>
            <a:off x="235131" y="649383"/>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Two Types of Conditioning</a:t>
            </a:r>
            <a:endParaRPr dirty="0"/>
          </a:p>
        </p:txBody>
      </p:sp>
      <p:sp>
        <p:nvSpPr>
          <p:cNvPr id="72" name="Google Shape;72;p2">
            <a:extLst>
              <a:ext uri="{FF2B5EF4-FFF2-40B4-BE49-F238E27FC236}">
                <a16:creationId xmlns:a16="http://schemas.microsoft.com/office/drawing/2014/main" id="{33364471-C955-A653-9CE1-A16FBB19BF02}"/>
              </a:ext>
            </a:extLst>
          </p:cNvPr>
          <p:cNvSpPr txBox="1">
            <a:spLocks noGrp="1"/>
          </p:cNvSpPr>
          <p:nvPr>
            <p:ph type="body" idx="1"/>
          </p:nvPr>
        </p:nvSpPr>
        <p:spPr>
          <a:xfrm>
            <a:off x="0" y="1459738"/>
            <a:ext cx="8807116" cy="4495799"/>
          </a:xfrm>
          <a:prstGeom prst="rect">
            <a:avLst/>
          </a:prstGeom>
          <a:noFill/>
          <a:ln>
            <a:noFill/>
          </a:ln>
        </p:spPr>
        <p:txBody>
          <a:bodyPr spcFirstLastPara="1" wrap="square" lIns="91425" tIns="91425" rIns="91425" bIns="91425" anchor="t" anchorCtr="0">
            <a:noAutofit/>
          </a:bodyPr>
          <a:lstStyle/>
          <a:p>
            <a:pPr marL="342900" lvl="0" indent="-222250">
              <a:spcBef>
                <a:spcPts val="0"/>
              </a:spcBef>
              <a:buSzPts val="3200"/>
            </a:pPr>
            <a:r>
              <a:rPr lang="en-US" b="1" dirty="0"/>
              <a:t>Classical Conditioning (</a:t>
            </a:r>
            <a:r>
              <a:rPr lang="en-US" dirty="0"/>
              <a:t>Dr. Mollie covered in lecture.)</a:t>
            </a:r>
            <a:endParaRPr dirty="0"/>
          </a:p>
          <a:p>
            <a:pPr marL="800100" lvl="1" indent="-222250">
              <a:lnSpc>
                <a:spcPct val="150000"/>
              </a:lnSpc>
              <a:spcBef>
                <a:spcPts val="0"/>
              </a:spcBef>
              <a:buSzPts val="3200"/>
            </a:pPr>
            <a:r>
              <a:rPr lang="en-US" dirty="0"/>
              <a:t>Pavlov’s Dogs</a:t>
            </a:r>
          </a:p>
          <a:p>
            <a:pPr marL="800100" lvl="1" indent="-222250" algn="l" rtl="0">
              <a:lnSpc>
                <a:spcPct val="150000"/>
              </a:lnSpc>
              <a:spcBef>
                <a:spcPts val="0"/>
              </a:spcBef>
              <a:spcAft>
                <a:spcPts val="0"/>
              </a:spcAft>
              <a:buSzPts val="3200"/>
              <a:buChar char="•"/>
            </a:pPr>
            <a:r>
              <a:rPr lang="en-US" dirty="0"/>
              <a:t>Little Albert</a:t>
            </a:r>
          </a:p>
          <a:p>
            <a:pPr marL="800100" lvl="1" indent="-222250" algn="l" rtl="0">
              <a:lnSpc>
                <a:spcPct val="150000"/>
              </a:lnSpc>
              <a:spcBef>
                <a:spcPts val="0"/>
              </a:spcBef>
              <a:spcAft>
                <a:spcPts val="0"/>
              </a:spcAft>
              <a:buSzPts val="3200"/>
              <a:buChar char="•"/>
            </a:pPr>
            <a:r>
              <a:rPr lang="en-US" dirty="0"/>
              <a:t>A Neutral Stimulus Becomes Conditioned through Pairing!</a:t>
            </a:r>
            <a:endParaRPr dirty="0"/>
          </a:p>
          <a:p>
            <a:pPr marL="342900" lvl="0" indent="-222250" algn="l" rtl="0">
              <a:lnSpc>
                <a:spcPct val="150000"/>
              </a:lnSpc>
              <a:spcBef>
                <a:spcPts val="640"/>
              </a:spcBef>
              <a:spcAft>
                <a:spcPts val="0"/>
              </a:spcAft>
              <a:buSzPts val="3200"/>
              <a:buChar char="•"/>
            </a:pPr>
            <a:r>
              <a:rPr lang="en-US" b="1" dirty="0"/>
              <a:t>Operant Conditioning</a:t>
            </a:r>
            <a:endParaRPr b="1" dirty="0"/>
          </a:p>
          <a:p>
            <a:pPr marL="800100" lvl="1" indent="-222250" algn="l" rtl="0">
              <a:lnSpc>
                <a:spcPct val="150000"/>
              </a:lnSpc>
              <a:spcBef>
                <a:spcPts val="640"/>
              </a:spcBef>
              <a:spcAft>
                <a:spcPts val="0"/>
              </a:spcAft>
              <a:buSzPts val="3200"/>
              <a:buChar char="•"/>
            </a:pPr>
            <a:r>
              <a:rPr lang="en-US" dirty="0"/>
              <a:t>We will cover this today!</a:t>
            </a:r>
            <a:endParaRPr dirty="0"/>
          </a:p>
        </p:txBody>
      </p:sp>
    </p:spTree>
    <p:extLst>
      <p:ext uri="{BB962C8B-B14F-4D97-AF65-F5344CB8AC3E}">
        <p14:creationId xmlns:p14="http://schemas.microsoft.com/office/powerpoint/2010/main" val="200595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ctrTitle"/>
          </p:nvPr>
        </p:nvSpPr>
        <p:spPr>
          <a:xfrm>
            <a:off x="116006" y="2693987"/>
            <a:ext cx="8911987" cy="1470025"/>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7200"/>
              <a:buFont typeface="Trebuchet MS"/>
              <a:buNone/>
            </a:pPr>
            <a:r>
              <a:rPr lang="en-US" sz="6600"/>
              <a:t>Let’s </a:t>
            </a:r>
            <a:r>
              <a:rPr lang="en-US" sz="6600" u="sng"/>
              <a:t>actively</a:t>
            </a:r>
            <a:r>
              <a:rPr lang="en-US" sz="6600"/>
              <a:t> learn </a:t>
            </a:r>
            <a:br>
              <a:rPr lang="en-US" sz="6600"/>
            </a:br>
            <a:r>
              <a:rPr lang="en-US" sz="6600"/>
              <a:t>Operant Conditioning!</a:t>
            </a:r>
            <a:endParaRPr sz="4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8"/>
          <p:cNvSpPr txBox="1">
            <a:spLocks noGrp="1"/>
          </p:cNvSpPr>
          <p:nvPr>
            <p:ph type="title"/>
          </p:nvPr>
        </p:nvSpPr>
        <p:spPr>
          <a:xfrm>
            <a:off x="0" y="1443803"/>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Operant Conditioning</a:t>
            </a:r>
            <a:br>
              <a:rPr lang="en-US"/>
            </a:br>
            <a:r>
              <a:rPr lang="en-US"/>
              <a:t> Definition of </a:t>
            </a:r>
            <a:r>
              <a:rPr lang="en-US" u="sng"/>
              <a:t>Behavior</a:t>
            </a:r>
            <a:r>
              <a:rPr lang="en-US"/>
              <a:t> </a:t>
            </a:r>
            <a:endParaRPr/>
          </a:p>
        </p:txBody>
      </p:sp>
      <p:sp>
        <p:nvSpPr>
          <p:cNvPr id="85" name="Google Shape;85;p48"/>
          <p:cNvSpPr txBox="1">
            <a:spLocks noGrp="1"/>
          </p:cNvSpPr>
          <p:nvPr>
            <p:ph type="body" idx="1"/>
          </p:nvPr>
        </p:nvSpPr>
        <p:spPr>
          <a:xfrm>
            <a:off x="0" y="3118104"/>
            <a:ext cx="7606145" cy="5101771"/>
          </a:xfrm>
          <a:prstGeom prst="rect">
            <a:avLst/>
          </a:prstGeom>
          <a:noFill/>
          <a:ln>
            <a:noFill/>
          </a:ln>
          <a:effectLst>
            <a:outerShdw blurRad="57150" dist="19050" dir="5400000" algn="bl" rotWithShape="0">
              <a:srgbClr val="000000">
                <a:alpha val="0"/>
              </a:srgbClr>
            </a:outerShdw>
          </a:effectLst>
        </p:spPr>
        <p:txBody>
          <a:bodyPr spcFirstLastPara="1" wrap="square" lIns="91425" tIns="91425" rIns="91425" bIns="91425" anchor="t" anchorCtr="0">
            <a:noAutofit/>
          </a:bodyPr>
          <a:lstStyle/>
          <a:p>
            <a:pPr marL="742950" lvl="1" indent="-177800">
              <a:spcBef>
                <a:spcPts val="0"/>
              </a:spcBef>
              <a:buSzPts val="2800"/>
            </a:pPr>
            <a:r>
              <a:rPr lang="en-US" sz="3200" dirty="0"/>
              <a:t>In Operant Conditioning terms, a </a:t>
            </a:r>
            <a:r>
              <a:rPr lang="en-US" sz="3200" u="sng" dirty="0"/>
              <a:t>behavior</a:t>
            </a:r>
            <a:r>
              <a:rPr lang="en-US" sz="3200" dirty="0"/>
              <a:t> is an action that is defined as “observable by someone else AND measurable.” </a:t>
            </a:r>
            <a:endParaRPr dirty="0"/>
          </a:p>
          <a:p>
            <a:pPr marL="742950" lvl="1" indent="0" algn="l" rtl="0">
              <a:lnSpc>
                <a:spcPct val="100000"/>
              </a:lnSpc>
              <a:spcBef>
                <a:spcPts val="0"/>
              </a:spcBef>
              <a:spcAft>
                <a:spcPts val="0"/>
              </a:spcAft>
              <a:buSzPts val="2800"/>
              <a:buNone/>
            </a:pPr>
            <a:endParaRPr sz="3200" dirty="0"/>
          </a:p>
        </p:txBody>
      </p:sp>
      <p:sp>
        <p:nvSpPr>
          <p:cNvPr id="86" name="Google Shape;86;p48"/>
          <p:cNvSpPr txBox="1"/>
          <p:nvPr/>
        </p:nvSpPr>
        <p:spPr>
          <a:xfrm>
            <a:off x="3886200" y="2971800"/>
            <a:ext cx="9144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5">
                                            <p:txEl>
                                              <p:pRg st="0" end="0"/>
                                            </p:txEl>
                                          </p:spTgt>
                                        </p:tgtEl>
                                        <p:attrNameLst>
                                          <p:attrName>style.visibility</p:attrName>
                                        </p:attrNameLst>
                                      </p:cBhvr>
                                      <p:to>
                                        <p:strVal val="visible"/>
                                      </p:to>
                                    </p:set>
                                    <p:animEffect transition="in" filter="fade">
                                      <p:cBhvr>
                                        <p:cTn id="12" dur="500"/>
                                        <p:tgtEl>
                                          <p:spTgt spid="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91"/>
        <p:cNvGrpSpPr/>
        <p:nvPr/>
      </p:nvGrpSpPr>
      <p:grpSpPr>
        <a:xfrm>
          <a:off x="0" y="0"/>
          <a:ext cx="0" cy="0"/>
          <a:chOff x="0" y="0"/>
          <a:chExt cx="0" cy="0"/>
        </a:xfrm>
      </p:grpSpPr>
      <p:graphicFrame>
        <p:nvGraphicFramePr>
          <p:cNvPr id="92" name="Google Shape;92;p16"/>
          <p:cNvGraphicFramePr/>
          <p:nvPr/>
        </p:nvGraphicFramePr>
        <p:xfrm>
          <a:off x="580570" y="1886337"/>
          <a:ext cx="7068450" cy="4630575"/>
        </p:xfrm>
        <a:graphic>
          <a:graphicData uri="http://schemas.openxmlformats.org/drawingml/2006/table">
            <a:tbl>
              <a:tblPr firstRow="1" bandRow="1">
                <a:noFill/>
                <a:tableStyleId>{8C73320A-F7E7-45D1-BDA6-34F271F3EE2B}</a:tableStyleId>
              </a:tblPr>
              <a:tblGrid>
                <a:gridCol w="2356150">
                  <a:extLst>
                    <a:ext uri="{9D8B030D-6E8A-4147-A177-3AD203B41FA5}">
                      <a16:colId xmlns:a16="http://schemas.microsoft.com/office/drawing/2014/main" val="20000"/>
                    </a:ext>
                  </a:extLst>
                </a:gridCol>
                <a:gridCol w="2356150">
                  <a:extLst>
                    <a:ext uri="{9D8B030D-6E8A-4147-A177-3AD203B41FA5}">
                      <a16:colId xmlns:a16="http://schemas.microsoft.com/office/drawing/2014/main" val="20001"/>
                    </a:ext>
                  </a:extLst>
                </a:gridCol>
                <a:gridCol w="2356150">
                  <a:extLst>
                    <a:ext uri="{9D8B030D-6E8A-4147-A177-3AD203B41FA5}">
                      <a16:colId xmlns:a16="http://schemas.microsoft.com/office/drawing/2014/main" val="20002"/>
                    </a:ext>
                  </a:extLst>
                </a:gridCol>
              </a:tblGrid>
              <a:tr h="1473325">
                <a:tc>
                  <a:txBody>
                    <a:bodyPr/>
                    <a:lstStyle/>
                    <a:p>
                      <a:pPr marL="0" marR="0" lvl="0" indent="0" algn="ctr" rtl="0">
                        <a:lnSpc>
                          <a:spcPct val="100000"/>
                        </a:lnSpc>
                        <a:spcBef>
                          <a:spcPts val="0"/>
                        </a:spcBef>
                        <a:spcAft>
                          <a:spcPts val="0"/>
                        </a:spcAft>
                        <a:buClr>
                          <a:srgbClr val="000000"/>
                        </a:buClr>
                        <a:buSzPts val="2400"/>
                        <a:buFont typeface="Arial"/>
                        <a:buNone/>
                      </a:pPr>
                      <a:endParaRPr sz="2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70C0"/>
                          </a:solidFill>
                        </a:rPr>
                        <a:t>Add or Give </a:t>
                      </a:r>
                      <a:r>
                        <a:rPr lang="en-US" sz="2400" u="none" strike="noStrike" cap="none"/>
                        <a:t>Something</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Subtract or Take Away </a:t>
                      </a:r>
                      <a:r>
                        <a:rPr lang="en-US" sz="2400" u="none" strike="noStrike" cap="none"/>
                        <a:t>Something</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5786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t>This behavior happens </a:t>
                      </a:r>
                      <a:r>
                        <a:rPr lang="en-US" sz="2400" b="1" u="none" strike="noStrike" cap="none" dirty="0">
                          <a:solidFill>
                            <a:srgbClr val="00B050"/>
                          </a:solidFill>
                        </a:rPr>
                        <a:t>more</a:t>
                      </a:r>
                      <a:r>
                        <a:rPr lang="en-US" sz="2400" u="none" strike="noStrike" cap="none" dirty="0"/>
                        <a:t> often.</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t>+ R</a:t>
                      </a:r>
                      <a:endParaRPr sz="1400" u="none" strike="noStrike" cap="none"/>
                    </a:p>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70C0"/>
                          </a:solidFill>
                        </a:rPr>
                        <a:t>Positive</a:t>
                      </a:r>
                      <a:r>
                        <a:rPr lang="en-US" sz="2400" u="none" strike="noStrike" cap="none"/>
                        <a:t> </a:t>
                      </a:r>
                      <a:r>
                        <a:rPr lang="en-US" sz="2400" b="1" u="none" strike="noStrike" cap="none">
                          <a:solidFill>
                            <a:srgbClr val="00B050"/>
                          </a:solidFill>
                        </a:rPr>
                        <a:t>Reinforcement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t>- R</a:t>
                      </a:r>
                      <a:endParaRPr sz="1400" u="none" strike="noStrike" cap="none"/>
                    </a:p>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Negative</a:t>
                      </a:r>
                      <a:r>
                        <a:rPr lang="en-US" sz="2400" u="none" strike="noStrike" cap="none"/>
                        <a:t> </a:t>
                      </a:r>
                      <a:r>
                        <a:rPr lang="en-US" sz="2400" b="1" u="none" strike="noStrike" cap="none">
                          <a:solidFill>
                            <a:srgbClr val="00B050"/>
                          </a:solidFill>
                        </a:rPr>
                        <a:t>Reinforcement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5786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t>This behavior happens </a:t>
                      </a:r>
                      <a:r>
                        <a:rPr lang="en-US" sz="2400" b="1" u="none" strike="noStrike" cap="none" dirty="0">
                          <a:solidFill>
                            <a:srgbClr val="FF0000"/>
                          </a:solidFill>
                        </a:rPr>
                        <a:t>less</a:t>
                      </a:r>
                      <a:r>
                        <a:rPr lang="en-US" sz="2400" u="none" strike="noStrike" cap="none" dirty="0"/>
                        <a:t> often. </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t>+ P</a:t>
                      </a:r>
                      <a:endParaRPr sz="1400" u="none" strike="noStrike" cap="none"/>
                    </a:p>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70C0"/>
                          </a:solidFill>
                        </a:rPr>
                        <a:t>Positive </a:t>
                      </a:r>
                      <a:r>
                        <a:rPr lang="en-US" sz="2400" b="1" u="none" strike="noStrike" cap="none">
                          <a:solidFill>
                            <a:srgbClr val="FF0000"/>
                          </a:solidFill>
                        </a:rPr>
                        <a:t>Punishment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t>- P</a:t>
                      </a:r>
                      <a:endParaRPr sz="1400" u="none" strike="noStrike" cap="none" dirty="0"/>
                    </a:p>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solidFill>
                            <a:srgbClr val="7030A0"/>
                          </a:solidFill>
                        </a:rPr>
                        <a:t>Negative</a:t>
                      </a:r>
                      <a:r>
                        <a:rPr lang="en-US" sz="2400" u="none" strike="noStrike" cap="none" dirty="0"/>
                        <a:t> </a:t>
                      </a:r>
                      <a:r>
                        <a:rPr lang="en-US" sz="2400" b="1" u="none" strike="noStrike" cap="none" dirty="0">
                          <a:solidFill>
                            <a:srgbClr val="FF0000"/>
                          </a:solidFill>
                        </a:rPr>
                        <a:t>Punishment</a:t>
                      </a: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93" name="Google Shape;93;p16"/>
          <p:cNvSpPr txBox="1"/>
          <p:nvPr/>
        </p:nvSpPr>
        <p:spPr>
          <a:xfrm>
            <a:off x="370114" y="693525"/>
            <a:ext cx="8193316"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000000"/>
                </a:solidFill>
                <a:latin typeface="Arial"/>
                <a:ea typeface="Arial"/>
                <a:cs typeface="Arial"/>
                <a:sym typeface="Arial"/>
              </a:rPr>
              <a:t>How do you Change a Behavior with Operant Conditioning?</a:t>
            </a:r>
            <a:endParaRPr sz="36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0847-92ED-7C14-5663-AAB05471294C}"/>
              </a:ext>
            </a:extLst>
          </p:cNvPr>
          <p:cNvSpPr>
            <a:spLocks noGrp="1"/>
          </p:cNvSpPr>
          <p:nvPr>
            <p:ph type="ctrTitle"/>
          </p:nvPr>
        </p:nvSpPr>
        <p:spPr>
          <a:xfrm>
            <a:off x="92675" y="846438"/>
            <a:ext cx="8958649" cy="1470025"/>
          </a:xfrm>
        </p:spPr>
        <p:txBody>
          <a:bodyPr/>
          <a:lstStyle/>
          <a:p>
            <a:pPr algn="ctr"/>
            <a:r>
              <a:rPr lang="en-US" sz="4200" dirty="0"/>
              <a:t>How Do You Change a Behavior </a:t>
            </a:r>
            <a:br>
              <a:rPr lang="en-US" sz="4200" dirty="0"/>
            </a:br>
            <a:r>
              <a:rPr lang="en-US" sz="4200" dirty="0"/>
              <a:t>with Operant Conditioning?</a:t>
            </a:r>
          </a:p>
        </p:txBody>
      </p:sp>
      <p:sp>
        <p:nvSpPr>
          <p:cNvPr id="4" name="Google Shape;85;p48">
            <a:extLst>
              <a:ext uri="{FF2B5EF4-FFF2-40B4-BE49-F238E27FC236}">
                <a16:creationId xmlns:a16="http://schemas.microsoft.com/office/drawing/2014/main" id="{162D8253-2119-64F0-A789-859669B7CFEF}"/>
              </a:ext>
            </a:extLst>
          </p:cNvPr>
          <p:cNvSpPr txBox="1">
            <a:spLocks/>
          </p:cNvSpPr>
          <p:nvPr/>
        </p:nvSpPr>
        <p:spPr>
          <a:xfrm>
            <a:off x="-172995" y="2316463"/>
            <a:ext cx="8485722" cy="5101771"/>
          </a:xfrm>
          <a:prstGeom prst="rect">
            <a:avLst/>
          </a:prstGeom>
          <a:noFill/>
          <a:ln>
            <a:noFill/>
          </a:ln>
          <a:effectLst>
            <a:outerShdw blurRad="57150" dist="19050" dir="5400000" algn="bl" rotWithShape="0">
              <a:srgbClr val="000000">
                <a:alpha val="0"/>
              </a:srgb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chemeClr val="dk1"/>
              </a:buClr>
              <a:buSzPts val="3200"/>
              <a:buFont typeface="Arial"/>
              <a:buNone/>
              <a:defRPr sz="3200" b="0" i="0" u="none" strike="noStrike" cap="none">
                <a:solidFill>
                  <a:srgbClr val="888888"/>
                </a:solidFill>
                <a:latin typeface="Trebuchet MS"/>
                <a:ea typeface="Trebuchet MS"/>
                <a:cs typeface="Trebuchet MS"/>
                <a:sym typeface="Trebuchet MS"/>
              </a:defRPr>
            </a:lvl1pPr>
            <a:lvl2pPr marL="914400" marR="0" lvl="1" indent="-406400" algn="ctr" rtl="0">
              <a:lnSpc>
                <a:spcPct val="100000"/>
              </a:lnSpc>
              <a:spcBef>
                <a:spcPts val="560"/>
              </a:spcBef>
              <a:spcAft>
                <a:spcPts val="0"/>
              </a:spcAft>
              <a:buClr>
                <a:schemeClr val="dk1"/>
              </a:buClr>
              <a:buSzPts val="2800"/>
              <a:buFont typeface="Arial"/>
              <a:buNone/>
              <a:defRPr sz="2800" b="0" i="0" u="none" strike="noStrike" cap="none">
                <a:solidFill>
                  <a:srgbClr val="888888"/>
                </a:solidFill>
                <a:latin typeface="Trebuchet MS"/>
                <a:ea typeface="Trebuchet MS"/>
                <a:cs typeface="Trebuchet MS"/>
                <a:sym typeface="Trebuchet MS"/>
              </a:defRPr>
            </a:lvl2pPr>
            <a:lvl3pPr marL="1371600" marR="0" lvl="2" indent="-381000" algn="ctr" rtl="0">
              <a:lnSpc>
                <a:spcPct val="100000"/>
              </a:lnSpc>
              <a:spcBef>
                <a:spcPts val="480"/>
              </a:spcBef>
              <a:spcAft>
                <a:spcPts val="0"/>
              </a:spcAft>
              <a:buClr>
                <a:schemeClr val="dk1"/>
              </a:buClr>
              <a:buSzPts val="2400"/>
              <a:buFont typeface="Arial"/>
              <a:buNone/>
              <a:defRPr sz="2400" b="0" i="0" u="none" strike="noStrike" cap="none">
                <a:solidFill>
                  <a:srgbClr val="888888"/>
                </a:solidFill>
                <a:latin typeface="Trebuchet MS"/>
                <a:ea typeface="Trebuchet MS"/>
                <a:cs typeface="Trebuchet MS"/>
                <a:sym typeface="Trebuchet MS"/>
              </a:defRPr>
            </a:lvl3pPr>
            <a:lvl4pPr marL="1828800" marR="0" lvl="3"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4pPr>
            <a:lvl5pPr marL="2286000" marR="0" lvl="4"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5pPr>
            <a:lvl6pPr marL="2743200" marR="0" lvl="5"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6pPr>
            <a:lvl7pPr marL="3200400" marR="0" lvl="6"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7pPr>
            <a:lvl8pPr marL="3657600" marR="0" lvl="7"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8pPr>
            <a:lvl9pPr marL="4114800" marR="0" lvl="8"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9pPr>
          </a:lstStyle>
          <a:p>
            <a:pPr marL="742950" lvl="1" indent="-177800" algn="l">
              <a:spcBef>
                <a:spcPts val="0"/>
              </a:spcBef>
              <a:buFont typeface="Arial"/>
              <a:buChar char="•"/>
            </a:pPr>
            <a:r>
              <a:rPr lang="en-US" sz="3600" dirty="0">
                <a:solidFill>
                  <a:schemeClr val="tx1"/>
                </a:solidFill>
              </a:rPr>
              <a:t>First, ask yourself: </a:t>
            </a:r>
          </a:p>
          <a:p>
            <a:pPr marL="1200150" lvl="2" indent="-177800" algn="l">
              <a:spcBef>
                <a:spcPts val="0"/>
              </a:spcBef>
              <a:buFont typeface="Arial"/>
              <a:buChar char="•"/>
            </a:pPr>
            <a:r>
              <a:rPr lang="en-US" sz="3600" dirty="0">
                <a:solidFill>
                  <a:schemeClr val="tx1"/>
                </a:solidFill>
              </a:rPr>
              <a:t>What is the behavior that I am trying to change?</a:t>
            </a:r>
          </a:p>
          <a:p>
            <a:pPr marL="1022350" lvl="2" indent="0" algn="l">
              <a:spcBef>
                <a:spcPts val="0"/>
              </a:spcBef>
            </a:pPr>
            <a:endParaRPr lang="en-US" sz="3600" dirty="0">
              <a:solidFill>
                <a:schemeClr val="tx1"/>
              </a:solidFill>
            </a:endParaRPr>
          </a:p>
          <a:p>
            <a:pPr marL="742950" lvl="1" indent="-177800" algn="l">
              <a:spcBef>
                <a:spcPts val="0"/>
              </a:spcBef>
              <a:buFont typeface="Arial"/>
              <a:buChar char="•"/>
            </a:pPr>
            <a:r>
              <a:rPr lang="en-US" sz="3600" dirty="0">
                <a:solidFill>
                  <a:schemeClr val="tx1"/>
                </a:solidFill>
              </a:rPr>
              <a:t>Then, figure out what types of operant conditioning you want to use to try to change the behavior. </a:t>
            </a:r>
            <a:r>
              <a:rPr lang="en-US" sz="3600" dirty="0">
                <a:solidFill>
                  <a:schemeClr val="tx1"/>
                </a:solidFill>
                <a:sym typeface="Wingdings" pitchFamily="2" charset="2"/>
              </a:rPr>
              <a:t></a:t>
            </a:r>
            <a:endParaRPr lang="en-US" sz="3600" dirty="0">
              <a:solidFill>
                <a:schemeClr val="tx1"/>
              </a:solidFill>
            </a:endParaRPr>
          </a:p>
          <a:p>
            <a:pPr marL="742950" lvl="1" indent="-177800" algn="l">
              <a:spcBef>
                <a:spcPts val="0"/>
              </a:spcBef>
              <a:buFont typeface="Arial"/>
              <a:buChar char="•"/>
            </a:pPr>
            <a:endParaRPr lang="en-US" sz="4000" dirty="0">
              <a:solidFill>
                <a:schemeClr val="tx1"/>
              </a:solidFill>
            </a:endParaRPr>
          </a:p>
          <a:p>
            <a:pPr marL="742950" lvl="1" indent="0" algn="l">
              <a:spcBef>
                <a:spcPts val="0"/>
              </a:spcBef>
            </a:pPr>
            <a:endParaRPr lang="en-US" sz="3200" dirty="0"/>
          </a:p>
        </p:txBody>
      </p:sp>
    </p:spTree>
    <p:extLst>
      <p:ext uri="{BB962C8B-B14F-4D97-AF65-F5344CB8AC3E}">
        <p14:creationId xmlns:p14="http://schemas.microsoft.com/office/powerpoint/2010/main" val="340865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CE131-0A82-E3D1-800A-EE564F1DAD40}"/>
            </a:ext>
          </a:extLst>
        </p:cNvPr>
        <p:cNvGrpSpPr/>
        <p:nvPr/>
      </p:nvGrpSpPr>
      <p:grpSpPr>
        <a:xfrm>
          <a:off x="0" y="0"/>
          <a:ext cx="0" cy="0"/>
          <a:chOff x="0" y="0"/>
          <a:chExt cx="0" cy="0"/>
        </a:xfrm>
      </p:grpSpPr>
      <p:pic>
        <p:nvPicPr>
          <p:cNvPr id="5" name="Picture 4" descr="A diagram of a behavior condition&#10;&#10;AI-generated content may be incorrect.">
            <a:extLst>
              <a:ext uri="{FF2B5EF4-FFF2-40B4-BE49-F238E27FC236}">
                <a16:creationId xmlns:a16="http://schemas.microsoft.com/office/drawing/2014/main" id="{BE606495-FAC5-18EF-9F8B-AA13A159F4B9}"/>
              </a:ext>
            </a:extLst>
          </p:cNvPr>
          <p:cNvPicPr>
            <a:picLocks noChangeAspect="1"/>
          </p:cNvPicPr>
          <p:nvPr/>
        </p:nvPicPr>
        <p:blipFill>
          <a:blip r:embed="rId3"/>
          <a:stretch>
            <a:fillRect/>
          </a:stretch>
        </p:blipFill>
        <p:spPr>
          <a:xfrm>
            <a:off x="927981" y="815546"/>
            <a:ext cx="7288037" cy="5720895"/>
          </a:xfrm>
          <a:prstGeom prst="rect">
            <a:avLst/>
          </a:prstGeom>
        </p:spPr>
      </p:pic>
    </p:spTree>
    <p:extLst>
      <p:ext uri="{BB962C8B-B14F-4D97-AF65-F5344CB8AC3E}">
        <p14:creationId xmlns:p14="http://schemas.microsoft.com/office/powerpoint/2010/main" val="913062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Operant Conditioning Definition</a:t>
            </a:r>
            <a:endParaRPr/>
          </a:p>
        </p:txBody>
      </p:sp>
      <p:sp>
        <p:nvSpPr>
          <p:cNvPr id="100" name="Google Shape;100;p4"/>
          <p:cNvSpPr txBox="1">
            <a:spLocks noGrp="1"/>
          </p:cNvSpPr>
          <p:nvPr>
            <p:ph type="body" idx="1"/>
          </p:nvPr>
        </p:nvSpPr>
        <p:spPr>
          <a:xfrm>
            <a:off x="-390475" y="1567543"/>
            <a:ext cx="8982932" cy="5101771"/>
          </a:xfrm>
          <a:prstGeom prst="rect">
            <a:avLst/>
          </a:prstGeom>
          <a:noFill/>
          <a:ln>
            <a:noFill/>
          </a:ln>
          <a:effectLst>
            <a:outerShdw blurRad="57150" dist="19050" dir="5400000" algn="bl" rotWithShape="0">
              <a:srgbClr val="000000">
                <a:alpha val="0"/>
              </a:srgbClr>
            </a:outerShdw>
          </a:effectLst>
        </p:spPr>
        <p:txBody>
          <a:bodyPr spcFirstLastPara="1" wrap="square" lIns="91425" tIns="91425" rIns="91425" bIns="91425" anchor="t" anchorCtr="0">
            <a:noAutofit/>
          </a:bodyPr>
          <a:lstStyle/>
          <a:p>
            <a:pPr marL="742950" lvl="1" indent="-177800" algn="l" rtl="0">
              <a:lnSpc>
                <a:spcPct val="100000"/>
              </a:lnSpc>
              <a:spcBef>
                <a:spcPts val="0"/>
              </a:spcBef>
              <a:spcAft>
                <a:spcPts val="0"/>
              </a:spcAft>
              <a:buSzPts val="2800"/>
              <a:buChar char="•"/>
            </a:pPr>
            <a:r>
              <a:rPr lang="en-US" sz="3200" dirty="0"/>
              <a:t>Type of learning in which behavior is:</a:t>
            </a:r>
            <a:endParaRPr sz="3200" dirty="0"/>
          </a:p>
          <a:p>
            <a:pPr marL="1143000" lvl="2" indent="-152400" algn="l" rtl="0">
              <a:lnSpc>
                <a:spcPct val="100000"/>
              </a:lnSpc>
              <a:spcBef>
                <a:spcPts val="1080"/>
              </a:spcBef>
              <a:spcAft>
                <a:spcPts val="0"/>
              </a:spcAft>
              <a:buSzPts val="2400"/>
              <a:buChar char="•"/>
            </a:pPr>
            <a:r>
              <a:rPr lang="en-US" sz="2800" i="1" dirty="0">
                <a:solidFill>
                  <a:schemeClr val="dk2"/>
                </a:solidFill>
              </a:rPr>
              <a:t>Strengthened</a:t>
            </a:r>
            <a:r>
              <a:rPr lang="en-US" sz="2800" dirty="0">
                <a:solidFill>
                  <a:schemeClr val="dk2"/>
                </a:solidFill>
              </a:rPr>
              <a:t> if followed by a </a:t>
            </a:r>
            <a:r>
              <a:rPr lang="en-US" sz="2800" i="1" dirty="0">
                <a:solidFill>
                  <a:srgbClr val="00B050"/>
                </a:solidFill>
              </a:rPr>
              <a:t>reinforcer</a:t>
            </a:r>
            <a:endParaRPr sz="2800" dirty="0"/>
          </a:p>
          <a:p>
            <a:pPr marL="1143000" lvl="2" indent="-152400" algn="l" rtl="0">
              <a:lnSpc>
                <a:spcPct val="100000"/>
              </a:lnSpc>
              <a:spcBef>
                <a:spcPts val="1080"/>
              </a:spcBef>
              <a:spcAft>
                <a:spcPts val="0"/>
              </a:spcAft>
              <a:buSzPts val="2400"/>
              <a:buChar char="•"/>
            </a:pPr>
            <a:r>
              <a:rPr lang="en-US" sz="2800" i="1" dirty="0">
                <a:solidFill>
                  <a:schemeClr val="dk2"/>
                </a:solidFill>
              </a:rPr>
              <a:t>Diminished</a:t>
            </a:r>
            <a:r>
              <a:rPr lang="en-US" sz="2800" dirty="0">
                <a:solidFill>
                  <a:schemeClr val="dk2"/>
                </a:solidFill>
              </a:rPr>
              <a:t> if followed by a </a:t>
            </a:r>
            <a:r>
              <a:rPr lang="en-US" sz="2800" i="1" dirty="0">
                <a:solidFill>
                  <a:srgbClr val="FF0000"/>
                </a:solidFill>
              </a:rPr>
              <a:t>punisher</a:t>
            </a:r>
            <a:r>
              <a:rPr lang="en-US" sz="2800" dirty="0"/>
              <a:t>.</a:t>
            </a:r>
            <a:endParaRPr sz="2800" dirty="0"/>
          </a:p>
          <a:p>
            <a:pPr marL="742950" lvl="1" indent="-177800" algn="l" rtl="0">
              <a:lnSpc>
                <a:spcPct val="100000"/>
              </a:lnSpc>
              <a:spcBef>
                <a:spcPts val="1160"/>
              </a:spcBef>
              <a:spcAft>
                <a:spcPts val="0"/>
              </a:spcAft>
              <a:buSzPts val="2800"/>
              <a:buChar char="•"/>
            </a:pPr>
            <a:r>
              <a:rPr lang="en-US" sz="3200" dirty="0"/>
              <a:t>Actions followed by </a:t>
            </a:r>
            <a:r>
              <a:rPr lang="en-US" sz="3200" dirty="0">
                <a:solidFill>
                  <a:srgbClr val="00B050"/>
                </a:solidFill>
              </a:rPr>
              <a:t>reinforcers</a:t>
            </a:r>
            <a:r>
              <a:rPr lang="en-US" sz="3200" dirty="0">
                <a:solidFill>
                  <a:schemeClr val="dk2"/>
                </a:solidFill>
              </a:rPr>
              <a:t> increase</a:t>
            </a:r>
            <a:r>
              <a:rPr lang="en-US" sz="3200" dirty="0"/>
              <a:t>. </a:t>
            </a:r>
            <a:endParaRPr sz="3200" dirty="0"/>
          </a:p>
          <a:p>
            <a:pPr marL="742950" lvl="1" indent="-177800" algn="l" rtl="0">
              <a:lnSpc>
                <a:spcPct val="100000"/>
              </a:lnSpc>
              <a:spcBef>
                <a:spcPts val="1160"/>
              </a:spcBef>
              <a:spcAft>
                <a:spcPts val="0"/>
              </a:spcAft>
              <a:buSzPts val="2800"/>
              <a:buChar char="•"/>
            </a:pPr>
            <a:r>
              <a:rPr lang="en-US" sz="3200" dirty="0"/>
              <a:t>Actions followed by </a:t>
            </a:r>
            <a:r>
              <a:rPr lang="en-US" sz="3200" dirty="0">
                <a:solidFill>
                  <a:srgbClr val="FF0000"/>
                </a:solidFill>
              </a:rPr>
              <a:t>punishers</a:t>
            </a:r>
            <a:r>
              <a:rPr lang="en-US" sz="3200" dirty="0">
                <a:solidFill>
                  <a:schemeClr val="dk2"/>
                </a:solidFill>
              </a:rPr>
              <a:t> decrease</a:t>
            </a:r>
            <a:r>
              <a:rPr lang="en-US" sz="3200" dirty="0"/>
              <a:t>.</a:t>
            </a:r>
            <a:endParaRPr sz="3200" dirty="0"/>
          </a:p>
          <a:p>
            <a:pPr marL="742950" lvl="1" indent="-177800" algn="l" rtl="0">
              <a:lnSpc>
                <a:spcPct val="100000"/>
              </a:lnSpc>
              <a:spcBef>
                <a:spcPts val="1160"/>
              </a:spcBef>
              <a:spcAft>
                <a:spcPts val="600"/>
              </a:spcAft>
              <a:buSzPts val="2800"/>
              <a:buChar char="•"/>
            </a:pPr>
            <a:r>
              <a:rPr lang="en-US" sz="3200" i="1" dirty="0"/>
              <a:t>Operant behavior </a:t>
            </a:r>
            <a:r>
              <a:rPr lang="en-US" sz="3200" dirty="0"/>
              <a:t>is behavior that </a:t>
            </a:r>
            <a:r>
              <a:rPr lang="en-US" sz="3200" i="1" dirty="0"/>
              <a:t>operates</a:t>
            </a:r>
            <a:r>
              <a:rPr lang="en-US" sz="3200" dirty="0"/>
              <a:t> on the environment to </a:t>
            </a:r>
            <a:r>
              <a:rPr lang="en-US" sz="3200" i="1" dirty="0"/>
              <a:t>produce</a:t>
            </a:r>
            <a:r>
              <a:rPr lang="en-US" sz="3200" dirty="0"/>
              <a:t> rewarding or punishing stimuli. </a:t>
            </a:r>
            <a:endParaRPr sz="3200" dirty="0"/>
          </a:p>
        </p:txBody>
      </p:sp>
      <p:sp>
        <p:nvSpPr>
          <p:cNvPr id="101" name="Google Shape;101;p4"/>
          <p:cNvSpPr/>
          <p:nvPr/>
        </p:nvSpPr>
        <p:spPr>
          <a:xfrm>
            <a:off x="6881259" y="2834093"/>
            <a:ext cx="374100" cy="415500"/>
          </a:xfrm>
          <a:prstGeom prst="downArrow">
            <a:avLst>
              <a:gd name="adj1" fmla="val 50000"/>
              <a:gd name="adj2" fmla="val 50000"/>
            </a:avLst>
          </a:prstGeom>
          <a:solidFill>
            <a:schemeClr val="accent1"/>
          </a:solidFill>
          <a:ln w="25400" cap="flat" cmpd="sng">
            <a:solidFill>
              <a:srgbClr val="677E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2" name="Google Shape;102;p4"/>
          <p:cNvSpPr/>
          <p:nvPr/>
        </p:nvSpPr>
        <p:spPr>
          <a:xfrm rot="10800000">
            <a:off x="7437745" y="2199846"/>
            <a:ext cx="374100" cy="415500"/>
          </a:xfrm>
          <a:prstGeom prst="downArrow">
            <a:avLst>
              <a:gd name="adj1" fmla="val 50000"/>
              <a:gd name="adj2" fmla="val 50000"/>
            </a:avLst>
          </a:prstGeom>
          <a:solidFill>
            <a:schemeClr val="accent1"/>
          </a:solidFill>
          <a:ln w="25400" cap="flat" cmpd="sng">
            <a:solidFill>
              <a:srgbClr val="677EAD"/>
            </a:solidFill>
            <a:prstDash val="solid"/>
            <a:round/>
            <a:headEnd type="none" w="sm" len="sm"/>
            <a:tailEnd type="none" w="sm" len="sm"/>
          </a:ln>
          <a:effectLst>
            <a:outerShdw blurRad="57150" dist="19050" dir="5400000" algn="bl" rotWithShape="0">
              <a:srgbClr val="000000">
                <a:alpha val="4901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00" b="0" i="0" u="none" strike="noStrike" cap="none">
              <a:solidFill>
                <a:schemeClr val="lt1"/>
              </a:solidFill>
              <a:latin typeface="Arial"/>
              <a:ea typeface="Arial"/>
              <a:cs typeface="Arial"/>
              <a:sym typeface="Arial"/>
            </a:endParaRPr>
          </a:p>
        </p:txBody>
      </p:sp>
      <p:sp>
        <p:nvSpPr>
          <p:cNvPr id="103" name="Google Shape;103;p4"/>
          <p:cNvSpPr txBox="1"/>
          <p:nvPr/>
        </p:nvSpPr>
        <p:spPr>
          <a:xfrm>
            <a:off x="3886200" y="2971800"/>
            <a:ext cx="9144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4"/>
          <p:cNvSpPr txBox="1"/>
          <p:nvPr/>
        </p:nvSpPr>
        <p:spPr>
          <a:xfrm>
            <a:off x="7920758" y="2267702"/>
            <a:ext cx="108585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sng" strike="noStrike" cap="none" dirty="0">
                <a:solidFill>
                  <a:srgbClr val="000000"/>
                </a:solidFill>
                <a:latin typeface="Trebuchet MS"/>
                <a:ea typeface="Trebuchet MS"/>
                <a:cs typeface="Trebuchet MS"/>
                <a:sym typeface="Trebuchet MS"/>
              </a:rPr>
              <a:t>OR</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0" end="0"/>
                                            </p:txEl>
                                          </p:spTgt>
                                        </p:tgtEl>
                                        <p:attrNameLst>
                                          <p:attrName>style.visibility</p:attrName>
                                        </p:attrNameLst>
                                      </p:cBhvr>
                                      <p:to>
                                        <p:strVal val="visible"/>
                                      </p:to>
                                    </p:set>
                                    <p:animEffect transition="in" filter="fade">
                                      <p:cBhvr>
                                        <p:cTn id="12" dur="500"/>
                                        <p:tgtEl>
                                          <p:spTgt spid="10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1" end="1"/>
                                            </p:txEl>
                                          </p:spTgt>
                                        </p:tgtEl>
                                        <p:attrNameLst>
                                          <p:attrName>style.visibility</p:attrName>
                                        </p:attrNameLst>
                                      </p:cBhvr>
                                      <p:to>
                                        <p:strVal val="visible"/>
                                      </p:to>
                                    </p:set>
                                    <p:animEffect transition="in" filter="fade">
                                      <p:cBhvr>
                                        <p:cTn id="17" dur="500"/>
                                        <p:tgtEl>
                                          <p:spTgt spid="100">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fade">
                                      <p:cBhvr>
                                        <p:cTn id="20" dur="500"/>
                                        <p:tgtEl>
                                          <p:spTgt spid="10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0">
                                            <p:txEl>
                                              <p:pRg st="2" end="2"/>
                                            </p:txEl>
                                          </p:spTgt>
                                        </p:tgtEl>
                                        <p:attrNameLst>
                                          <p:attrName>style.visibility</p:attrName>
                                        </p:attrNameLst>
                                      </p:cBhvr>
                                      <p:to>
                                        <p:strVal val="visible"/>
                                      </p:to>
                                    </p:set>
                                    <p:animEffect transition="in" filter="fade">
                                      <p:cBhvr>
                                        <p:cTn id="29" dur="500"/>
                                        <p:tgtEl>
                                          <p:spTgt spid="100">
                                            <p:txEl>
                                              <p:pRg st="2" end="2"/>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01"/>
                                        </p:tgtEl>
                                        <p:attrNameLst>
                                          <p:attrName>style.visibility</p:attrName>
                                        </p:attrNameLst>
                                      </p:cBhvr>
                                      <p:to>
                                        <p:strVal val="visible"/>
                                      </p:to>
                                    </p:set>
                                    <p:animEffect transition="in" filter="fade">
                                      <p:cBhvr>
                                        <p:cTn id="32" dur="500"/>
                                        <p:tgtEl>
                                          <p:spTgt spid="10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
                                            <p:txEl>
                                              <p:pRg st="3" end="3"/>
                                            </p:txEl>
                                          </p:spTgt>
                                        </p:tgtEl>
                                        <p:attrNameLst>
                                          <p:attrName>style.visibility</p:attrName>
                                        </p:attrNameLst>
                                      </p:cBhvr>
                                      <p:to>
                                        <p:strVal val="visible"/>
                                      </p:to>
                                    </p:set>
                                    <p:animEffect transition="in" filter="fade">
                                      <p:cBhvr>
                                        <p:cTn id="37" dur="500"/>
                                        <p:tgtEl>
                                          <p:spTgt spid="10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0">
                                            <p:txEl>
                                              <p:pRg st="4" end="4"/>
                                            </p:txEl>
                                          </p:spTgt>
                                        </p:tgtEl>
                                        <p:attrNameLst>
                                          <p:attrName>style.visibility</p:attrName>
                                        </p:attrNameLst>
                                      </p:cBhvr>
                                      <p:to>
                                        <p:strVal val="visible"/>
                                      </p:to>
                                    </p:set>
                                    <p:animEffect transition="in" filter="fade">
                                      <p:cBhvr>
                                        <p:cTn id="42" dur="500"/>
                                        <p:tgtEl>
                                          <p:spTgt spid="100">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0">
                                            <p:txEl>
                                              <p:pRg st="5" end="5"/>
                                            </p:txEl>
                                          </p:spTgt>
                                        </p:tgtEl>
                                        <p:attrNameLst>
                                          <p:attrName>style.visibility</p:attrName>
                                        </p:attrNameLst>
                                      </p:cBhvr>
                                      <p:to>
                                        <p:strVal val="visible"/>
                                      </p:to>
                                    </p:set>
                                    <p:animEffect transition="in" filter="fade">
                                      <p:cBhvr>
                                        <p:cTn id="47" dur="500"/>
                                        <p:tgtEl>
                                          <p:spTgt spid="100">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00"/>
                                        </p:tgtEl>
                                        <p:attrNameLst>
                                          <p:attrName>style.visibility</p:attrName>
                                        </p:attrNameLst>
                                      </p:cBhvr>
                                      <p:to>
                                        <p:strVal val="visible"/>
                                      </p:to>
                                    </p:set>
                                    <p:anim calcmode="lin" valueType="num">
                                      <p:cBhvr additive="base">
                                        <p:cTn id="52" dur="500"/>
                                        <p:tgtEl>
                                          <p:spTgt spid="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Question 1</a:t>
            </a:r>
            <a:endParaRPr/>
          </a:p>
        </p:txBody>
      </p:sp>
      <p:sp>
        <p:nvSpPr>
          <p:cNvPr id="111" name="Google Shape;111;p5"/>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p>
            <a:pPr marL="120650" lvl="0" indent="0" algn="l" rtl="0">
              <a:lnSpc>
                <a:spcPct val="100000"/>
              </a:lnSpc>
              <a:spcBef>
                <a:spcPts val="0"/>
              </a:spcBef>
              <a:spcAft>
                <a:spcPts val="0"/>
              </a:spcAft>
              <a:buSzPts val="3200"/>
              <a:buNone/>
            </a:pPr>
            <a:r>
              <a:rPr lang="en-US"/>
              <a:t>A </a:t>
            </a:r>
            <a:r>
              <a:rPr lang="en-US" u="sng"/>
              <a:t>behavior</a:t>
            </a:r>
            <a:r>
              <a:rPr lang="en-US"/>
              <a:t> is an action that is __. </a:t>
            </a:r>
            <a:endParaRPr/>
          </a:p>
          <a:p>
            <a:pPr marL="120650" lvl="0" indent="0" algn="l" rtl="0">
              <a:lnSpc>
                <a:spcPct val="100000"/>
              </a:lnSpc>
              <a:spcBef>
                <a:spcPts val="640"/>
              </a:spcBef>
              <a:spcAft>
                <a:spcPts val="0"/>
              </a:spcAft>
              <a:buSzPts val="3200"/>
              <a:buNone/>
            </a:pPr>
            <a:endParaRPr/>
          </a:p>
          <a:p>
            <a:pPr marL="635000" lvl="0" indent="-514350" algn="l" rtl="0">
              <a:lnSpc>
                <a:spcPct val="100000"/>
              </a:lnSpc>
              <a:spcBef>
                <a:spcPts val="640"/>
              </a:spcBef>
              <a:spcAft>
                <a:spcPts val="0"/>
              </a:spcAft>
              <a:buSzPts val="3200"/>
              <a:buFont typeface="Arial"/>
              <a:buAutoNum type="alphaLcPeriod"/>
            </a:pPr>
            <a:r>
              <a:rPr lang="en-US"/>
              <a:t>Understood</a:t>
            </a:r>
            <a:endParaRPr/>
          </a:p>
          <a:p>
            <a:pPr marL="635000" lvl="0" indent="-514350" algn="l" rtl="0">
              <a:lnSpc>
                <a:spcPct val="100000"/>
              </a:lnSpc>
              <a:spcBef>
                <a:spcPts val="1240"/>
              </a:spcBef>
              <a:spcAft>
                <a:spcPts val="0"/>
              </a:spcAft>
              <a:buSzPts val="3200"/>
              <a:buFont typeface="Arial"/>
              <a:buAutoNum type="alphaLcPeriod"/>
            </a:pPr>
            <a:r>
              <a:rPr lang="en-US"/>
              <a:t>Observable </a:t>
            </a:r>
            <a:endParaRPr/>
          </a:p>
          <a:p>
            <a:pPr marL="635000" lvl="0" indent="-514350" algn="l" rtl="0">
              <a:lnSpc>
                <a:spcPct val="100000"/>
              </a:lnSpc>
              <a:spcBef>
                <a:spcPts val="1240"/>
              </a:spcBef>
              <a:spcAft>
                <a:spcPts val="0"/>
              </a:spcAft>
              <a:buSzPts val="3200"/>
              <a:buFont typeface="Arial"/>
              <a:buAutoNum type="alphaLcPeriod"/>
            </a:pPr>
            <a:r>
              <a:rPr lang="en-US"/>
              <a:t>Measurable</a:t>
            </a:r>
            <a:endParaRPr/>
          </a:p>
          <a:p>
            <a:pPr marL="635000" lvl="0" indent="-514350" algn="l" rtl="0">
              <a:lnSpc>
                <a:spcPct val="100000"/>
              </a:lnSpc>
              <a:spcBef>
                <a:spcPts val="1240"/>
              </a:spcBef>
              <a:spcAft>
                <a:spcPts val="0"/>
              </a:spcAft>
              <a:buSzPts val="3200"/>
              <a:buFont typeface="Arial"/>
              <a:buAutoNum type="alphaLcPeriod"/>
            </a:pPr>
            <a:r>
              <a:rPr lang="en-US"/>
              <a:t>B and C</a:t>
            </a:r>
            <a:endParaRPr/>
          </a:p>
          <a:p>
            <a:pPr marL="120650" lvl="0" indent="0" algn="l" rtl="0">
              <a:lnSpc>
                <a:spcPct val="100000"/>
              </a:lnSpc>
              <a:spcBef>
                <a:spcPts val="1240"/>
              </a:spcBef>
              <a:spcAft>
                <a:spcPts val="0"/>
              </a:spcAft>
              <a:buSzPts val="3200"/>
              <a:buNone/>
            </a:pPr>
            <a:endParaRPr/>
          </a:p>
          <a:p>
            <a:pPr marL="635000" lvl="0" indent="-311150" algn="l" rtl="0">
              <a:lnSpc>
                <a:spcPct val="100000"/>
              </a:lnSpc>
              <a:spcBef>
                <a:spcPts val="640"/>
              </a:spcBef>
              <a:spcAft>
                <a:spcPts val="0"/>
              </a:spcAft>
              <a:buSzPts val="3200"/>
              <a:buFont typeface="Arial"/>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9"/>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Question 1—ANSWER</a:t>
            </a:r>
            <a:endParaRPr/>
          </a:p>
        </p:txBody>
      </p:sp>
      <p:sp>
        <p:nvSpPr>
          <p:cNvPr id="118" name="Google Shape;118;p49"/>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p>
            <a:pPr marL="120650" lvl="0" indent="0" algn="l" rtl="0">
              <a:lnSpc>
                <a:spcPct val="100000"/>
              </a:lnSpc>
              <a:spcBef>
                <a:spcPts val="0"/>
              </a:spcBef>
              <a:spcAft>
                <a:spcPts val="0"/>
              </a:spcAft>
              <a:buSzPts val="3200"/>
              <a:buNone/>
            </a:pPr>
            <a:r>
              <a:rPr lang="en-US"/>
              <a:t>A </a:t>
            </a:r>
            <a:r>
              <a:rPr lang="en-US" u="sng"/>
              <a:t>behavior</a:t>
            </a:r>
            <a:r>
              <a:rPr lang="en-US"/>
              <a:t> is an action that is __. </a:t>
            </a:r>
            <a:endParaRPr/>
          </a:p>
          <a:p>
            <a:pPr marL="120650" lvl="0" indent="0" algn="l" rtl="0">
              <a:lnSpc>
                <a:spcPct val="100000"/>
              </a:lnSpc>
              <a:spcBef>
                <a:spcPts val="640"/>
              </a:spcBef>
              <a:spcAft>
                <a:spcPts val="0"/>
              </a:spcAft>
              <a:buSzPts val="3200"/>
              <a:buNone/>
            </a:pPr>
            <a:endParaRPr/>
          </a:p>
          <a:p>
            <a:pPr marL="635000" lvl="0" indent="-514350" algn="l" rtl="0">
              <a:lnSpc>
                <a:spcPct val="100000"/>
              </a:lnSpc>
              <a:spcBef>
                <a:spcPts val="640"/>
              </a:spcBef>
              <a:spcAft>
                <a:spcPts val="0"/>
              </a:spcAft>
              <a:buSzPts val="3200"/>
              <a:buFont typeface="Arial"/>
              <a:buAutoNum type="alphaLcPeriod"/>
            </a:pPr>
            <a:r>
              <a:rPr lang="en-US"/>
              <a:t>Understood</a:t>
            </a:r>
            <a:endParaRPr/>
          </a:p>
          <a:p>
            <a:pPr marL="635000" lvl="0" indent="-514350" algn="l" rtl="0">
              <a:lnSpc>
                <a:spcPct val="100000"/>
              </a:lnSpc>
              <a:spcBef>
                <a:spcPts val="1240"/>
              </a:spcBef>
              <a:spcAft>
                <a:spcPts val="0"/>
              </a:spcAft>
              <a:buSzPts val="3200"/>
              <a:buFont typeface="Arial"/>
              <a:buAutoNum type="alphaLcPeriod"/>
            </a:pPr>
            <a:r>
              <a:rPr lang="en-US"/>
              <a:t>Observable </a:t>
            </a:r>
            <a:endParaRPr/>
          </a:p>
          <a:p>
            <a:pPr marL="635000" lvl="0" indent="-514350" algn="l" rtl="0">
              <a:lnSpc>
                <a:spcPct val="100000"/>
              </a:lnSpc>
              <a:spcBef>
                <a:spcPts val="1240"/>
              </a:spcBef>
              <a:spcAft>
                <a:spcPts val="0"/>
              </a:spcAft>
              <a:buSzPts val="3200"/>
              <a:buFont typeface="Arial"/>
              <a:buAutoNum type="alphaLcPeriod"/>
            </a:pPr>
            <a:r>
              <a:rPr lang="en-US"/>
              <a:t>Measurable</a:t>
            </a:r>
            <a:endParaRPr/>
          </a:p>
          <a:p>
            <a:pPr marL="635000" lvl="0" indent="-514350" algn="l" rtl="0">
              <a:lnSpc>
                <a:spcPct val="100000"/>
              </a:lnSpc>
              <a:spcBef>
                <a:spcPts val="1240"/>
              </a:spcBef>
              <a:spcAft>
                <a:spcPts val="0"/>
              </a:spcAft>
              <a:buSzPts val="3200"/>
              <a:buFont typeface="Arial"/>
              <a:buAutoNum type="alphaLcPeriod"/>
            </a:pPr>
            <a:r>
              <a:rPr lang="en-US" b="1">
                <a:solidFill>
                  <a:schemeClr val="dk1"/>
                </a:solidFill>
              </a:rPr>
              <a:t>B and C</a:t>
            </a:r>
            <a:endParaRPr b="1">
              <a:solidFill>
                <a:schemeClr val="dk1"/>
              </a:solidFill>
            </a:endParaRPr>
          </a:p>
          <a:p>
            <a:pPr marL="120650" lvl="0" indent="0" algn="l" rtl="0">
              <a:lnSpc>
                <a:spcPct val="100000"/>
              </a:lnSpc>
              <a:spcBef>
                <a:spcPts val="1240"/>
              </a:spcBef>
              <a:spcAft>
                <a:spcPts val="0"/>
              </a:spcAft>
              <a:buSzPts val="3200"/>
              <a:buNone/>
            </a:pPr>
            <a:endParaRPr/>
          </a:p>
          <a:p>
            <a:pPr marL="635000" lvl="0" indent="-311150" algn="l" rtl="0">
              <a:lnSpc>
                <a:spcPct val="100000"/>
              </a:lnSpc>
              <a:spcBef>
                <a:spcPts val="640"/>
              </a:spcBef>
              <a:spcAft>
                <a:spcPts val="0"/>
              </a:spcAft>
              <a:buSzPts val="3200"/>
              <a:buFont typeface="Arial"/>
              <a:buNone/>
            </a:pPr>
            <a:endParaRPr/>
          </a:p>
        </p:txBody>
      </p:sp>
      <p:sp>
        <p:nvSpPr>
          <p:cNvPr id="119" name="Google Shape;119;p49"/>
          <p:cNvSpPr/>
          <p:nvPr/>
        </p:nvSpPr>
        <p:spPr>
          <a:xfrm>
            <a:off x="-154237" y="5210978"/>
            <a:ext cx="2710150" cy="396607"/>
          </a:xfrm>
          <a:prstGeom prst="mathMinus">
            <a:avLst>
              <a:gd name="adj1" fmla="val 23520"/>
            </a:avLst>
          </a:prstGeom>
          <a:solidFill>
            <a:schemeClr val="accent1"/>
          </a:solidFill>
          <a:ln w="25400" cap="flat" cmpd="sng">
            <a:solidFill>
              <a:srgbClr val="677E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1"/>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Question 2</a:t>
            </a:r>
            <a:endParaRPr/>
          </a:p>
        </p:txBody>
      </p:sp>
      <p:sp>
        <p:nvSpPr>
          <p:cNvPr id="126" name="Google Shape;126;p51"/>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p>
            <a:pPr marL="120650" lvl="0" indent="0" algn="l" rtl="0">
              <a:lnSpc>
                <a:spcPct val="100000"/>
              </a:lnSpc>
              <a:spcBef>
                <a:spcPts val="0"/>
              </a:spcBef>
              <a:spcAft>
                <a:spcPts val="0"/>
              </a:spcAft>
              <a:buSzPts val="3200"/>
              <a:buNone/>
            </a:pPr>
            <a:r>
              <a:rPr lang="en-US"/>
              <a:t>A behavior that is followed by a </a:t>
            </a:r>
            <a:r>
              <a:rPr lang="en-US">
                <a:solidFill>
                  <a:schemeClr val="dk1"/>
                </a:solidFill>
              </a:rPr>
              <a:t>reinforcer</a:t>
            </a:r>
            <a:r>
              <a:rPr lang="en-US"/>
              <a:t> __. </a:t>
            </a:r>
            <a:endParaRPr/>
          </a:p>
          <a:p>
            <a:pPr marL="120650" lvl="0" indent="0" algn="l" rtl="0">
              <a:lnSpc>
                <a:spcPct val="100000"/>
              </a:lnSpc>
              <a:spcBef>
                <a:spcPts val="640"/>
              </a:spcBef>
              <a:spcAft>
                <a:spcPts val="0"/>
              </a:spcAft>
              <a:buSzPts val="3200"/>
              <a:buNone/>
            </a:pPr>
            <a:endParaRPr/>
          </a:p>
          <a:p>
            <a:pPr marL="635000" lvl="0" indent="-514350" algn="l" rtl="0">
              <a:lnSpc>
                <a:spcPct val="100000"/>
              </a:lnSpc>
              <a:spcBef>
                <a:spcPts val="640"/>
              </a:spcBef>
              <a:spcAft>
                <a:spcPts val="0"/>
              </a:spcAft>
              <a:buSzPts val="3200"/>
              <a:buFont typeface="Arial"/>
              <a:buAutoNum type="alphaLcPeriod"/>
            </a:pPr>
            <a:r>
              <a:rPr lang="en-US"/>
              <a:t>Stays the same</a:t>
            </a:r>
            <a:endParaRPr/>
          </a:p>
          <a:p>
            <a:pPr marL="635000" lvl="0" indent="-514350" algn="l" rtl="0">
              <a:lnSpc>
                <a:spcPct val="100000"/>
              </a:lnSpc>
              <a:spcBef>
                <a:spcPts val="1240"/>
              </a:spcBef>
              <a:spcAft>
                <a:spcPts val="0"/>
              </a:spcAft>
              <a:buSzPts val="3200"/>
              <a:buFont typeface="Arial"/>
              <a:buAutoNum type="alphaLcPeriod"/>
            </a:pPr>
            <a:r>
              <a:rPr lang="en-US"/>
              <a:t>Is strengthened </a:t>
            </a:r>
            <a:endParaRPr/>
          </a:p>
          <a:p>
            <a:pPr marL="635000" lvl="0" indent="-514350" algn="l" rtl="0">
              <a:lnSpc>
                <a:spcPct val="100000"/>
              </a:lnSpc>
              <a:spcBef>
                <a:spcPts val="1240"/>
              </a:spcBef>
              <a:spcAft>
                <a:spcPts val="0"/>
              </a:spcAft>
              <a:buSzPts val="3200"/>
              <a:buFont typeface="Arial"/>
              <a:buAutoNum type="alphaLcPeriod"/>
            </a:pPr>
            <a:r>
              <a:rPr lang="en-US"/>
              <a:t>Is weakened</a:t>
            </a:r>
            <a:endParaRPr/>
          </a:p>
          <a:p>
            <a:pPr marL="120650" lvl="0" indent="0" algn="l" rtl="0">
              <a:lnSpc>
                <a:spcPct val="100000"/>
              </a:lnSpc>
              <a:spcBef>
                <a:spcPts val="1240"/>
              </a:spcBef>
              <a:spcAft>
                <a:spcPts val="0"/>
              </a:spcAft>
              <a:buSzPts val="3200"/>
              <a:buNone/>
            </a:pPr>
            <a:endParaRPr/>
          </a:p>
          <a:p>
            <a:pPr marL="635000" lvl="0" indent="-311150" algn="l" rtl="0">
              <a:lnSpc>
                <a:spcPct val="100000"/>
              </a:lnSpc>
              <a:spcBef>
                <a:spcPts val="640"/>
              </a:spcBef>
              <a:spcAft>
                <a:spcPts val="0"/>
              </a:spcAft>
              <a:buSzPts val="3200"/>
              <a:buFont typeface="Arial"/>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Question 2—ANSWER </a:t>
            </a:r>
            <a:endParaRPr/>
          </a:p>
        </p:txBody>
      </p:sp>
      <p:sp>
        <p:nvSpPr>
          <p:cNvPr id="133" name="Google Shape;133;p6"/>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p>
            <a:pPr marL="120650" lvl="0" indent="0" algn="l" rtl="0">
              <a:lnSpc>
                <a:spcPct val="100000"/>
              </a:lnSpc>
              <a:spcBef>
                <a:spcPts val="0"/>
              </a:spcBef>
              <a:spcAft>
                <a:spcPts val="0"/>
              </a:spcAft>
              <a:buSzPts val="3200"/>
              <a:buNone/>
            </a:pPr>
            <a:r>
              <a:rPr lang="en-US"/>
              <a:t>A behavior that is followed by a </a:t>
            </a:r>
            <a:r>
              <a:rPr lang="en-US">
                <a:solidFill>
                  <a:srgbClr val="00B050"/>
                </a:solidFill>
              </a:rPr>
              <a:t>reinforcer </a:t>
            </a:r>
            <a:r>
              <a:rPr lang="en-US"/>
              <a:t>__. </a:t>
            </a:r>
            <a:endParaRPr/>
          </a:p>
          <a:p>
            <a:pPr marL="120650" lvl="0" indent="0" algn="l" rtl="0">
              <a:lnSpc>
                <a:spcPct val="100000"/>
              </a:lnSpc>
              <a:spcBef>
                <a:spcPts val="640"/>
              </a:spcBef>
              <a:spcAft>
                <a:spcPts val="0"/>
              </a:spcAft>
              <a:buSzPts val="3200"/>
              <a:buNone/>
            </a:pPr>
            <a:endParaRPr/>
          </a:p>
          <a:p>
            <a:pPr marL="635000" lvl="0" indent="-514350" algn="l" rtl="0">
              <a:lnSpc>
                <a:spcPct val="100000"/>
              </a:lnSpc>
              <a:spcBef>
                <a:spcPts val="640"/>
              </a:spcBef>
              <a:spcAft>
                <a:spcPts val="0"/>
              </a:spcAft>
              <a:buSzPts val="3200"/>
              <a:buFont typeface="Arial"/>
              <a:buAutoNum type="alphaLcPeriod"/>
            </a:pPr>
            <a:r>
              <a:rPr lang="en-US"/>
              <a:t>Stays the same</a:t>
            </a:r>
            <a:endParaRPr/>
          </a:p>
          <a:p>
            <a:pPr marL="635000" lvl="0" indent="-514350" algn="l" rtl="0">
              <a:lnSpc>
                <a:spcPct val="100000"/>
              </a:lnSpc>
              <a:spcBef>
                <a:spcPts val="1240"/>
              </a:spcBef>
              <a:spcAft>
                <a:spcPts val="0"/>
              </a:spcAft>
              <a:buSzPts val="3200"/>
              <a:buFont typeface="Arial"/>
              <a:buAutoNum type="alphaLcPeriod"/>
            </a:pPr>
            <a:r>
              <a:rPr lang="en-US" b="1" u="sng">
                <a:solidFill>
                  <a:srgbClr val="00B050"/>
                </a:solidFill>
              </a:rPr>
              <a:t>Is strengthened </a:t>
            </a:r>
            <a:endParaRPr>
              <a:solidFill>
                <a:srgbClr val="00B050"/>
              </a:solidFill>
            </a:endParaRPr>
          </a:p>
          <a:p>
            <a:pPr marL="635000" lvl="0" indent="-514350" algn="l" rtl="0">
              <a:lnSpc>
                <a:spcPct val="100000"/>
              </a:lnSpc>
              <a:spcBef>
                <a:spcPts val="1240"/>
              </a:spcBef>
              <a:spcAft>
                <a:spcPts val="0"/>
              </a:spcAft>
              <a:buSzPts val="3200"/>
              <a:buFont typeface="Arial"/>
              <a:buAutoNum type="alphaLcPeriod"/>
            </a:pPr>
            <a:r>
              <a:rPr lang="en-US"/>
              <a:t>Is weakened</a:t>
            </a:r>
            <a:endParaRPr/>
          </a:p>
          <a:p>
            <a:pPr marL="120650" lvl="0" indent="0" algn="l" rtl="0">
              <a:lnSpc>
                <a:spcPct val="100000"/>
              </a:lnSpc>
              <a:spcBef>
                <a:spcPts val="1240"/>
              </a:spcBef>
              <a:spcAft>
                <a:spcPts val="0"/>
              </a:spcAft>
              <a:buSzPts val="3200"/>
              <a:buNone/>
            </a:pPr>
            <a:endParaRPr/>
          </a:p>
          <a:p>
            <a:pPr marL="635000" lvl="0" indent="-311150" algn="l" rtl="0">
              <a:lnSpc>
                <a:spcPct val="100000"/>
              </a:lnSpc>
              <a:spcBef>
                <a:spcPts val="640"/>
              </a:spcBef>
              <a:spcAft>
                <a:spcPts val="0"/>
              </a:spcAft>
              <a:buSzPts val="3200"/>
              <a:buFont typeface="Arial"/>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Question 3</a:t>
            </a:r>
            <a:endParaRPr/>
          </a:p>
        </p:txBody>
      </p:sp>
      <p:sp>
        <p:nvSpPr>
          <p:cNvPr id="140" name="Google Shape;140;p7"/>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p>
            <a:pPr marL="120650" lvl="0" indent="0" algn="l" rtl="0">
              <a:lnSpc>
                <a:spcPct val="100000"/>
              </a:lnSpc>
              <a:spcBef>
                <a:spcPts val="0"/>
              </a:spcBef>
              <a:spcAft>
                <a:spcPts val="0"/>
              </a:spcAft>
              <a:buSzPts val="3200"/>
              <a:buNone/>
            </a:pPr>
            <a:r>
              <a:rPr lang="en-US" dirty="0"/>
              <a:t>A behavior that is followed by a </a:t>
            </a:r>
            <a:r>
              <a:rPr lang="en-US" dirty="0">
                <a:solidFill>
                  <a:schemeClr val="dk2"/>
                </a:solidFill>
              </a:rPr>
              <a:t>punisher</a:t>
            </a:r>
            <a:r>
              <a:rPr lang="en-US" dirty="0"/>
              <a:t> __. </a:t>
            </a:r>
            <a:endParaRPr dirty="0"/>
          </a:p>
          <a:p>
            <a:pPr marL="120650" lvl="0" indent="0" algn="l" rtl="0">
              <a:lnSpc>
                <a:spcPct val="100000"/>
              </a:lnSpc>
              <a:spcBef>
                <a:spcPts val="640"/>
              </a:spcBef>
              <a:spcAft>
                <a:spcPts val="0"/>
              </a:spcAft>
              <a:buSzPts val="3200"/>
              <a:buNone/>
            </a:pPr>
            <a:endParaRPr dirty="0"/>
          </a:p>
          <a:p>
            <a:pPr marL="635000" lvl="0" indent="-514350" algn="l" rtl="0">
              <a:lnSpc>
                <a:spcPct val="100000"/>
              </a:lnSpc>
              <a:spcBef>
                <a:spcPts val="640"/>
              </a:spcBef>
              <a:spcAft>
                <a:spcPts val="0"/>
              </a:spcAft>
              <a:buSzPts val="3200"/>
              <a:buFont typeface="Arial"/>
              <a:buAutoNum type="alphaLcPeriod"/>
            </a:pPr>
            <a:r>
              <a:rPr lang="en-US" dirty="0"/>
              <a:t>Stays the same</a:t>
            </a:r>
            <a:endParaRPr dirty="0"/>
          </a:p>
          <a:p>
            <a:pPr marL="635000" lvl="0" indent="-514350" algn="l" rtl="0">
              <a:lnSpc>
                <a:spcPct val="100000"/>
              </a:lnSpc>
              <a:spcBef>
                <a:spcPts val="1240"/>
              </a:spcBef>
              <a:spcAft>
                <a:spcPts val="0"/>
              </a:spcAft>
              <a:buSzPts val="3200"/>
              <a:buFont typeface="Arial"/>
              <a:buAutoNum type="alphaLcPeriod"/>
            </a:pPr>
            <a:r>
              <a:rPr lang="en-US" dirty="0"/>
              <a:t>Is strengthened </a:t>
            </a:r>
            <a:endParaRPr dirty="0"/>
          </a:p>
          <a:p>
            <a:pPr marL="635000" lvl="0" indent="-514350" algn="l" rtl="0">
              <a:lnSpc>
                <a:spcPct val="100000"/>
              </a:lnSpc>
              <a:spcBef>
                <a:spcPts val="1240"/>
              </a:spcBef>
              <a:spcAft>
                <a:spcPts val="0"/>
              </a:spcAft>
              <a:buSzPts val="3200"/>
              <a:buFont typeface="Arial"/>
              <a:buAutoNum type="alphaLcPeriod"/>
            </a:pPr>
            <a:r>
              <a:rPr lang="en-US" dirty="0"/>
              <a:t>Is weakened</a:t>
            </a:r>
            <a:endParaRPr dirty="0"/>
          </a:p>
          <a:p>
            <a:pPr marL="120650" lvl="0" indent="0" algn="l" rtl="0">
              <a:lnSpc>
                <a:spcPct val="100000"/>
              </a:lnSpc>
              <a:spcBef>
                <a:spcPts val="1240"/>
              </a:spcBef>
              <a:spcAft>
                <a:spcPts val="0"/>
              </a:spcAft>
              <a:buSzPts val="3200"/>
              <a:buNone/>
            </a:pPr>
            <a:endParaRPr dirty="0"/>
          </a:p>
          <a:p>
            <a:pPr marL="635000" lvl="0" indent="-311150" algn="l" rtl="0">
              <a:lnSpc>
                <a:spcPct val="100000"/>
              </a:lnSpc>
              <a:spcBef>
                <a:spcPts val="640"/>
              </a:spcBef>
              <a:spcAft>
                <a:spcPts val="0"/>
              </a:spcAft>
              <a:buSzPts val="3200"/>
              <a:buFont typeface="Arial"/>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Question 3—ANSWER </a:t>
            </a:r>
            <a:endParaRPr/>
          </a:p>
        </p:txBody>
      </p:sp>
      <p:sp>
        <p:nvSpPr>
          <p:cNvPr id="147" name="Google Shape;147;p8"/>
          <p:cNvSpPr txBox="1">
            <a:spLocks noGrp="1"/>
          </p:cNvSpPr>
          <p:nvPr>
            <p:ph type="body" idx="1"/>
          </p:nvPr>
        </p:nvSpPr>
        <p:spPr>
          <a:xfrm>
            <a:off x="0" y="1752600"/>
            <a:ext cx="9144000" cy="4876799"/>
          </a:xfrm>
          <a:prstGeom prst="rect">
            <a:avLst/>
          </a:prstGeom>
          <a:noFill/>
          <a:ln>
            <a:noFill/>
          </a:ln>
        </p:spPr>
        <p:txBody>
          <a:bodyPr spcFirstLastPara="1" wrap="square" lIns="91425" tIns="91425" rIns="91425" bIns="91425" anchor="t" anchorCtr="0">
            <a:noAutofit/>
          </a:bodyPr>
          <a:lstStyle/>
          <a:p>
            <a:pPr marL="120650" lvl="0" indent="0" algn="l" rtl="0">
              <a:lnSpc>
                <a:spcPct val="100000"/>
              </a:lnSpc>
              <a:spcBef>
                <a:spcPts val="0"/>
              </a:spcBef>
              <a:spcAft>
                <a:spcPts val="0"/>
              </a:spcAft>
              <a:buSzPts val="3200"/>
              <a:buNone/>
            </a:pPr>
            <a:r>
              <a:rPr lang="en-US"/>
              <a:t>A behavior that is followed by a </a:t>
            </a:r>
            <a:r>
              <a:rPr lang="en-US">
                <a:solidFill>
                  <a:srgbClr val="FF0000"/>
                </a:solidFill>
              </a:rPr>
              <a:t>punisher</a:t>
            </a:r>
            <a:r>
              <a:rPr lang="en-US"/>
              <a:t> __. </a:t>
            </a:r>
            <a:endParaRPr/>
          </a:p>
          <a:p>
            <a:pPr marL="120650" lvl="0" indent="0" algn="l" rtl="0">
              <a:lnSpc>
                <a:spcPct val="100000"/>
              </a:lnSpc>
              <a:spcBef>
                <a:spcPts val="640"/>
              </a:spcBef>
              <a:spcAft>
                <a:spcPts val="0"/>
              </a:spcAft>
              <a:buSzPts val="3200"/>
              <a:buNone/>
            </a:pPr>
            <a:endParaRPr/>
          </a:p>
          <a:p>
            <a:pPr marL="635000" lvl="0" indent="-514350" algn="l" rtl="0">
              <a:lnSpc>
                <a:spcPct val="100000"/>
              </a:lnSpc>
              <a:spcBef>
                <a:spcPts val="640"/>
              </a:spcBef>
              <a:spcAft>
                <a:spcPts val="0"/>
              </a:spcAft>
              <a:buSzPts val="3200"/>
              <a:buFont typeface="Arial"/>
              <a:buAutoNum type="alphaLcPeriod"/>
            </a:pPr>
            <a:r>
              <a:rPr lang="en-US"/>
              <a:t>Stays the same</a:t>
            </a:r>
            <a:endParaRPr/>
          </a:p>
          <a:p>
            <a:pPr marL="635000" lvl="0" indent="-514350" algn="l" rtl="0">
              <a:lnSpc>
                <a:spcPct val="100000"/>
              </a:lnSpc>
              <a:spcBef>
                <a:spcPts val="640"/>
              </a:spcBef>
              <a:spcAft>
                <a:spcPts val="0"/>
              </a:spcAft>
              <a:buSzPts val="3200"/>
              <a:buFont typeface="Arial"/>
              <a:buAutoNum type="alphaLcPeriod"/>
            </a:pPr>
            <a:r>
              <a:rPr lang="en-US"/>
              <a:t>Is strengthened </a:t>
            </a:r>
            <a:endParaRPr/>
          </a:p>
          <a:p>
            <a:pPr marL="635000" lvl="0" indent="-514350" algn="l" rtl="0">
              <a:lnSpc>
                <a:spcPct val="100000"/>
              </a:lnSpc>
              <a:spcBef>
                <a:spcPts val="640"/>
              </a:spcBef>
              <a:spcAft>
                <a:spcPts val="0"/>
              </a:spcAft>
              <a:buSzPts val="3200"/>
              <a:buFont typeface="Arial"/>
              <a:buAutoNum type="alphaLcPeriod"/>
            </a:pPr>
            <a:r>
              <a:rPr lang="en-US" b="1" u="sng">
                <a:solidFill>
                  <a:srgbClr val="FF0000"/>
                </a:solidFill>
              </a:rPr>
              <a:t>Is weakened</a:t>
            </a:r>
            <a:endParaRPr>
              <a:solidFill>
                <a:srgbClr val="FF0000"/>
              </a:solidFill>
            </a:endParaRPr>
          </a:p>
          <a:p>
            <a:pPr marL="120650" lvl="0" indent="0" algn="l" rtl="0">
              <a:lnSpc>
                <a:spcPct val="100000"/>
              </a:lnSpc>
              <a:spcBef>
                <a:spcPts val="640"/>
              </a:spcBef>
              <a:spcAft>
                <a:spcPts val="0"/>
              </a:spcAft>
              <a:buSzPts val="3200"/>
              <a:buNone/>
            </a:pPr>
            <a:endParaRPr/>
          </a:p>
          <a:p>
            <a:pPr marL="635000" lvl="0" indent="-311150" algn="l" rtl="0">
              <a:lnSpc>
                <a:spcPct val="100000"/>
              </a:lnSpc>
              <a:spcBef>
                <a:spcPts val="640"/>
              </a:spcBef>
              <a:spcAft>
                <a:spcPts val="0"/>
              </a:spcAft>
              <a:buSzPts val="3200"/>
              <a:buFont typeface="Arial"/>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Types of Operant Conditioning</a:t>
            </a:r>
            <a:endParaRPr/>
          </a:p>
        </p:txBody>
      </p:sp>
      <p:sp>
        <p:nvSpPr>
          <p:cNvPr id="154" name="Google Shape;154;p9"/>
          <p:cNvSpPr txBox="1">
            <a:spLocks noGrp="1"/>
          </p:cNvSpPr>
          <p:nvPr>
            <p:ph type="body" idx="1"/>
          </p:nvPr>
        </p:nvSpPr>
        <p:spPr>
          <a:xfrm>
            <a:off x="0" y="1600200"/>
            <a:ext cx="9144000" cy="5867400"/>
          </a:xfrm>
          <a:prstGeom prst="rect">
            <a:avLst/>
          </a:prstGeom>
          <a:noFill/>
          <a:ln>
            <a:noFill/>
          </a:ln>
        </p:spPr>
        <p:txBody>
          <a:bodyPr spcFirstLastPara="1" wrap="square" lIns="91425" tIns="91425" rIns="91425" bIns="91425" anchor="t" anchorCtr="0">
            <a:noAutofit/>
          </a:bodyPr>
          <a:lstStyle/>
          <a:p>
            <a:pPr marL="342900" lvl="0" indent="-254000" algn="l" rtl="0">
              <a:lnSpc>
                <a:spcPct val="100000"/>
              </a:lnSpc>
              <a:spcBef>
                <a:spcPts val="0"/>
              </a:spcBef>
              <a:spcAft>
                <a:spcPts val="0"/>
              </a:spcAft>
              <a:buSzPts val="4000"/>
              <a:buChar char="•"/>
            </a:pPr>
            <a:r>
              <a:rPr lang="en-US" sz="4000" b="1" dirty="0"/>
              <a:t>Four types </a:t>
            </a:r>
            <a:endParaRPr dirty="0"/>
          </a:p>
          <a:p>
            <a:pPr marL="742950" lvl="1" indent="-228600" algn="l" rtl="0">
              <a:lnSpc>
                <a:spcPct val="100000"/>
              </a:lnSpc>
              <a:spcBef>
                <a:spcPts val="560"/>
              </a:spcBef>
              <a:spcAft>
                <a:spcPts val="0"/>
              </a:spcAft>
              <a:buSzPts val="3600"/>
              <a:buChar char="•"/>
            </a:pPr>
            <a:r>
              <a:rPr lang="en-US" sz="3600" b="1" dirty="0"/>
              <a:t>Two types of </a:t>
            </a:r>
            <a:r>
              <a:rPr lang="en-US" sz="3600" b="1" dirty="0">
                <a:solidFill>
                  <a:srgbClr val="00B050"/>
                </a:solidFill>
              </a:rPr>
              <a:t>Reinforcement</a:t>
            </a:r>
            <a:endParaRPr dirty="0">
              <a:solidFill>
                <a:srgbClr val="00B050"/>
              </a:solidFill>
            </a:endParaRPr>
          </a:p>
          <a:p>
            <a:pPr marL="1143000" lvl="2" indent="-203200" algn="l" rtl="0">
              <a:lnSpc>
                <a:spcPct val="100000"/>
              </a:lnSpc>
              <a:spcBef>
                <a:spcPts val="480"/>
              </a:spcBef>
              <a:spcAft>
                <a:spcPts val="0"/>
              </a:spcAft>
              <a:buSzPts val="3200"/>
              <a:buChar char="•"/>
            </a:pPr>
            <a:r>
              <a:rPr lang="en-US" sz="3200" dirty="0">
                <a:solidFill>
                  <a:srgbClr val="0070C0"/>
                </a:solidFill>
              </a:rPr>
              <a:t>Positive</a:t>
            </a:r>
            <a:r>
              <a:rPr lang="en-US" sz="3200" dirty="0"/>
              <a:t> Reinforcement </a:t>
            </a:r>
            <a:endParaRPr dirty="0"/>
          </a:p>
          <a:p>
            <a:pPr marL="1143000" lvl="2" indent="-203200" algn="l" rtl="0">
              <a:lnSpc>
                <a:spcPct val="100000"/>
              </a:lnSpc>
              <a:spcBef>
                <a:spcPts val="480"/>
              </a:spcBef>
              <a:spcAft>
                <a:spcPts val="0"/>
              </a:spcAft>
              <a:buSzPts val="3200"/>
              <a:buChar char="•"/>
            </a:pPr>
            <a:r>
              <a:rPr lang="en-US" sz="3200" dirty="0">
                <a:solidFill>
                  <a:srgbClr val="7030A0"/>
                </a:solidFill>
              </a:rPr>
              <a:t>Negative</a:t>
            </a:r>
            <a:r>
              <a:rPr lang="en-US" sz="3200" dirty="0"/>
              <a:t> Reinforcement </a:t>
            </a:r>
            <a:endParaRPr dirty="0"/>
          </a:p>
          <a:p>
            <a:pPr marL="742950" lvl="1" indent="-228600" algn="l" rtl="0">
              <a:lnSpc>
                <a:spcPct val="100000"/>
              </a:lnSpc>
              <a:spcBef>
                <a:spcPts val="560"/>
              </a:spcBef>
              <a:spcAft>
                <a:spcPts val="0"/>
              </a:spcAft>
              <a:buSzPts val="3600"/>
              <a:buChar char="•"/>
            </a:pPr>
            <a:r>
              <a:rPr lang="en-US" sz="3600" b="1" dirty="0"/>
              <a:t>Two types of </a:t>
            </a:r>
            <a:r>
              <a:rPr lang="en-US" sz="3600" b="1" dirty="0">
                <a:solidFill>
                  <a:srgbClr val="FF0000"/>
                </a:solidFill>
              </a:rPr>
              <a:t>Punishment</a:t>
            </a:r>
            <a:endParaRPr dirty="0">
              <a:solidFill>
                <a:srgbClr val="FF0000"/>
              </a:solidFill>
            </a:endParaRPr>
          </a:p>
          <a:p>
            <a:pPr marL="1143000" lvl="2" indent="-203200" algn="l" rtl="0">
              <a:lnSpc>
                <a:spcPct val="100000"/>
              </a:lnSpc>
              <a:spcBef>
                <a:spcPts val="480"/>
              </a:spcBef>
              <a:spcAft>
                <a:spcPts val="0"/>
              </a:spcAft>
              <a:buSzPts val="3200"/>
              <a:buChar char="•"/>
            </a:pPr>
            <a:r>
              <a:rPr lang="en-US" sz="3200" dirty="0">
                <a:solidFill>
                  <a:srgbClr val="0070C0"/>
                </a:solidFill>
              </a:rPr>
              <a:t>Positive</a:t>
            </a:r>
            <a:r>
              <a:rPr lang="en-US" sz="3200" dirty="0"/>
              <a:t> Punishment </a:t>
            </a:r>
            <a:endParaRPr dirty="0"/>
          </a:p>
          <a:p>
            <a:pPr marL="1143000" lvl="2" indent="-203200" algn="l" rtl="0">
              <a:lnSpc>
                <a:spcPct val="100000"/>
              </a:lnSpc>
              <a:spcBef>
                <a:spcPts val="480"/>
              </a:spcBef>
              <a:spcAft>
                <a:spcPts val="0"/>
              </a:spcAft>
              <a:buSzPts val="3200"/>
              <a:buChar char="•"/>
            </a:pPr>
            <a:r>
              <a:rPr lang="en-US" sz="3200" dirty="0">
                <a:solidFill>
                  <a:srgbClr val="7030A0"/>
                </a:solidFill>
              </a:rPr>
              <a:t>Negative</a:t>
            </a:r>
            <a:r>
              <a:rPr lang="en-US" sz="3200" dirty="0"/>
              <a:t> Punishment </a:t>
            </a:r>
            <a:endParaRPr dirty="0"/>
          </a:p>
          <a:p>
            <a:pPr marL="1006475" lvl="2" indent="0" algn="l" rtl="0">
              <a:lnSpc>
                <a:spcPct val="100000"/>
              </a:lnSpc>
              <a:spcBef>
                <a:spcPts val="480"/>
              </a:spcBef>
              <a:spcAft>
                <a:spcPts val="0"/>
              </a:spcAft>
              <a:buSzPts val="3200"/>
              <a:buNone/>
            </a:pP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10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4">
                                            <p:txEl>
                                              <p:pRg st="0" end="0"/>
                                            </p:txEl>
                                          </p:spTgt>
                                        </p:tgtEl>
                                        <p:attrNameLst>
                                          <p:attrName>style.visibility</p:attrName>
                                        </p:attrNameLst>
                                      </p:cBhvr>
                                      <p:to>
                                        <p:strVal val="visible"/>
                                      </p:to>
                                    </p:set>
                                    <p:animEffect transition="in" filter="fade">
                                      <p:cBhvr>
                                        <p:cTn id="12" dur="1000"/>
                                        <p:tgtEl>
                                          <p:spTgt spid="15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4">
                                            <p:txEl>
                                              <p:pRg st="1" end="1"/>
                                            </p:txEl>
                                          </p:spTgt>
                                        </p:tgtEl>
                                        <p:attrNameLst>
                                          <p:attrName>style.visibility</p:attrName>
                                        </p:attrNameLst>
                                      </p:cBhvr>
                                      <p:to>
                                        <p:strVal val="visible"/>
                                      </p:to>
                                    </p:set>
                                    <p:animEffect transition="in" filter="fade">
                                      <p:cBhvr>
                                        <p:cTn id="17" dur="1000"/>
                                        <p:tgtEl>
                                          <p:spTgt spid="15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4">
                                            <p:txEl>
                                              <p:pRg st="2" end="2"/>
                                            </p:txEl>
                                          </p:spTgt>
                                        </p:tgtEl>
                                        <p:attrNameLst>
                                          <p:attrName>style.visibility</p:attrName>
                                        </p:attrNameLst>
                                      </p:cBhvr>
                                      <p:to>
                                        <p:strVal val="visible"/>
                                      </p:to>
                                    </p:set>
                                    <p:animEffect transition="in" filter="fade">
                                      <p:cBhvr>
                                        <p:cTn id="22" dur="1000"/>
                                        <p:tgtEl>
                                          <p:spTgt spid="15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4">
                                            <p:txEl>
                                              <p:pRg st="3" end="3"/>
                                            </p:txEl>
                                          </p:spTgt>
                                        </p:tgtEl>
                                        <p:attrNameLst>
                                          <p:attrName>style.visibility</p:attrName>
                                        </p:attrNameLst>
                                      </p:cBhvr>
                                      <p:to>
                                        <p:strVal val="visible"/>
                                      </p:to>
                                    </p:set>
                                    <p:animEffect transition="in" filter="fade">
                                      <p:cBhvr>
                                        <p:cTn id="27" dur="1000"/>
                                        <p:tgtEl>
                                          <p:spTgt spid="15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4">
                                            <p:txEl>
                                              <p:pRg st="4" end="4"/>
                                            </p:txEl>
                                          </p:spTgt>
                                        </p:tgtEl>
                                        <p:attrNameLst>
                                          <p:attrName>style.visibility</p:attrName>
                                        </p:attrNameLst>
                                      </p:cBhvr>
                                      <p:to>
                                        <p:strVal val="visible"/>
                                      </p:to>
                                    </p:set>
                                    <p:animEffect transition="in" filter="fade">
                                      <p:cBhvr>
                                        <p:cTn id="32" dur="1000"/>
                                        <p:tgtEl>
                                          <p:spTgt spid="15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4">
                                            <p:txEl>
                                              <p:pRg st="5" end="5"/>
                                            </p:txEl>
                                          </p:spTgt>
                                        </p:tgtEl>
                                        <p:attrNameLst>
                                          <p:attrName>style.visibility</p:attrName>
                                        </p:attrNameLst>
                                      </p:cBhvr>
                                      <p:to>
                                        <p:strVal val="visible"/>
                                      </p:to>
                                    </p:set>
                                    <p:animEffect transition="in" filter="fade">
                                      <p:cBhvr>
                                        <p:cTn id="37" dur="1000"/>
                                        <p:tgtEl>
                                          <p:spTgt spid="15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4">
                                            <p:txEl>
                                              <p:pRg st="6" end="6"/>
                                            </p:txEl>
                                          </p:spTgt>
                                        </p:tgtEl>
                                        <p:attrNameLst>
                                          <p:attrName>style.visibility</p:attrName>
                                        </p:attrNameLst>
                                      </p:cBhvr>
                                      <p:to>
                                        <p:strVal val="visible"/>
                                      </p:to>
                                    </p:set>
                                    <p:animEffect transition="in" filter="fade">
                                      <p:cBhvr>
                                        <p:cTn id="42" dur="1000"/>
                                        <p:tgtEl>
                                          <p:spTgt spid="15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52"/>
          <p:cNvSpPr txBox="1">
            <a:spLocks noGrp="1"/>
          </p:cNvSpPr>
          <p:nvPr>
            <p:ph type="title"/>
          </p:nvPr>
        </p:nvSpPr>
        <p:spPr>
          <a:xfrm>
            <a:off x="0" y="689811"/>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solidFill>
                  <a:srgbClr val="00B050"/>
                </a:solidFill>
              </a:rPr>
              <a:t>Reinforcement</a:t>
            </a:r>
            <a:endParaRPr dirty="0">
              <a:solidFill>
                <a:srgbClr val="00B050"/>
              </a:solidFill>
            </a:endParaRPr>
          </a:p>
        </p:txBody>
      </p:sp>
      <p:sp>
        <p:nvSpPr>
          <p:cNvPr id="161" name="Google Shape;161;p52"/>
          <p:cNvSpPr txBox="1"/>
          <p:nvPr/>
        </p:nvSpPr>
        <p:spPr>
          <a:xfrm>
            <a:off x="0" y="1397427"/>
            <a:ext cx="9144000" cy="518907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20000"/>
              </a:lnSpc>
              <a:spcBef>
                <a:spcPts val="0"/>
              </a:spcBef>
              <a:spcAft>
                <a:spcPts val="0"/>
              </a:spcAft>
              <a:buClr>
                <a:schemeClr val="dk1"/>
              </a:buClr>
              <a:buSzPts val="2400"/>
              <a:buFont typeface="Arial"/>
              <a:buChar char="•"/>
            </a:pPr>
            <a:r>
              <a:rPr lang="en-US" sz="3200" b="0" i="0" u="none" strike="noStrike" cap="none" dirty="0">
                <a:solidFill>
                  <a:schemeClr val="dk1"/>
                </a:solidFill>
                <a:latin typeface="Arial"/>
                <a:ea typeface="Arial"/>
                <a:cs typeface="Arial"/>
                <a:sym typeface="Arial"/>
              </a:rPr>
              <a:t>A reinforcer is any event that </a:t>
            </a:r>
            <a:r>
              <a:rPr lang="en-US" sz="3200" b="1" i="1" u="none" strike="noStrike" cap="none" dirty="0">
                <a:solidFill>
                  <a:srgbClr val="00B050"/>
                </a:solidFill>
                <a:latin typeface="Arial"/>
                <a:ea typeface="Arial"/>
                <a:cs typeface="Arial"/>
                <a:sym typeface="Arial"/>
              </a:rPr>
              <a:t>strengthens</a:t>
            </a:r>
            <a:r>
              <a:rPr lang="en-US" sz="3200" b="0" i="0" u="none" strike="noStrike" cap="none" dirty="0">
                <a:solidFill>
                  <a:schemeClr val="dk1"/>
                </a:solidFill>
                <a:latin typeface="Arial"/>
                <a:ea typeface="Arial"/>
                <a:cs typeface="Arial"/>
                <a:sym typeface="Arial"/>
              </a:rPr>
              <a:t> the behavior it follows. </a:t>
            </a:r>
            <a:endParaRPr sz="3200" b="0" i="0" u="none" strike="noStrike" cap="none" dirty="0">
              <a:solidFill>
                <a:srgbClr val="000000"/>
              </a:solidFill>
              <a:latin typeface="Arial"/>
              <a:ea typeface="Arial"/>
              <a:cs typeface="Arial"/>
              <a:sym typeface="Arial"/>
            </a:endParaRPr>
          </a:p>
          <a:p>
            <a:pPr marL="285750" marR="0" lvl="0" indent="-285750" algn="l" rtl="0">
              <a:lnSpc>
                <a:spcPct val="120000"/>
              </a:lnSpc>
              <a:spcBef>
                <a:spcPts val="0"/>
              </a:spcBef>
              <a:spcAft>
                <a:spcPts val="0"/>
              </a:spcAft>
              <a:buClr>
                <a:schemeClr val="dk1"/>
              </a:buClr>
              <a:buSzPts val="2400"/>
              <a:buFont typeface="Arial"/>
              <a:buChar char="•"/>
            </a:pPr>
            <a:r>
              <a:rPr lang="en-US" sz="3200" b="0" i="0" u="none" strike="noStrike" cap="none" dirty="0">
                <a:solidFill>
                  <a:schemeClr val="dk1"/>
                </a:solidFill>
                <a:latin typeface="Arial"/>
                <a:ea typeface="Arial"/>
                <a:cs typeface="Arial"/>
                <a:sym typeface="Arial"/>
              </a:rPr>
              <a:t>In an attempt to</a:t>
            </a:r>
            <a:r>
              <a:rPr lang="en-US" sz="3200" b="1" i="0" u="none" strike="noStrike" cap="none" dirty="0">
                <a:solidFill>
                  <a:schemeClr val="dk1"/>
                </a:solidFill>
                <a:latin typeface="Arial"/>
                <a:ea typeface="Arial"/>
                <a:cs typeface="Arial"/>
                <a:sym typeface="Arial"/>
              </a:rPr>
              <a:t> </a:t>
            </a:r>
            <a:r>
              <a:rPr lang="en-US" sz="3200" b="1" i="1" u="none" strike="noStrike" cap="none" dirty="0">
                <a:solidFill>
                  <a:schemeClr val="dk1"/>
                </a:solidFill>
                <a:latin typeface="Arial"/>
                <a:ea typeface="Arial"/>
                <a:cs typeface="Arial"/>
                <a:sym typeface="Arial"/>
              </a:rPr>
              <a:t>increase </a:t>
            </a:r>
            <a:r>
              <a:rPr lang="en-US" sz="3200" b="0" i="0" u="none" strike="noStrike" cap="none" dirty="0">
                <a:solidFill>
                  <a:schemeClr val="dk1"/>
                </a:solidFill>
                <a:latin typeface="Arial"/>
                <a:ea typeface="Arial"/>
                <a:cs typeface="Arial"/>
                <a:sym typeface="Arial"/>
              </a:rPr>
              <a:t>the frequency of a behavior, we can:</a:t>
            </a:r>
            <a:endParaRPr sz="3200" b="0" i="0" u="none" strike="noStrike" cap="none" dirty="0">
              <a:solidFill>
                <a:srgbClr val="000000"/>
              </a:solidFill>
              <a:latin typeface="Arial"/>
              <a:ea typeface="Arial"/>
              <a:cs typeface="Arial"/>
              <a:sym typeface="Arial"/>
            </a:endParaRPr>
          </a:p>
          <a:p>
            <a:pPr marL="742950" marR="0" lvl="1" indent="-285750" algn="l" rtl="0">
              <a:lnSpc>
                <a:spcPct val="120000"/>
              </a:lnSpc>
              <a:spcBef>
                <a:spcPts val="0"/>
              </a:spcBef>
              <a:spcAft>
                <a:spcPts val="0"/>
              </a:spcAft>
              <a:buClr>
                <a:schemeClr val="dk1"/>
              </a:buClr>
              <a:buSzPts val="2000"/>
              <a:buFont typeface="Arial"/>
              <a:buChar char="•"/>
            </a:pPr>
            <a:r>
              <a:rPr lang="en-US" sz="3200" b="0" i="0" u="none" strike="noStrike" cap="none" dirty="0">
                <a:solidFill>
                  <a:schemeClr val="dk1"/>
                </a:solidFill>
                <a:latin typeface="Arial"/>
                <a:ea typeface="Arial"/>
                <a:cs typeface="Arial"/>
                <a:sym typeface="Arial"/>
              </a:rPr>
              <a:t>Administer something desirable </a:t>
            </a:r>
          </a:p>
          <a:p>
            <a:pPr marL="457200" lvl="2">
              <a:lnSpc>
                <a:spcPct val="120000"/>
              </a:lnSpc>
              <a:buClr>
                <a:schemeClr val="dk1"/>
              </a:buClr>
              <a:buSzPts val="2000"/>
            </a:pPr>
            <a:r>
              <a:rPr lang="en-US" sz="3200" dirty="0">
                <a:solidFill>
                  <a:schemeClr val="dk1"/>
                </a:solidFill>
              </a:rPr>
              <a:t>	</a:t>
            </a:r>
            <a:r>
              <a:rPr lang="en-US" sz="3200" b="0" i="0" u="none" strike="noStrike" cap="none" dirty="0">
                <a:solidFill>
                  <a:schemeClr val="dk1"/>
                </a:solidFill>
                <a:latin typeface="Arial"/>
                <a:ea typeface="Arial"/>
                <a:cs typeface="Arial"/>
                <a:sym typeface="Arial"/>
              </a:rPr>
              <a:t>(Positive </a:t>
            </a:r>
            <a:r>
              <a:rPr lang="en-US" sz="3200" dirty="0">
                <a:solidFill>
                  <a:schemeClr val="dk1"/>
                </a:solidFill>
              </a:rPr>
              <a:t>R</a:t>
            </a:r>
            <a:r>
              <a:rPr lang="en-US" sz="3200" b="0" i="0" u="none" strike="noStrike" cap="none" dirty="0">
                <a:solidFill>
                  <a:schemeClr val="dk1"/>
                </a:solidFill>
                <a:latin typeface="Arial"/>
                <a:ea typeface="Arial"/>
                <a:cs typeface="Arial"/>
                <a:sym typeface="Arial"/>
              </a:rPr>
              <a:t>einforcement) </a:t>
            </a:r>
            <a:endParaRPr b="0" i="0" u="none" strike="noStrike" cap="none" dirty="0">
              <a:solidFill>
                <a:srgbClr val="000000"/>
              </a:solidFill>
              <a:latin typeface="Arial"/>
              <a:ea typeface="Arial"/>
              <a:cs typeface="Arial"/>
              <a:sym typeface="Arial"/>
            </a:endParaRPr>
          </a:p>
          <a:p>
            <a:pPr marL="742950" marR="0" lvl="1" indent="-158750" algn="l" rtl="0">
              <a:lnSpc>
                <a:spcPct val="120000"/>
              </a:lnSpc>
              <a:spcBef>
                <a:spcPts val="0"/>
              </a:spcBef>
              <a:spcAft>
                <a:spcPts val="0"/>
              </a:spcAft>
              <a:buClr>
                <a:schemeClr val="dk1"/>
              </a:buClr>
              <a:buSzPts val="2000"/>
              <a:buFont typeface="Arial"/>
              <a:buNone/>
            </a:pPr>
            <a:endParaRPr sz="2000" b="0" i="0" u="none" strike="noStrike" cap="none" dirty="0">
              <a:solidFill>
                <a:schemeClr val="dk1"/>
              </a:solidFill>
              <a:latin typeface="Arial"/>
              <a:ea typeface="Arial"/>
              <a:cs typeface="Arial"/>
              <a:sym typeface="Arial"/>
            </a:endParaRPr>
          </a:p>
          <a:p>
            <a:pPr marL="742950" marR="0" lvl="1" indent="-285750" algn="l" rtl="0">
              <a:lnSpc>
                <a:spcPct val="120000"/>
              </a:lnSpc>
              <a:spcBef>
                <a:spcPts val="0"/>
              </a:spcBef>
              <a:spcAft>
                <a:spcPts val="0"/>
              </a:spcAft>
              <a:buClr>
                <a:schemeClr val="dk1"/>
              </a:buClr>
              <a:buSzPts val="2000"/>
              <a:buFont typeface="Arial"/>
              <a:buChar char="•"/>
            </a:pPr>
            <a:r>
              <a:rPr lang="en-US" sz="3200" b="0" i="0" u="none" strike="noStrike" cap="none" dirty="0">
                <a:solidFill>
                  <a:schemeClr val="dk1"/>
                </a:solidFill>
                <a:latin typeface="Arial"/>
                <a:ea typeface="Arial"/>
                <a:cs typeface="Arial"/>
                <a:sym typeface="Arial"/>
              </a:rPr>
              <a:t>Withdraw something undesirable </a:t>
            </a:r>
          </a:p>
          <a:p>
            <a:pPr marL="457200" lvl="2">
              <a:lnSpc>
                <a:spcPct val="120000"/>
              </a:lnSpc>
              <a:buClr>
                <a:schemeClr val="dk1"/>
              </a:buClr>
              <a:buSzPts val="2000"/>
            </a:pPr>
            <a:r>
              <a:rPr lang="en-US" sz="3200" dirty="0">
                <a:solidFill>
                  <a:schemeClr val="dk1"/>
                </a:solidFill>
              </a:rPr>
              <a:t>	</a:t>
            </a:r>
            <a:r>
              <a:rPr lang="en-US" sz="3200" b="0" i="0" u="none" strike="noStrike" cap="none" dirty="0">
                <a:solidFill>
                  <a:schemeClr val="dk1"/>
                </a:solidFill>
                <a:latin typeface="Arial"/>
                <a:ea typeface="Arial"/>
                <a:cs typeface="Arial"/>
                <a:sym typeface="Arial"/>
              </a:rPr>
              <a:t>(Negative </a:t>
            </a:r>
            <a:r>
              <a:rPr lang="en-US" sz="3200" dirty="0">
                <a:solidFill>
                  <a:schemeClr val="dk1"/>
                </a:solidFill>
              </a:rPr>
              <a:t>R</a:t>
            </a:r>
            <a:r>
              <a:rPr lang="en-US" sz="3200" b="0" i="0" u="none" strike="noStrike" cap="none" dirty="0">
                <a:solidFill>
                  <a:schemeClr val="dk1"/>
                </a:solidFill>
                <a:latin typeface="Arial"/>
                <a:ea typeface="Arial"/>
                <a:cs typeface="Arial"/>
                <a:sym typeface="Arial"/>
              </a:rPr>
              <a:t>einforcement).</a:t>
            </a:r>
            <a:endParaRPr sz="3200" b="0" i="0" u="none" strike="noStrike" cap="none" dirty="0">
              <a:solidFill>
                <a:srgbClr val="000000"/>
              </a:solidFill>
              <a:latin typeface="Arial"/>
              <a:ea typeface="Arial"/>
              <a:cs typeface="Arial"/>
              <a:sym typeface="Arial"/>
            </a:endParaRPr>
          </a:p>
        </p:txBody>
      </p:sp>
      <p:sp>
        <p:nvSpPr>
          <p:cNvPr id="162" name="Google Shape;162;p52"/>
          <p:cNvSpPr txBox="1"/>
          <p:nvPr/>
        </p:nvSpPr>
        <p:spPr>
          <a:xfrm>
            <a:off x="3034463" y="4855994"/>
            <a:ext cx="108585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200" b="0" i="0" u="sng" strike="noStrike" cap="none" dirty="0">
                <a:solidFill>
                  <a:srgbClr val="000000"/>
                </a:solidFill>
                <a:latin typeface="Trebuchet MS"/>
                <a:ea typeface="Trebuchet MS"/>
                <a:cs typeface="Trebuchet MS"/>
                <a:sym typeface="Trebuchet MS"/>
              </a:rPr>
              <a:t>OR</a:t>
            </a:r>
            <a:endParaRPr sz="12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7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xEl>
                                              <p:pRg st="0" end="0"/>
                                            </p:txEl>
                                          </p:spTgt>
                                        </p:tgtEl>
                                        <p:attrNameLst>
                                          <p:attrName>style.visibility</p:attrName>
                                        </p:attrNameLst>
                                      </p:cBhvr>
                                      <p:to>
                                        <p:strVal val="visible"/>
                                      </p:to>
                                    </p:set>
                                    <p:animEffect transition="in" filter="fade">
                                      <p:cBhvr>
                                        <p:cTn id="12" dur="700"/>
                                        <p:tgtEl>
                                          <p:spTgt spid="16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1">
                                            <p:txEl>
                                              <p:pRg st="1" end="1"/>
                                            </p:txEl>
                                          </p:spTgt>
                                        </p:tgtEl>
                                        <p:attrNameLst>
                                          <p:attrName>style.visibility</p:attrName>
                                        </p:attrNameLst>
                                      </p:cBhvr>
                                      <p:to>
                                        <p:strVal val="visible"/>
                                      </p:to>
                                    </p:set>
                                    <p:animEffect transition="in" filter="fade">
                                      <p:cBhvr>
                                        <p:cTn id="17" dur="700"/>
                                        <p:tgtEl>
                                          <p:spTgt spid="16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1">
                                            <p:txEl>
                                              <p:pRg st="2" end="2"/>
                                            </p:txEl>
                                          </p:spTgt>
                                        </p:tgtEl>
                                        <p:attrNameLst>
                                          <p:attrName>style.visibility</p:attrName>
                                        </p:attrNameLst>
                                      </p:cBhvr>
                                      <p:to>
                                        <p:strVal val="visible"/>
                                      </p:to>
                                    </p:set>
                                    <p:animEffect transition="in" filter="fade">
                                      <p:cBhvr>
                                        <p:cTn id="22" dur="700"/>
                                        <p:tgtEl>
                                          <p:spTgt spid="16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1">
                                            <p:txEl>
                                              <p:pRg st="3" end="3"/>
                                            </p:txEl>
                                          </p:spTgt>
                                        </p:tgtEl>
                                        <p:attrNameLst>
                                          <p:attrName>style.visibility</p:attrName>
                                        </p:attrNameLst>
                                      </p:cBhvr>
                                      <p:to>
                                        <p:strVal val="visible"/>
                                      </p:to>
                                    </p:set>
                                    <p:animEffect transition="in" filter="fade">
                                      <p:cBhvr>
                                        <p:cTn id="27" dur="700"/>
                                        <p:tgtEl>
                                          <p:spTgt spid="16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62"/>
                                        </p:tgtEl>
                                        <p:attrNameLst>
                                          <p:attrName>style.visibility</p:attrName>
                                        </p:attrNameLst>
                                      </p:cBhvr>
                                      <p:to>
                                        <p:strVal val="visible"/>
                                      </p:to>
                                    </p:set>
                                    <p:anim calcmode="lin" valueType="num">
                                      <p:cBhvr additive="base">
                                        <p:cTn id="32" dur="500"/>
                                        <p:tgtEl>
                                          <p:spTgt spid="162"/>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1">
                                            <p:txEl>
                                              <p:pRg st="5" end="5"/>
                                            </p:txEl>
                                          </p:spTgt>
                                        </p:tgtEl>
                                        <p:attrNameLst>
                                          <p:attrName>style.visibility</p:attrName>
                                        </p:attrNameLst>
                                      </p:cBhvr>
                                      <p:to>
                                        <p:strVal val="visible"/>
                                      </p:to>
                                    </p:set>
                                    <p:animEffect transition="in" filter="fade">
                                      <p:cBhvr>
                                        <p:cTn id="37" dur="700"/>
                                        <p:tgtEl>
                                          <p:spTgt spid="16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1">
                                            <p:txEl>
                                              <p:pRg st="6" end="6"/>
                                            </p:txEl>
                                          </p:spTgt>
                                        </p:tgtEl>
                                        <p:attrNameLst>
                                          <p:attrName>style.visibility</p:attrName>
                                        </p:attrNameLst>
                                      </p:cBhvr>
                                      <p:to>
                                        <p:strVal val="visible"/>
                                      </p:to>
                                    </p:set>
                                    <p:animEffect transition="in" filter="fade">
                                      <p:cBhvr>
                                        <p:cTn id="42" dur="700"/>
                                        <p:tgtEl>
                                          <p:spTgt spid="16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EF6EC-5358-4538-A72F-6A299ECB48B8}"/>
              </a:ext>
            </a:extLst>
          </p:cNvPr>
          <p:cNvSpPr>
            <a:spLocks noGrp="1"/>
          </p:cNvSpPr>
          <p:nvPr>
            <p:ph type="ctrTitle"/>
          </p:nvPr>
        </p:nvSpPr>
        <p:spPr>
          <a:xfrm>
            <a:off x="0" y="458380"/>
            <a:ext cx="9144000" cy="1470025"/>
          </a:xfrm>
        </p:spPr>
        <p:txBody>
          <a:bodyPr/>
          <a:lstStyle/>
          <a:p>
            <a:pPr algn="ctr"/>
            <a:r>
              <a:rPr lang="en-US" dirty="0">
                <a:solidFill>
                  <a:srgbClr val="0070C0"/>
                </a:solidFill>
              </a:rPr>
              <a:t>Positive</a:t>
            </a:r>
            <a:r>
              <a:rPr lang="en-US" dirty="0"/>
              <a:t> and </a:t>
            </a:r>
            <a:r>
              <a:rPr lang="en-US" dirty="0">
                <a:solidFill>
                  <a:srgbClr val="7030A0"/>
                </a:solidFill>
              </a:rPr>
              <a:t>Negative </a:t>
            </a:r>
          </a:p>
        </p:txBody>
      </p:sp>
      <p:sp>
        <p:nvSpPr>
          <p:cNvPr id="3" name="Subtitle 2">
            <a:extLst>
              <a:ext uri="{FF2B5EF4-FFF2-40B4-BE49-F238E27FC236}">
                <a16:creationId xmlns:a16="http://schemas.microsoft.com/office/drawing/2014/main" id="{3E8FF558-8D5B-022A-B3F5-16CF72FAE23F}"/>
              </a:ext>
            </a:extLst>
          </p:cNvPr>
          <p:cNvSpPr>
            <a:spLocks noGrp="1"/>
          </p:cNvSpPr>
          <p:nvPr>
            <p:ph type="subTitle" idx="1"/>
          </p:nvPr>
        </p:nvSpPr>
        <p:spPr>
          <a:xfrm>
            <a:off x="195941" y="1587137"/>
            <a:ext cx="7955281" cy="1752600"/>
          </a:xfrm>
        </p:spPr>
        <p:txBody>
          <a:bodyPr/>
          <a:lstStyle/>
          <a:p>
            <a:pPr algn="l"/>
            <a:r>
              <a:rPr lang="en-US" dirty="0">
                <a:solidFill>
                  <a:schemeClr val="tx1"/>
                </a:solidFill>
              </a:rPr>
              <a:t>In operant conditioning:</a:t>
            </a:r>
          </a:p>
          <a:p>
            <a:pPr marL="482600" indent="-457200" algn="l">
              <a:buFont typeface="Arial" panose="020B0604020202020204" pitchFamily="34" charset="0"/>
              <a:buChar char="•"/>
            </a:pPr>
            <a:r>
              <a:rPr lang="en-US" b="1" dirty="0">
                <a:solidFill>
                  <a:srgbClr val="0070C0"/>
                </a:solidFill>
              </a:rPr>
              <a:t>Positive</a:t>
            </a:r>
            <a:r>
              <a:rPr lang="en-US" dirty="0">
                <a:solidFill>
                  <a:schemeClr val="tx1"/>
                </a:solidFill>
              </a:rPr>
              <a:t> means that something is being added.</a:t>
            </a:r>
          </a:p>
          <a:p>
            <a:pPr marL="939800" lvl="1" indent="-457200" algn="l">
              <a:buFont typeface="Arial" panose="020B0604020202020204" pitchFamily="34" charset="0"/>
              <a:buChar char="•"/>
            </a:pPr>
            <a:r>
              <a:rPr lang="en-US" dirty="0">
                <a:solidFill>
                  <a:schemeClr val="tx1"/>
                </a:solidFill>
              </a:rPr>
              <a:t>Think of mathematics, positive is like the plus sign (</a:t>
            </a:r>
            <a:r>
              <a:rPr lang="en-US" sz="3200" b="1" dirty="0">
                <a:solidFill>
                  <a:srgbClr val="0070C0"/>
                </a:solidFill>
              </a:rPr>
              <a:t>+</a:t>
            </a:r>
            <a:r>
              <a:rPr lang="en-US" dirty="0">
                <a:solidFill>
                  <a:schemeClr val="tx1"/>
                </a:solidFill>
              </a:rPr>
              <a:t>).</a:t>
            </a:r>
          </a:p>
          <a:p>
            <a:pPr marL="482600" indent="-457200" algn="l">
              <a:buFont typeface="Arial" panose="020B0604020202020204" pitchFamily="34" charset="0"/>
              <a:buChar char="•"/>
            </a:pPr>
            <a:r>
              <a:rPr lang="en-US" b="1" dirty="0">
                <a:solidFill>
                  <a:srgbClr val="7030A0"/>
                </a:solidFill>
              </a:rPr>
              <a:t>Negative</a:t>
            </a:r>
            <a:r>
              <a:rPr lang="en-US" dirty="0">
                <a:solidFill>
                  <a:schemeClr val="tx1"/>
                </a:solidFill>
              </a:rPr>
              <a:t> means that something is being taken away. </a:t>
            </a:r>
          </a:p>
          <a:p>
            <a:pPr marL="939800" lvl="1" indent="-457200" algn="l">
              <a:buFont typeface="Arial" panose="020B0604020202020204" pitchFamily="34" charset="0"/>
              <a:buChar char="•"/>
            </a:pPr>
            <a:r>
              <a:rPr lang="en-US" dirty="0">
                <a:solidFill>
                  <a:schemeClr val="tx1"/>
                </a:solidFill>
              </a:rPr>
              <a:t>Think of mathematics, negative is like the minus sign (</a:t>
            </a:r>
            <a:r>
              <a:rPr lang="en-US" sz="3200" b="1" dirty="0">
                <a:solidFill>
                  <a:srgbClr val="7030A0"/>
                </a:solidFill>
              </a:rPr>
              <a:t>-</a:t>
            </a:r>
            <a:r>
              <a:rPr lang="en-US" dirty="0">
                <a:solidFill>
                  <a:schemeClr val="tx1"/>
                </a:solidFill>
              </a:rPr>
              <a:t>).</a:t>
            </a:r>
          </a:p>
          <a:p>
            <a:pPr marL="939800" lvl="1" indent="-457200" algn="l">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1764079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53"/>
          <p:cNvSpPr txBox="1">
            <a:spLocks noGrp="1"/>
          </p:cNvSpPr>
          <p:nvPr>
            <p:ph type="title"/>
          </p:nvPr>
        </p:nvSpPr>
        <p:spPr>
          <a:xfrm>
            <a:off x="0" y="721895"/>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solidFill>
                  <a:srgbClr val="00B050"/>
                </a:solidFill>
              </a:rPr>
              <a:t>Reinforcement</a:t>
            </a:r>
            <a:endParaRPr dirty="0">
              <a:solidFill>
                <a:srgbClr val="00B050"/>
              </a:solidFill>
            </a:endParaRPr>
          </a:p>
        </p:txBody>
      </p:sp>
      <p:pic>
        <p:nvPicPr>
          <p:cNvPr id="169" name="Google Shape;169;p53"/>
          <p:cNvPicPr preferRelativeResize="0"/>
          <p:nvPr/>
        </p:nvPicPr>
        <p:blipFill rotWithShape="1">
          <a:blip r:embed="rId3">
            <a:alphaModFix/>
          </a:blip>
          <a:srcRect/>
          <a:stretch/>
        </p:blipFill>
        <p:spPr>
          <a:xfrm>
            <a:off x="7358998" y="4591905"/>
            <a:ext cx="1634075" cy="1981497"/>
          </a:xfrm>
          <a:prstGeom prst="rect">
            <a:avLst/>
          </a:prstGeom>
          <a:noFill/>
          <a:ln>
            <a:noFill/>
          </a:ln>
        </p:spPr>
      </p:pic>
      <p:sp>
        <p:nvSpPr>
          <p:cNvPr id="170" name="Google Shape;170;p53"/>
          <p:cNvSpPr txBox="1"/>
          <p:nvPr/>
        </p:nvSpPr>
        <p:spPr>
          <a:xfrm>
            <a:off x="0" y="1524000"/>
            <a:ext cx="8466600" cy="422881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20000"/>
              </a:lnSpc>
              <a:spcBef>
                <a:spcPts val="0"/>
              </a:spcBef>
              <a:spcAft>
                <a:spcPts val="0"/>
              </a:spcAft>
              <a:buClr>
                <a:schemeClr val="dk1"/>
              </a:buClr>
              <a:buSzPts val="2400"/>
              <a:buFont typeface="Arial"/>
              <a:buChar char="•"/>
            </a:pPr>
            <a:r>
              <a:rPr lang="en-US" sz="3200" b="1" i="0" u="none" strike="noStrike" cap="none" dirty="0">
                <a:solidFill>
                  <a:srgbClr val="0070C0"/>
                </a:solidFill>
                <a:latin typeface="Arial"/>
                <a:ea typeface="Arial"/>
                <a:cs typeface="Arial"/>
                <a:sym typeface="Arial"/>
              </a:rPr>
              <a:t>Positive</a:t>
            </a:r>
            <a:r>
              <a:rPr lang="en-US" sz="3200" b="1" dirty="0">
                <a:solidFill>
                  <a:srgbClr val="00B050"/>
                </a:solidFill>
              </a:rPr>
              <a:t> R</a:t>
            </a:r>
            <a:r>
              <a:rPr lang="en-US" sz="3200" b="1" i="0" u="none" strike="noStrike" cap="none" dirty="0">
                <a:solidFill>
                  <a:srgbClr val="00B050"/>
                </a:solidFill>
                <a:latin typeface="Arial"/>
                <a:ea typeface="Arial"/>
                <a:cs typeface="Arial"/>
                <a:sym typeface="Arial"/>
              </a:rPr>
              <a:t>einforcement</a:t>
            </a:r>
            <a:r>
              <a:rPr lang="en-US" sz="3200" b="1" i="0" u="none" strike="noStrike" cap="none" dirty="0">
                <a:solidFill>
                  <a:schemeClr val="dk1"/>
                </a:solidFill>
                <a:latin typeface="Arial"/>
                <a:ea typeface="Arial"/>
                <a:cs typeface="Arial"/>
                <a:sym typeface="Arial"/>
              </a:rPr>
              <a:t> (Ex. Giving a dog a treat for sitting)</a:t>
            </a:r>
            <a:endParaRPr sz="3200" b="0" i="0" u="none" strike="noStrike" cap="none" dirty="0">
              <a:solidFill>
                <a:srgbClr val="000000"/>
              </a:solidFill>
              <a:latin typeface="Arial"/>
              <a:ea typeface="Arial"/>
              <a:cs typeface="Arial"/>
              <a:sym typeface="Arial"/>
            </a:endParaRPr>
          </a:p>
          <a:p>
            <a:pPr marL="742950" marR="0" lvl="1" indent="-285750" algn="l" rtl="0">
              <a:lnSpc>
                <a:spcPct val="120000"/>
              </a:lnSpc>
              <a:spcBef>
                <a:spcPts val="0"/>
              </a:spcBef>
              <a:spcAft>
                <a:spcPts val="0"/>
              </a:spcAft>
              <a:buClr>
                <a:schemeClr val="dk1"/>
              </a:buClr>
              <a:buSzPts val="2000"/>
              <a:buFont typeface="Arial"/>
              <a:buChar char="•"/>
            </a:pPr>
            <a:r>
              <a:rPr lang="en-US" sz="3200" b="0" i="0" u="none" strike="noStrike" cap="none" dirty="0">
                <a:solidFill>
                  <a:schemeClr val="dk1"/>
                </a:solidFill>
                <a:latin typeface="Arial"/>
                <a:ea typeface="Arial"/>
                <a:cs typeface="Arial"/>
                <a:sym typeface="Arial"/>
              </a:rPr>
              <a:t>Increases behaviors by presenting positive reinforcers. </a:t>
            </a:r>
            <a:endParaRPr sz="3200" b="0" i="0" u="none" strike="noStrike" cap="none" dirty="0">
              <a:solidFill>
                <a:srgbClr val="000000"/>
              </a:solidFill>
              <a:latin typeface="Arial"/>
              <a:ea typeface="Arial"/>
              <a:cs typeface="Arial"/>
              <a:sym typeface="Arial"/>
            </a:endParaRPr>
          </a:p>
          <a:p>
            <a:pPr marL="742950" marR="0" lvl="1" indent="-285750" algn="l" rtl="0">
              <a:lnSpc>
                <a:spcPct val="120000"/>
              </a:lnSpc>
              <a:spcBef>
                <a:spcPts val="0"/>
              </a:spcBef>
              <a:spcAft>
                <a:spcPts val="0"/>
              </a:spcAft>
              <a:buClr>
                <a:schemeClr val="dk1"/>
              </a:buClr>
              <a:buSzPts val="2000"/>
              <a:buFont typeface="Arial"/>
              <a:buChar char="•"/>
            </a:pPr>
            <a:r>
              <a:rPr lang="en-US" sz="3200" b="0" i="0" u="none" strike="noStrike" cap="none" dirty="0">
                <a:solidFill>
                  <a:schemeClr val="dk1"/>
                </a:solidFill>
                <a:latin typeface="Arial"/>
                <a:ea typeface="Arial"/>
                <a:cs typeface="Arial"/>
                <a:sym typeface="Arial"/>
              </a:rPr>
              <a:t>A </a:t>
            </a:r>
            <a:r>
              <a:rPr lang="en-US" sz="3200" b="0" i="1" u="none" strike="noStrike" cap="none" dirty="0">
                <a:solidFill>
                  <a:schemeClr val="dk1"/>
                </a:solidFill>
                <a:latin typeface="Arial"/>
                <a:ea typeface="Arial"/>
                <a:cs typeface="Arial"/>
                <a:sym typeface="Arial"/>
              </a:rPr>
              <a:t>positive reinforcer </a:t>
            </a:r>
            <a:r>
              <a:rPr lang="en-US" sz="3200" b="0" i="0" u="none" strike="noStrike" cap="none" dirty="0">
                <a:solidFill>
                  <a:schemeClr val="dk1"/>
                </a:solidFill>
                <a:latin typeface="Arial"/>
                <a:ea typeface="Arial"/>
                <a:cs typeface="Arial"/>
                <a:sym typeface="Arial"/>
              </a:rPr>
              <a:t>is any stimulus that, when </a:t>
            </a:r>
            <a:r>
              <a:rPr lang="en-US" sz="3200" b="0" i="1" u="none" strike="noStrike" cap="none" dirty="0">
                <a:solidFill>
                  <a:schemeClr val="dk1"/>
                </a:solidFill>
                <a:latin typeface="Arial"/>
                <a:ea typeface="Arial"/>
                <a:cs typeface="Arial"/>
                <a:sym typeface="Arial"/>
              </a:rPr>
              <a:t>presented</a:t>
            </a:r>
            <a:r>
              <a:rPr lang="en-US" sz="3200" b="0" i="0" u="none" strike="noStrike" cap="none" dirty="0">
                <a:solidFill>
                  <a:schemeClr val="dk1"/>
                </a:solidFill>
                <a:latin typeface="Arial"/>
                <a:ea typeface="Arial"/>
                <a:cs typeface="Arial"/>
                <a:sym typeface="Arial"/>
              </a:rPr>
              <a:t> after a response, strengthens the response.</a:t>
            </a:r>
            <a:endParaRPr sz="32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fade">
                                      <p:cBhvr>
                                        <p:cTn id="7" dur="700"/>
                                        <p:tgtEl>
                                          <p:spTgt spid="1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0">
                                            <p:txEl>
                                              <p:pRg st="0" end="0"/>
                                            </p:txEl>
                                          </p:spTgt>
                                        </p:tgtEl>
                                        <p:attrNameLst>
                                          <p:attrName>style.visibility</p:attrName>
                                        </p:attrNameLst>
                                      </p:cBhvr>
                                      <p:to>
                                        <p:strVal val="visible"/>
                                      </p:to>
                                    </p:set>
                                    <p:animEffect transition="in" filter="fade">
                                      <p:cBhvr>
                                        <p:cTn id="12" dur="700"/>
                                        <p:tgtEl>
                                          <p:spTgt spid="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0">
                                            <p:txEl>
                                              <p:pRg st="1" end="1"/>
                                            </p:txEl>
                                          </p:spTgt>
                                        </p:tgtEl>
                                        <p:attrNameLst>
                                          <p:attrName>style.visibility</p:attrName>
                                        </p:attrNameLst>
                                      </p:cBhvr>
                                      <p:to>
                                        <p:strVal val="visible"/>
                                      </p:to>
                                    </p:set>
                                    <p:animEffect transition="in" filter="fade">
                                      <p:cBhvr>
                                        <p:cTn id="17" dur="700"/>
                                        <p:tgtEl>
                                          <p:spTgt spid="17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0">
                                            <p:txEl>
                                              <p:pRg st="2" end="2"/>
                                            </p:txEl>
                                          </p:spTgt>
                                        </p:tgtEl>
                                        <p:attrNameLst>
                                          <p:attrName>style.visibility</p:attrName>
                                        </p:attrNameLst>
                                      </p:cBhvr>
                                      <p:to>
                                        <p:strVal val="visible"/>
                                      </p:to>
                                    </p:set>
                                    <p:animEffect transition="in" filter="fade">
                                      <p:cBhvr>
                                        <p:cTn id="22" dur="700"/>
                                        <p:tgtEl>
                                          <p:spTgt spid="170">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69"/>
                                        </p:tgtEl>
                                        <p:attrNameLst>
                                          <p:attrName>style.visibility</p:attrName>
                                        </p:attrNameLst>
                                      </p:cBhvr>
                                      <p:to>
                                        <p:strVal val="visible"/>
                                      </p:to>
                                    </p:set>
                                    <p:animEffect transition="in" filter="fade">
                                      <p:cBhvr>
                                        <p:cTn id="25"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4"/>
          <p:cNvSpPr txBox="1">
            <a:spLocks noGrp="1"/>
          </p:cNvSpPr>
          <p:nvPr>
            <p:ph type="title"/>
          </p:nvPr>
        </p:nvSpPr>
        <p:spPr>
          <a:xfrm>
            <a:off x="0" y="753979"/>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solidFill>
                  <a:srgbClr val="00B050"/>
                </a:solidFill>
              </a:rPr>
              <a:t>Reinforcement</a:t>
            </a:r>
            <a:endParaRPr dirty="0">
              <a:solidFill>
                <a:srgbClr val="00B050"/>
              </a:solidFill>
            </a:endParaRPr>
          </a:p>
        </p:txBody>
      </p:sp>
      <p:sp>
        <p:nvSpPr>
          <p:cNvPr id="177" name="Google Shape;177;p54"/>
          <p:cNvSpPr txBox="1">
            <a:spLocks noGrp="1"/>
          </p:cNvSpPr>
          <p:nvPr>
            <p:ph type="body" idx="1"/>
          </p:nvPr>
        </p:nvSpPr>
        <p:spPr>
          <a:xfrm>
            <a:off x="274108" y="1523999"/>
            <a:ext cx="8751358" cy="4442988"/>
          </a:xfrm>
          <a:prstGeom prst="rect">
            <a:avLst/>
          </a:prstGeom>
          <a:noFill/>
          <a:ln>
            <a:noFill/>
          </a:ln>
        </p:spPr>
        <p:txBody>
          <a:bodyPr spcFirstLastPara="1" wrap="square" lIns="91425" tIns="91425" rIns="91425" bIns="91425" anchor="t" anchorCtr="0">
            <a:noAutofit/>
          </a:bodyPr>
          <a:lstStyle/>
          <a:p>
            <a:pPr marL="342900" lvl="0" indent="-222250" algn="l" rtl="0">
              <a:lnSpc>
                <a:spcPct val="120000"/>
              </a:lnSpc>
              <a:spcBef>
                <a:spcPts val="0"/>
              </a:spcBef>
              <a:spcAft>
                <a:spcPts val="0"/>
              </a:spcAft>
              <a:buSzPts val="2400"/>
              <a:buChar char="•"/>
            </a:pPr>
            <a:r>
              <a:rPr lang="en-US" sz="3000" b="1" dirty="0">
                <a:solidFill>
                  <a:srgbClr val="7030A0"/>
                </a:solidFill>
                <a:latin typeface="Arial"/>
                <a:ea typeface="Arial"/>
                <a:cs typeface="Arial"/>
                <a:sym typeface="Arial"/>
              </a:rPr>
              <a:t>Negative</a:t>
            </a:r>
            <a:r>
              <a:rPr lang="en-US" sz="3000" b="1" dirty="0">
                <a:solidFill>
                  <a:srgbClr val="0070C0"/>
                </a:solidFill>
                <a:latin typeface="Arial"/>
                <a:ea typeface="Arial"/>
                <a:cs typeface="Arial"/>
                <a:sym typeface="Arial"/>
              </a:rPr>
              <a:t> </a:t>
            </a:r>
            <a:r>
              <a:rPr lang="en-US" sz="3000" b="1" dirty="0">
                <a:solidFill>
                  <a:srgbClr val="00B050"/>
                </a:solidFill>
                <a:latin typeface="Arial"/>
                <a:ea typeface="Arial"/>
                <a:cs typeface="Arial"/>
                <a:sym typeface="Arial"/>
              </a:rPr>
              <a:t>Reinforcement</a:t>
            </a:r>
            <a:r>
              <a:rPr lang="en-US" sz="3000" b="1" dirty="0">
                <a:latin typeface="Arial"/>
                <a:ea typeface="Arial"/>
                <a:cs typeface="Arial"/>
                <a:sym typeface="Arial"/>
              </a:rPr>
              <a:t> (Ex. The beeping noise in your car stopping when you put your seatbelt on)</a:t>
            </a:r>
            <a:endParaRPr sz="3000" dirty="0"/>
          </a:p>
          <a:p>
            <a:pPr marL="742950" lvl="1" indent="-177800" algn="l" rtl="0">
              <a:lnSpc>
                <a:spcPct val="120000"/>
              </a:lnSpc>
              <a:spcBef>
                <a:spcPts val="0"/>
              </a:spcBef>
              <a:spcAft>
                <a:spcPts val="0"/>
              </a:spcAft>
              <a:buSzPts val="1800"/>
              <a:buChar char="•"/>
            </a:pPr>
            <a:r>
              <a:rPr lang="en-US" sz="3000" dirty="0">
                <a:latin typeface="Arial"/>
                <a:ea typeface="Arial"/>
                <a:cs typeface="Arial"/>
                <a:sym typeface="Arial"/>
              </a:rPr>
              <a:t>Increases behaviors by stopping or reducing unwanted stimuli.</a:t>
            </a:r>
            <a:endParaRPr sz="3000" dirty="0"/>
          </a:p>
          <a:p>
            <a:pPr marL="742950" lvl="1" indent="-177800" algn="l" rtl="0">
              <a:lnSpc>
                <a:spcPct val="120000"/>
              </a:lnSpc>
              <a:spcBef>
                <a:spcPts val="0"/>
              </a:spcBef>
              <a:spcAft>
                <a:spcPts val="0"/>
              </a:spcAft>
              <a:buSzPts val="1800"/>
              <a:buChar char="•"/>
            </a:pPr>
            <a:r>
              <a:rPr lang="en-US" sz="3000" dirty="0">
                <a:latin typeface="Arial"/>
                <a:ea typeface="Arial"/>
                <a:cs typeface="Arial"/>
                <a:sym typeface="Arial"/>
              </a:rPr>
              <a:t>A </a:t>
            </a:r>
            <a:r>
              <a:rPr lang="en-US" sz="3000" i="1" dirty="0">
                <a:latin typeface="Arial"/>
                <a:ea typeface="Arial"/>
                <a:cs typeface="Arial"/>
                <a:sym typeface="Arial"/>
              </a:rPr>
              <a:t>negative reinforcer</a:t>
            </a:r>
            <a:r>
              <a:rPr lang="en-US" sz="3000" dirty="0">
                <a:latin typeface="Arial"/>
                <a:ea typeface="Arial"/>
                <a:cs typeface="Arial"/>
                <a:sym typeface="Arial"/>
              </a:rPr>
              <a:t> is any stimulus that, when </a:t>
            </a:r>
            <a:r>
              <a:rPr lang="en-US" sz="3000" i="1" dirty="0">
                <a:latin typeface="Arial"/>
                <a:ea typeface="Arial"/>
                <a:cs typeface="Arial"/>
                <a:sym typeface="Arial"/>
              </a:rPr>
              <a:t>removed</a:t>
            </a:r>
            <a:r>
              <a:rPr lang="en-US" sz="3000" dirty="0">
                <a:latin typeface="Arial"/>
                <a:ea typeface="Arial"/>
                <a:cs typeface="Arial"/>
                <a:sym typeface="Arial"/>
              </a:rPr>
              <a:t> after a response, strengthens the response. </a:t>
            </a:r>
            <a:endParaRPr sz="3000" dirty="0"/>
          </a:p>
          <a:p>
            <a:pPr marL="742950" lvl="1" indent="-177800" algn="l" rtl="0">
              <a:lnSpc>
                <a:spcPct val="120000"/>
              </a:lnSpc>
              <a:spcBef>
                <a:spcPts val="0"/>
              </a:spcBef>
              <a:spcAft>
                <a:spcPts val="0"/>
              </a:spcAft>
              <a:buSzPts val="1800"/>
              <a:buChar char="•"/>
            </a:pPr>
            <a:r>
              <a:rPr lang="en-US" sz="2000" dirty="0">
                <a:latin typeface="Arial"/>
                <a:ea typeface="Arial"/>
                <a:cs typeface="Arial"/>
                <a:sym typeface="Arial"/>
              </a:rPr>
              <a:t>(</a:t>
            </a:r>
            <a:r>
              <a:rPr lang="en-US" sz="2000" i="1" dirty="0">
                <a:latin typeface="Arial"/>
                <a:ea typeface="Arial"/>
                <a:cs typeface="Arial"/>
                <a:sym typeface="Arial"/>
              </a:rPr>
              <a:t>Note: </a:t>
            </a:r>
            <a:r>
              <a:rPr lang="en-US" sz="2000" dirty="0">
                <a:latin typeface="Arial"/>
                <a:ea typeface="Arial"/>
                <a:cs typeface="Arial"/>
                <a:sym typeface="Arial"/>
              </a:rPr>
              <a:t>Negative reinforcement is </a:t>
            </a:r>
            <a:r>
              <a:rPr lang="en-US" sz="2000" b="1" dirty="0">
                <a:latin typeface="Arial"/>
                <a:ea typeface="Arial"/>
                <a:cs typeface="Arial"/>
                <a:sym typeface="Arial"/>
              </a:rPr>
              <a:t>NOT</a:t>
            </a:r>
            <a:r>
              <a:rPr lang="en-US" sz="2000" dirty="0">
                <a:latin typeface="Arial"/>
                <a:ea typeface="Arial"/>
                <a:cs typeface="Arial"/>
                <a:sym typeface="Arial"/>
              </a:rPr>
              <a:t> punishment.)</a:t>
            </a:r>
            <a:endParaRPr sz="2000" dirty="0"/>
          </a:p>
        </p:txBody>
      </p:sp>
      <p:pic>
        <p:nvPicPr>
          <p:cNvPr id="178" name="Google Shape;178;p54"/>
          <p:cNvPicPr preferRelativeResize="0"/>
          <p:nvPr/>
        </p:nvPicPr>
        <p:blipFill rotWithShape="1">
          <a:blip r:embed="rId3">
            <a:alphaModFix/>
          </a:blip>
          <a:srcRect/>
          <a:stretch/>
        </p:blipFill>
        <p:spPr>
          <a:xfrm>
            <a:off x="8097211" y="5366956"/>
            <a:ext cx="928255" cy="120006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700"/>
                                        <p:tgtEl>
                                          <p:spTgt spid="1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
                                            <p:txEl>
                                              <p:pRg st="0" end="0"/>
                                            </p:txEl>
                                          </p:spTgt>
                                        </p:tgtEl>
                                        <p:attrNameLst>
                                          <p:attrName>style.visibility</p:attrName>
                                        </p:attrNameLst>
                                      </p:cBhvr>
                                      <p:to>
                                        <p:strVal val="visible"/>
                                      </p:to>
                                    </p:set>
                                    <p:animEffect transition="in" filter="fade">
                                      <p:cBhvr>
                                        <p:cTn id="12" dur="700"/>
                                        <p:tgtEl>
                                          <p:spTgt spid="17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7">
                                            <p:txEl>
                                              <p:pRg st="1" end="1"/>
                                            </p:txEl>
                                          </p:spTgt>
                                        </p:tgtEl>
                                        <p:attrNameLst>
                                          <p:attrName>style.visibility</p:attrName>
                                        </p:attrNameLst>
                                      </p:cBhvr>
                                      <p:to>
                                        <p:strVal val="visible"/>
                                      </p:to>
                                    </p:set>
                                    <p:animEffect transition="in" filter="fade">
                                      <p:cBhvr>
                                        <p:cTn id="17" dur="700"/>
                                        <p:tgtEl>
                                          <p:spTgt spid="17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7">
                                            <p:txEl>
                                              <p:pRg st="2" end="2"/>
                                            </p:txEl>
                                          </p:spTgt>
                                        </p:tgtEl>
                                        <p:attrNameLst>
                                          <p:attrName>style.visibility</p:attrName>
                                        </p:attrNameLst>
                                      </p:cBhvr>
                                      <p:to>
                                        <p:strVal val="visible"/>
                                      </p:to>
                                    </p:set>
                                    <p:animEffect transition="in" filter="fade">
                                      <p:cBhvr>
                                        <p:cTn id="22" dur="700"/>
                                        <p:tgtEl>
                                          <p:spTgt spid="17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7">
                                            <p:txEl>
                                              <p:pRg st="3" end="3"/>
                                            </p:txEl>
                                          </p:spTgt>
                                        </p:tgtEl>
                                        <p:attrNameLst>
                                          <p:attrName>style.visibility</p:attrName>
                                        </p:attrNameLst>
                                      </p:cBhvr>
                                      <p:to>
                                        <p:strVal val="visible"/>
                                      </p:to>
                                    </p:set>
                                    <p:animEffect transition="in" filter="fade">
                                      <p:cBhvr>
                                        <p:cTn id="27" dur="700"/>
                                        <p:tgtEl>
                                          <p:spTgt spid="177">
                                            <p:txEl>
                                              <p:pRg st="3" end="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78"/>
                                        </p:tgtEl>
                                        <p:attrNameLst>
                                          <p:attrName>style.visibility</p:attrName>
                                        </p:attrNameLst>
                                      </p:cBhvr>
                                      <p:to>
                                        <p:strVal val="visible"/>
                                      </p:to>
                                    </p:set>
                                    <p:animEffect transition="in" filter="fade">
                                      <p:cBhvr>
                                        <p:cTn id="30"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Question 4</a:t>
            </a:r>
            <a:endParaRPr dirty="0"/>
          </a:p>
        </p:txBody>
      </p:sp>
      <p:sp>
        <p:nvSpPr>
          <p:cNvPr id="185" name="Google Shape;185;p11"/>
          <p:cNvSpPr txBox="1"/>
          <p:nvPr/>
        </p:nvSpPr>
        <p:spPr>
          <a:xfrm>
            <a:off x="0" y="1514301"/>
            <a:ext cx="9144000" cy="4876799"/>
          </a:xfrm>
          <a:prstGeom prst="rect">
            <a:avLst/>
          </a:prstGeom>
          <a:noFill/>
          <a:ln>
            <a:noFill/>
          </a:ln>
        </p:spPr>
        <p:txBody>
          <a:bodyPr spcFirstLastPara="1" wrap="square" lIns="91425" tIns="91425" rIns="91425" bIns="91425" anchor="t" anchorCtr="0">
            <a:noAutofit/>
          </a:bodyPr>
          <a:lstStyle/>
          <a:p>
            <a:pPr marL="120650" marR="0" lvl="0" indent="0" algn="l" rtl="0">
              <a:lnSpc>
                <a:spcPct val="100000"/>
              </a:lnSpc>
              <a:spcBef>
                <a:spcPts val="0"/>
              </a:spcBef>
              <a:spcAft>
                <a:spcPts val="0"/>
              </a:spcAft>
              <a:buClr>
                <a:schemeClr val="dk1"/>
              </a:buClr>
              <a:buSzPts val="3200"/>
              <a:buFont typeface="Arial"/>
              <a:buNone/>
            </a:pPr>
            <a:r>
              <a:rPr lang="en-US" sz="3200" b="0" i="0" u="none" strike="noStrike" cap="none" dirty="0">
                <a:solidFill>
                  <a:schemeClr val="dk1"/>
                </a:solidFill>
                <a:latin typeface="Trebuchet MS"/>
                <a:ea typeface="Trebuchet MS"/>
                <a:cs typeface="Trebuchet MS"/>
                <a:sym typeface="Trebuchet MS"/>
              </a:rPr>
              <a:t>When we say a reinforcer or a punisher is </a:t>
            </a:r>
            <a:r>
              <a:rPr lang="en-US" sz="3200" b="0" i="0" u="none" strike="noStrike" cap="none" dirty="0">
                <a:solidFill>
                  <a:srgbClr val="0070C0"/>
                </a:solidFill>
                <a:latin typeface="Trebuchet MS"/>
                <a:ea typeface="Trebuchet MS"/>
                <a:cs typeface="Trebuchet MS"/>
                <a:sym typeface="Trebuchet MS"/>
              </a:rPr>
              <a:t>POSITIVE</a:t>
            </a:r>
            <a:r>
              <a:rPr lang="en-US" sz="3200" b="0" i="0" u="none" strike="noStrike" cap="none" dirty="0">
                <a:solidFill>
                  <a:schemeClr val="dk1"/>
                </a:solidFill>
                <a:latin typeface="Trebuchet MS"/>
                <a:ea typeface="Trebuchet MS"/>
                <a:cs typeface="Trebuchet MS"/>
                <a:sym typeface="Trebuchet MS"/>
              </a:rPr>
              <a:t>, we mean ____.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We agree with the reinforcement or punishment.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12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The reinforcement or punishment is a good thing.</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12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The reinforcement or punishment is beneficial for the recipient.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12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Something is being added. </a:t>
            </a:r>
            <a:endParaRPr sz="1400" b="0" i="0" u="none" strike="noStrike" cap="none" dirty="0">
              <a:solidFill>
                <a:srgbClr val="000000"/>
              </a:solidFill>
              <a:latin typeface="Arial"/>
              <a:ea typeface="Arial"/>
              <a:cs typeface="Arial"/>
              <a:sym typeface="Arial"/>
            </a:endParaRPr>
          </a:p>
          <a:p>
            <a:pPr marL="120650" marR="0" lvl="0" indent="0" algn="l" rtl="0">
              <a:lnSpc>
                <a:spcPct val="100000"/>
              </a:lnSpc>
              <a:spcBef>
                <a:spcPts val="1240"/>
              </a:spcBef>
              <a:spcAft>
                <a:spcPts val="0"/>
              </a:spcAft>
              <a:buClr>
                <a:schemeClr val="dk1"/>
              </a:buClr>
              <a:buSzPts val="3200"/>
              <a:buFont typeface="Arial"/>
              <a:buNone/>
            </a:pPr>
            <a:endParaRPr sz="3200" b="0" i="0" u="none" strike="noStrike" cap="none" dirty="0">
              <a:solidFill>
                <a:schemeClr val="dk1"/>
              </a:solidFill>
              <a:latin typeface="Trebuchet MS"/>
              <a:ea typeface="Trebuchet MS"/>
              <a:cs typeface="Trebuchet MS"/>
              <a:sym typeface="Trebuchet MS"/>
            </a:endParaRPr>
          </a:p>
          <a:p>
            <a:pPr marL="635000" marR="0" lvl="0" indent="-311150" algn="l" rtl="0">
              <a:lnSpc>
                <a:spcPct val="100000"/>
              </a:lnSpc>
              <a:spcBef>
                <a:spcPts val="640"/>
              </a:spcBef>
              <a:spcAft>
                <a:spcPts val="0"/>
              </a:spcAft>
              <a:buClr>
                <a:schemeClr val="dk1"/>
              </a:buClr>
              <a:buSzPts val="3200"/>
              <a:buFont typeface="Arial"/>
              <a:buNone/>
            </a:pPr>
            <a:endParaRPr sz="3200" b="0" i="0" u="none" strike="noStrike" cap="none" dirty="0">
              <a:solidFill>
                <a:schemeClr val="dk1"/>
              </a:solidFill>
              <a:latin typeface="Trebuchet MS"/>
              <a:ea typeface="Trebuchet MS"/>
              <a:cs typeface="Trebuchet MS"/>
              <a:sym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Question 4—ANSWER </a:t>
            </a:r>
            <a:endParaRPr dirty="0"/>
          </a:p>
        </p:txBody>
      </p:sp>
      <p:sp>
        <p:nvSpPr>
          <p:cNvPr id="192" name="Google Shape;192;p12"/>
          <p:cNvSpPr txBox="1"/>
          <p:nvPr/>
        </p:nvSpPr>
        <p:spPr>
          <a:xfrm>
            <a:off x="0" y="1747058"/>
            <a:ext cx="9144000" cy="4876799"/>
          </a:xfrm>
          <a:prstGeom prst="rect">
            <a:avLst/>
          </a:prstGeom>
          <a:noFill/>
          <a:ln>
            <a:noFill/>
          </a:ln>
        </p:spPr>
        <p:txBody>
          <a:bodyPr spcFirstLastPara="1" wrap="square" lIns="91425" tIns="91425" rIns="91425" bIns="91425" anchor="t" anchorCtr="0">
            <a:noAutofit/>
          </a:bodyPr>
          <a:lstStyle/>
          <a:p>
            <a:pPr marL="120650" marR="0" lvl="0" indent="0" algn="l" rtl="0">
              <a:lnSpc>
                <a:spcPct val="100000"/>
              </a:lnSpc>
              <a:spcBef>
                <a:spcPts val="0"/>
              </a:spcBef>
              <a:spcAft>
                <a:spcPts val="0"/>
              </a:spcAft>
              <a:buClr>
                <a:schemeClr val="dk1"/>
              </a:buClr>
              <a:buSzPts val="3200"/>
              <a:buFont typeface="Arial"/>
              <a:buNone/>
            </a:pPr>
            <a:r>
              <a:rPr lang="en-US" sz="3200" b="0" i="0" u="none" strike="noStrike" cap="none">
                <a:solidFill>
                  <a:schemeClr val="dk1"/>
                </a:solidFill>
                <a:latin typeface="Trebuchet MS"/>
                <a:ea typeface="Trebuchet MS"/>
                <a:cs typeface="Trebuchet MS"/>
                <a:sym typeface="Trebuchet MS"/>
              </a:rPr>
              <a:t>When we say a reinforcer or a punisher is </a:t>
            </a:r>
            <a:r>
              <a:rPr lang="en-US" sz="3200" b="0" i="0" u="none" strike="noStrike" cap="none">
                <a:solidFill>
                  <a:srgbClr val="0070C0"/>
                </a:solidFill>
                <a:latin typeface="Trebuchet MS"/>
                <a:ea typeface="Trebuchet MS"/>
                <a:cs typeface="Trebuchet MS"/>
                <a:sym typeface="Trebuchet MS"/>
              </a:rPr>
              <a:t>POSITIVE</a:t>
            </a:r>
            <a:r>
              <a:rPr lang="en-US" sz="3200" b="0" i="0" u="none" strike="noStrike" cap="none">
                <a:solidFill>
                  <a:schemeClr val="dk1"/>
                </a:solidFill>
                <a:latin typeface="Trebuchet MS"/>
                <a:ea typeface="Trebuchet MS"/>
                <a:cs typeface="Trebuchet MS"/>
                <a:sym typeface="Trebuchet MS"/>
              </a:rPr>
              <a:t>, we mean ____. </a:t>
            </a:r>
            <a:endParaRPr sz="1400" b="0" i="0" u="none" strike="noStrike" cap="none">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a:solidFill>
                  <a:schemeClr val="dk1"/>
                </a:solidFill>
                <a:latin typeface="Trebuchet MS"/>
                <a:ea typeface="Trebuchet MS"/>
                <a:cs typeface="Trebuchet MS"/>
                <a:sym typeface="Trebuchet MS"/>
              </a:rPr>
              <a:t>We agree with the reinforcement or punishment. </a:t>
            </a:r>
            <a:endParaRPr sz="1400" b="0" i="0" u="none" strike="noStrike" cap="none">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a:solidFill>
                  <a:schemeClr val="dk1"/>
                </a:solidFill>
                <a:latin typeface="Trebuchet MS"/>
                <a:ea typeface="Trebuchet MS"/>
                <a:cs typeface="Trebuchet MS"/>
                <a:sym typeface="Trebuchet MS"/>
              </a:rPr>
              <a:t>The reinforcement or punishment is a good thing.</a:t>
            </a:r>
            <a:endParaRPr sz="1400" b="0" i="0" u="none" strike="noStrike" cap="none">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a:solidFill>
                  <a:schemeClr val="dk1"/>
                </a:solidFill>
                <a:latin typeface="Trebuchet MS"/>
                <a:ea typeface="Trebuchet MS"/>
                <a:cs typeface="Trebuchet MS"/>
                <a:sym typeface="Trebuchet MS"/>
              </a:rPr>
              <a:t>The reinforcement or punishment is beneficial for the recipient. </a:t>
            </a:r>
            <a:endParaRPr sz="1400" b="0" i="0" u="none" strike="noStrike" cap="none">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1" i="0" u="sng" strike="noStrike" cap="none">
                <a:solidFill>
                  <a:srgbClr val="0070C0"/>
                </a:solidFill>
                <a:latin typeface="Trebuchet MS"/>
                <a:ea typeface="Trebuchet MS"/>
                <a:cs typeface="Trebuchet MS"/>
                <a:sym typeface="Trebuchet MS"/>
              </a:rPr>
              <a:t>Something is being added. </a:t>
            </a:r>
            <a:endParaRPr sz="1400" b="0" i="0" u="none" strike="noStrike" cap="none">
              <a:solidFill>
                <a:srgbClr val="0070C0"/>
              </a:solidFill>
              <a:latin typeface="Arial"/>
              <a:ea typeface="Arial"/>
              <a:cs typeface="Arial"/>
              <a:sym typeface="Arial"/>
            </a:endParaRPr>
          </a:p>
          <a:p>
            <a:pPr marL="120650" marR="0" lvl="0" indent="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Trebuchet MS"/>
              <a:ea typeface="Trebuchet MS"/>
              <a:cs typeface="Trebuchet MS"/>
              <a:sym typeface="Trebuchet MS"/>
            </a:endParaRPr>
          </a:p>
          <a:p>
            <a:pPr marL="635000" marR="0" lvl="0" indent="-31115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Trebuchet MS"/>
              <a:ea typeface="Trebuchet MS"/>
              <a:cs typeface="Trebuchet MS"/>
              <a:sym typeface="Trebuchet M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55"/>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solidFill>
                  <a:srgbClr val="FF0000"/>
                </a:solidFill>
              </a:rPr>
              <a:t>Punishment</a:t>
            </a:r>
            <a:endParaRPr>
              <a:solidFill>
                <a:srgbClr val="FF0000"/>
              </a:solidFill>
            </a:endParaRPr>
          </a:p>
        </p:txBody>
      </p:sp>
      <p:sp>
        <p:nvSpPr>
          <p:cNvPr id="199" name="Google Shape;199;p55"/>
          <p:cNvSpPr txBox="1"/>
          <p:nvPr/>
        </p:nvSpPr>
        <p:spPr>
          <a:xfrm>
            <a:off x="467096" y="1571725"/>
            <a:ext cx="7817922" cy="452427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400"/>
              <a:buFont typeface="Arial"/>
              <a:buChar char="•"/>
            </a:pPr>
            <a:r>
              <a:rPr lang="en-US" sz="3200" b="0" i="0" u="none" strike="noStrike" cap="none" dirty="0">
                <a:solidFill>
                  <a:schemeClr val="dk1"/>
                </a:solidFill>
                <a:latin typeface="Arial"/>
                <a:ea typeface="Arial"/>
                <a:cs typeface="Arial"/>
                <a:sym typeface="Arial"/>
              </a:rPr>
              <a:t>A punisher is any event that </a:t>
            </a:r>
            <a:r>
              <a:rPr lang="en-US" sz="3200" b="1" i="1" u="none" strike="noStrike" cap="none" dirty="0">
                <a:solidFill>
                  <a:srgbClr val="FF0000"/>
                </a:solidFill>
                <a:latin typeface="Arial"/>
                <a:ea typeface="Arial"/>
                <a:cs typeface="Arial"/>
                <a:sym typeface="Arial"/>
              </a:rPr>
              <a:t>weakens</a:t>
            </a:r>
            <a:r>
              <a:rPr lang="en-US" sz="3200" b="0" i="0" u="none" strike="noStrike" cap="none" dirty="0">
                <a:solidFill>
                  <a:schemeClr val="dk1"/>
                </a:solidFill>
                <a:latin typeface="Arial"/>
                <a:ea typeface="Arial"/>
                <a:cs typeface="Arial"/>
                <a:sym typeface="Arial"/>
              </a:rPr>
              <a:t> the behavior it follows. </a:t>
            </a:r>
            <a:endParaRPr sz="32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400"/>
              <a:buFont typeface="Arial"/>
              <a:buChar char="•"/>
            </a:pPr>
            <a:r>
              <a:rPr lang="en-US" sz="3200" b="0" i="0" u="none" strike="noStrike" cap="none" dirty="0">
                <a:solidFill>
                  <a:schemeClr val="dk1"/>
                </a:solidFill>
                <a:latin typeface="Arial"/>
                <a:ea typeface="Arial"/>
                <a:cs typeface="Arial"/>
                <a:sym typeface="Arial"/>
              </a:rPr>
              <a:t>In an attempt to </a:t>
            </a:r>
            <a:r>
              <a:rPr lang="en-US" sz="3200" b="1" i="1" u="none" strike="noStrike" cap="none" dirty="0">
                <a:solidFill>
                  <a:srgbClr val="FF0000"/>
                </a:solidFill>
                <a:latin typeface="Arial"/>
                <a:ea typeface="Arial"/>
                <a:cs typeface="Arial"/>
                <a:sym typeface="Arial"/>
              </a:rPr>
              <a:t>decrease</a:t>
            </a:r>
            <a:r>
              <a:rPr lang="en-US" sz="3200" b="0" i="0" u="none" strike="noStrike" cap="none" dirty="0">
                <a:solidFill>
                  <a:schemeClr val="dk1"/>
                </a:solidFill>
                <a:latin typeface="Arial"/>
                <a:ea typeface="Arial"/>
                <a:cs typeface="Arial"/>
                <a:sym typeface="Arial"/>
              </a:rPr>
              <a:t> the frequency of a behavior </a:t>
            </a:r>
            <a:endParaRPr sz="32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2400"/>
              <a:buFont typeface="Arial"/>
              <a:buChar char="•"/>
            </a:pPr>
            <a:r>
              <a:rPr lang="en-US" sz="3200" b="0" i="0" u="none" strike="noStrike" cap="none" dirty="0">
                <a:solidFill>
                  <a:schemeClr val="dk1"/>
                </a:solidFill>
                <a:latin typeface="Arial"/>
                <a:ea typeface="Arial"/>
                <a:cs typeface="Arial"/>
                <a:sym typeface="Arial"/>
              </a:rPr>
              <a:t>Administer something undesirable (</a:t>
            </a:r>
            <a:r>
              <a:rPr lang="en-US" sz="3200" b="0" i="1" u="none" strike="noStrike" cap="none" dirty="0">
                <a:solidFill>
                  <a:schemeClr val="dk1"/>
                </a:solidFill>
                <a:latin typeface="Arial"/>
                <a:ea typeface="Arial"/>
                <a:cs typeface="Arial"/>
                <a:sym typeface="Arial"/>
              </a:rPr>
              <a:t>Positive Punishment)</a:t>
            </a:r>
            <a:endParaRPr sz="1400" b="0" i="0" u="none" strike="noStrike" cap="none" dirty="0">
              <a:solidFill>
                <a:srgbClr val="000000"/>
              </a:solidFill>
              <a:latin typeface="Arial"/>
              <a:ea typeface="Arial"/>
              <a:cs typeface="Arial"/>
              <a:sym typeface="Arial"/>
            </a:endParaRPr>
          </a:p>
          <a:p>
            <a:pPr marL="800100" marR="0" lvl="1" indent="-190500" algn="l" rtl="0">
              <a:lnSpc>
                <a:spcPct val="100000"/>
              </a:lnSpc>
              <a:spcBef>
                <a:spcPts val="0"/>
              </a:spcBef>
              <a:spcAft>
                <a:spcPts val="0"/>
              </a:spcAft>
              <a:buClr>
                <a:schemeClr val="dk1"/>
              </a:buClr>
              <a:buSzPts val="2400"/>
              <a:buFont typeface="Arial"/>
              <a:buNone/>
            </a:pPr>
            <a:endParaRPr sz="3200" b="0" i="0" u="none" strike="noStrike" cap="none" dirty="0">
              <a:solidFill>
                <a:schemeClr val="dk1"/>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2400"/>
              <a:buFont typeface="Arial"/>
              <a:buChar char="•"/>
            </a:pPr>
            <a:r>
              <a:rPr lang="en-US" sz="3200" b="0" i="0" u="none" strike="noStrike" cap="none" dirty="0">
                <a:solidFill>
                  <a:schemeClr val="dk1"/>
                </a:solidFill>
                <a:latin typeface="Arial"/>
                <a:ea typeface="Arial"/>
                <a:cs typeface="Arial"/>
                <a:sym typeface="Arial"/>
              </a:rPr>
              <a:t>Withdraw something desirable </a:t>
            </a:r>
            <a:r>
              <a:rPr lang="en-US" sz="3200" b="0" i="1" u="none" strike="noStrike" cap="none" dirty="0">
                <a:solidFill>
                  <a:schemeClr val="dk1"/>
                </a:solidFill>
                <a:latin typeface="Arial"/>
                <a:ea typeface="Arial"/>
                <a:cs typeface="Arial"/>
                <a:sym typeface="Arial"/>
              </a:rPr>
              <a:t>(Negative Punishment).</a:t>
            </a:r>
            <a:endParaRPr sz="3200" b="0" i="1" u="none" strike="noStrike" cap="none" dirty="0">
              <a:solidFill>
                <a:srgbClr val="000000"/>
              </a:solidFill>
              <a:latin typeface="Arial"/>
              <a:ea typeface="Arial"/>
              <a:cs typeface="Arial"/>
              <a:sym typeface="Arial"/>
            </a:endParaRPr>
          </a:p>
        </p:txBody>
      </p:sp>
      <p:sp>
        <p:nvSpPr>
          <p:cNvPr id="200" name="Google Shape;200;p55"/>
          <p:cNvSpPr txBox="1"/>
          <p:nvPr/>
        </p:nvSpPr>
        <p:spPr>
          <a:xfrm>
            <a:off x="8058150" y="2164824"/>
            <a:ext cx="788967" cy="8617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endParaRPr sz="3600" b="0" i="0" u="sng" strike="noStrike" cap="none">
              <a:solidFill>
                <a:srgbClr val="000000"/>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55"/>
          <p:cNvSpPr txBox="1"/>
          <p:nvPr/>
        </p:nvSpPr>
        <p:spPr>
          <a:xfrm>
            <a:off x="3917247" y="4456708"/>
            <a:ext cx="78896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sng" strike="noStrike" cap="none">
                <a:solidFill>
                  <a:srgbClr val="000000"/>
                </a:solidFill>
                <a:latin typeface="Trebuchet MS"/>
                <a:ea typeface="Trebuchet MS"/>
                <a:cs typeface="Trebuchet MS"/>
                <a:sym typeface="Trebuchet MS"/>
              </a:rPr>
              <a:t>OR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xEl>
                                              <p:pRg st="0" end="0"/>
                                            </p:txEl>
                                          </p:spTgt>
                                        </p:tgtEl>
                                        <p:attrNameLst>
                                          <p:attrName>style.visibility</p:attrName>
                                        </p:attrNameLst>
                                      </p:cBhvr>
                                      <p:to>
                                        <p:strVal val="visible"/>
                                      </p:to>
                                    </p:set>
                                    <p:animEffect transition="in" filter="fade">
                                      <p:cBhvr>
                                        <p:cTn id="7" dur="500"/>
                                        <p:tgtEl>
                                          <p:spTgt spid="1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
                                            <p:txEl>
                                              <p:pRg st="0" end="0"/>
                                            </p:txEl>
                                          </p:spTgt>
                                        </p:tgtEl>
                                        <p:attrNameLst>
                                          <p:attrName>style.visibility</p:attrName>
                                        </p:attrNameLst>
                                      </p:cBhvr>
                                      <p:to>
                                        <p:strVal val="visible"/>
                                      </p:to>
                                    </p:set>
                                    <p:animEffect transition="in" filter="fade">
                                      <p:cBhvr>
                                        <p:cTn id="12" dur="500"/>
                                        <p:tgtEl>
                                          <p:spTgt spid="1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9">
                                            <p:txEl>
                                              <p:pRg st="1" end="1"/>
                                            </p:txEl>
                                          </p:spTgt>
                                        </p:tgtEl>
                                        <p:attrNameLst>
                                          <p:attrName>style.visibility</p:attrName>
                                        </p:attrNameLst>
                                      </p:cBhvr>
                                      <p:to>
                                        <p:strVal val="visible"/>
                                      </p:to>
                                    </p:set>
                                    <p:animEffect transition="in" filter="fade">
                                      <p:cBhvr>
                                        <p:cTn id="17" dur="500"/>
                                        <p:tgtEl>
                                          <p:spTgt spid="1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9">
                                            <p:txEl>
                                              <p:pRg st="2" end="2"/>
                                            </p:txEl>
                                          </p:spTgt>
                                        </p:tgtEl>
                                        <p:attrNameLst>
                                          <p:attrName>style.visibility</p:attrName>
                                        </p:attrNameLst>
                                      </p:cBhvr>
                                      <p:to>
                                        <p:strVal val="visible"/>
                                      </p:to>
                                    </p:set>
                                    <p:animEffect transition="in" filter="fade">
                                      <p:cBhvr>
                                        <p:cTn id="22" dur="500"/>
                                        <p:tgtEl>
                                          <p:spTgt spid="19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1"/>
                                        </p:tgtEl>
                                        <p:attrNameLst>
                                          <p:attrName>style.visibility</p:attrName>
                                        </p:attrNameLst>
                                      </p:cBhvr>
                                      <p:to>
                                        <p:strVal val="visible"/>
                                      </p:to>
                                    </p:set>
                                    <p:anim calcmode="lin" valueType="num">
                                      <p:cBhvr additive="base">
                                        <p:cTn id="27" dur="500"/>
                                        <p:tgtEl>
                                          <p:spTgt spid="20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9">
                                            <p:txEl>
                                              <p:pRg st="4" end="4"/>
                                            </p:txEl>
                                          </p:spTgt>
                                        </p:tgtEl>
                                        <p:attrNameLst>
                                          <p:attrName>style.visibility</p:attrName>
                                        </p:attrNameLst>
                                      </p:cBhvr>
                                      <p:to>
                                        <p:strVal val="visible"/>
                                      </p:to>
                                    </p:set>
                                    <p:animEffect transition="in" filter="fade">
                                      <p:cBhvr>
                                        <p:cTn id="32" dur="500"/>
                                        <p:tgtEl>
                                          <p:spTgt spid="1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56"/>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solidFill>
                  <a:srgbClr val="FF0000"/>
                </a:solidFill>
              </a:rPr>
              <a:t>Punishment</a:t>
            </a:r>
            <a:endParaRPr>
              <a:solidFill>
                <a:srgbClr val="FF0000"/>
              </a:solidFill>
            </a:endParaRPr>
          </a:p>
        </p:txBody>
      </p:sp>
      <p:sp>
        <p:nvSpPr>
          <p:cNvPr id="208" name="Google Shape;208;p56"/>
          <p:cNvSpPr txBox="1">
            <a:spLocks noGrp="1"/>
          </p:cNvSpPr>
          <p:nvPr>
            <p:ph type="body" idx="1"/>
          </p:nvPr>
        </p:nvSpPr>
        <p:spPr>
          <a:xfrm>
            <a:off x="352034" y="1740568"/>
            <a:ext cx="7958669" cy="4169833"/>
          </a:xfrm>
          <a:prstGeom prst="rect">
            <a:avLst/>
          </a:prstGeom>
          <a:noFill/>
          <a:ln>
            <a:noFill/>
          </a:ln>
        </p:spPr>
        <p:txBody>
          <a:bodyPr spcFirstLastPara="1" wrap="square" lIns="91425" tIns="91425" rIns="91425" bIns="91425" anchor="t" anchorCtr="0">
            <a:normAutofit/>
          </a:bodyPr>
          <a:lstStyle/>
          <a:p>
            <a:pPr marL="342900" lvl="0" indent="-222250" algn="l" rtl="0">
              <a:lnSpc>
                <a:spcPct val="100000"/>
              </a:lnSpc>
              <a:spcBef>
                <a:spcPts val="0"/>
              </a:spcBef>
              <a:spcAft>
                <a:spcPts val="0"/>
              </a:spcAft>
              <a:buSzPts val="2600"/>
              <a:buChar char="•"/>
            </a:pPr>
            <a:r>
              <a:rPr lang="en-US" b="1" dirty="0">
                <a:solidFill>
                  <a:srgbClr val="0070C0"/>
                </a:solidFill>
              </a:rPr>
              <a:t>Positive</a:t>
            </a:r>
            <a:r>
              <a:rPr lang="en-US" b="1" dirty="0"/>
              <a:t> </a:t>
            </a:r>
            <a:r>
              <a:rPr lang="en-US" b="1" dirty="0">
                <a:solidFill>
                  <a:srgbClr val="FF0000"/>
                </a:solidFill>
              </a:rPr>
              <a:t>punishment</a:t>
            </a:r>
            <a:r>
              <a:rPr lang="en-US" b="1" dirty="0"/>
              <a:t> (Ex. Spanking)</a:t>
            </a:r>
            <a:endParaRPr dirty="0"/>
          </a:p>
          <a:p>
            <a:pPr marL="742950" lvl="1" indent="-177800" algn="l" rtl="0">
              <a:lnSpc>
                <a:spcPct val="100000"/>
              </a:lnSpc>
              <a:spcBef>
                <a:spcPts val="560"/>
              </a:spcBef>
              <a:spcAft>
                <a:spcPts val="0"/>
              </a:spcAft>
              <a:buSzPts val="2200"/>
              <a:buChar char="•"/>
            </a:pPr>
            <a:r>
              <a:rPr lang="en-US" sz="3200" dirty="0"/>
              <a:t>Presenting an undesirable consequence after a behavior is exhibited.</a:t>
            </a:r>
            <a:endParaRPr sz="3200" dirty="0"/>
          </a:p>
          <a:p>
            <a:pPr marL="742950" lvl="1" indent="-177800" algn="l" rtl="0">
              <a:lnSpc>
                <a:spcPct val="100000"/>
              </a:lnSpc>
              <a:spcBef>
                <a:spcPts val="560"/>
              </a:spcBef>
              <a:spcAft>
                <a:spcPts val="0"/>
              </a:spcAft>
              <a:buSzPts val="2200"/>
              <a:buChar char="•"/>
            </a:pPr>
            <a:r>
              <a:rPr lang="en-US" sz="3200" dirty="0"/>
              <a:t>Makes the behavior less likely to happen in the future.</a:t>
            </a:r>
            <a:endParaRPr sz="3200" dirty="0"/>
          </a:p>
        </p:txBody>
      </p:sp>
      <p:pic>
        <p:nvPicPr>
          <p:cNvPr id="209" name="Google Shape;209;p56"/>
          <p:cNvPicPr preferRelativeResize="0"/>
          <p:nvPr/>
        </p:nvPicPr>
        <p:blipFill rotWithShape="1">
          <a:blip r:embed="rId3">
            <a:alphaModFix/>
          </a:blip>
          <a:srcRect/>
          <a:stretch/>
        </p:blipFill>
        <p:spPr>
          <a:xfrm>
            <a:off x="5912603" y="4479852"/>
            <a:ext cx="1371599" cy="1930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
                                            <p:txEl>
                                              <p:pRg st="0" end="0"/>
                                            </p:txEl>
                                          </p:spTgt>
                                        </p:tgtEl>
                                        <p:attrNameLst>
                                          <p:attrName>style.visibility</p:attrName>
                                        </p:attrNameLst>
                                      </p:cBhvr>
                                      <p:to>
                                        <p:strVal val="visible"/>
                                      </p:to>
                                    </p:set>
                                    <p:animEffect transition="in" filter="fade">
                                      <p:cBhvr>
                                        <p:cTn id="7" dur="500"/>
                                        <p:tgtEl>
                                          <p:spTgt spid="20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8">
                                            <p:txEl>
                                              <p:pRg st="0" end="0"/>
                                            </p:txEl>
                                          </p:spTgt>
                                        </p:tgtEl>
                                        <p:attrNameLst>
                                          <p:attrName>style.visibility</p:attrName>
                                        </p:attrNameLst>
                                      </p:cBhvr>
                                      <p:to>
                                        <p:strVal val="visible"/>
                                      </p:to>
                                    </p:set>
                                    <p:animEffect transition="in" filter="fade">
                                      <p:cBhvr>
                                        <p:cTn id="10" dur="500"/>
                                        <p:tgtEl>
                                          <p:spTgt spid="20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8">
                                            <p:txEl>
                                              <p:pRg st="1" end="1"/>
                                            </p:txEl>
                                          </p:spTgt>
                                        </p:tgtEl>
                                        <p:attrNameLst>
                                          <p:attrName>style.visibility</p:attrName>
                                        </p:attrNameLst>
                                      </p:cBhvr>
                                      <p:to>
                                        <p:strVal val="visible"/>
                                      </p:to>
                                    </p:set>
                                    <p:animEffect transition="in" filter="fade">
                                      <p:cBhvr>
                                        <p:cTn id="15" dur="500"/>
                                        <p:tgtEl>
                                          <p:spTgt spid="20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08">
                                            <p:txEl>
                                              <p:pRg st="2" end="2"/>
                                            </p:txEl>
                                          </p:spTgt>
                                        </p:tgtEl>
                                        <p:attrNameLst>
                                          <p:attrName>style.visibility</p:attrName>
                                        </p:attrNameLst>
                                      </p:cBhvr>
                                      <p:to>
                                        <p:strVal val="visible"/>
                                      </p:to>
                                    </p:set>
                                    <p:animEffect transition="in" filter="fade">
                                      <p:cBhvr>
                                        <p:cTn id="20" dur="500"/>
                                        <p:tgtEl>
                                          <p:spTgt spid="208">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09"/>
                                        </p:tgtEl>
                                        <p:attrNameLst>
                                          <p:attrName>style.visibility</p:attrName>
                                        </p:attrNameLst>
                                      </p:cBhvr>
                                      <p:to>
                                        <p:strVal val="visible"/>
                                      </p:to>
                                    </p:set>
                                    <p:animEffect transition="in" filter="fade">
                                      <p:cBhvr>
                                        <p:cTn id="23"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57"/>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solidFill>
                  <a:srgbClr val="FF0000"/>
                </a:solidFill>
              </a:rPr>
              <a:t>Punishment</a:t>
            </a:r>
            <a:endParaRPr>
              <a:solidFill>
                <a:srgbClr val="FF0000"/>
              </a:solidFill>
            </a:endParaRPr>
          </a:p>
        </p:txBody>
      </p:sp>
      <p:sp>
        <p:nvSpPr>
          <p:cNvPr id="216" name="Google Shape;216;p57"/>
          <p:cNvSpPr txBox="1">
            <a:spLocks noGrp="1"/>
          </p:cNvSpPr>
          <p:nvPr>
            <p:ph type="body" idx="1"/>
          </p:nvPr>
        </p:nvSpPr>
        <p:spPr>
          <a:xfrm>
            <a:off x="352033" y="1548063"/>
            <a:ext cx="7958669" cy="4169833"/>
          </a:xfrm>
          <a:prstGeom prst="rect">
            <a:avLst/>
          </a:prstGeom>
          <a:noFill/>
          <a:ln>
            <a:noFill/>
          </a:ln>
        </p:spPr>
        <p:txBody>
          <a:bodyPr spcFirstLastPara="1" wrap="square" lIns="91425" tIns="91425" rIns="91425" bIns="91425" anchor="t" anchorCtr="0">
            <a:normAutofit fontScale="92500" lnSpcReduction="10000"/>
          </a:bodyPr>
          <a:lstStyle/>
          <a:p>
            <a:pPr marL="342900" lvl="0" indent="-222250" algn="l" rtl="0">
              <a:lnSpc>
                <a:spcPct val="100000"/>
              </a:lnSpc>
              <a:spcBef>
                <a:spcPts val="0"/>
              </a:spcBef>
              <a:spcAft>
                <a:spcPts val="0"/>
              </a:spcAft>
              <a:buSzPct val="87837"/>
              <a:buChar char="•"/>
            </a:pPr>
            <a:r>
              <a:rPr lang="en-US" b="1" dirty="0">
                <a:solidFill>
                  <a:srgbClr val="0070C0"/>
                </a:solidFill>
              </a:rPr>
              <a:t>Positive</a:t>
            </a:r>
            <a:r>
              <a:rPr lang="en-US" b="1" dirty="0"/>
              <a:t> </a:t>
            </a:r>
            <a:r>
              <a:rPr lang="en-US" b="1" dirty="0">
                <a:solidFill>
                  <a:srgbClr val="FF0000"/>
                </a:solidFill>
              </a:rPr>
              <a:t>Punishment</a:t>
            </a:r>
            <a:r>
              <a:rPr lang="en-US" b="1" dirty="0"/>
              <a:t>: A Less Potentially Problematic Example</a:t>
            </a:r>
            <a:endParaRPr dirty="0"/>
          </a:p>
          <a:p>
            <a:pPr marL="742950" lvl="1" indent="-177800" algn="l" rtl="0">
              <a:lnSpc>
                <a:spcPct val="100000"/>
              </a:lnSpc>
              <a:spcBef>
                <a:spcPts val="560"/>
              </a:spcBef>
              <a:spcAft>
                <a:spcPts val="0"/>
              </a:spcAft>
              <a:buSzPct val="74324"/>
              <a:buChar char="•"/>
            </a:pPr>
            <a:r>
              <a:rPr lang="en-US" sz="3200" dirty="0"/>
              <a:t>A rat in a lab has two levers. One provides food, and the other electrifies the floor. </a:t>
            </a:r>
            <a:endParaRPr dirty="0"/>
          </a:p>
          <a:p>
            <a:pPr marL="742950" lvl="1" indent="-177800" algn="l" rtl="0">
              <a:lnSpc>
                <a:spcPct val="100000"/>
              </a:lnSpc>
              <a:spcBef>
                <a:spcPts val="560"/>
              </a:spcBef>
              <a:spcAft>
                <a:spcPts val="0"/>
              </a:spcAft>
              <a:buSzPct val="74324"/>
              <a:buChar char="•"/>
            </a:pPr>
            <a:r>
              <a:rPr lang="en-US" sz="3200" dirty="0"/>
              <a:t>The rat pushes the shock lever and gets hurt.</a:t>
            </a:r>
            <a:endParaRPr dirty="0"/>
          </a:p>
          <a:p>
            <a:pPr marL="742950" lvl="1" indent="-177800" algn="l" rtl="0">
              <a:lnSpc>
                <a:spcPct val="100000"/>
              </a:lnSpc>
              <a:spcBef>
                <a:spcPts val="560"/>
              </a:spcBef>
              <a:spcAft>
                <a:spcPts val="0"/>
              </a:spcAft>
              <a:buSzPct val="74324"/>
              <a:buChar char="•"/>
            </a:pPr>
            <a:r>
              <a:rPr lang="en-US" sz="3200" dirty="0"/>
              <a:t>The rat is less likely to push that same lever again, because of the shock. </a:t>
            </a:r>
            <a:endParaRPr sz="3200" dirty="0"/>
          </a:p>
        </p:txBody>
      </p:sp>
      <p:pic>
        <p:nvPicPr>
          <p:cNvPr id="217" name="Google Shape;217;p57"/>
          <p:cNvPicPr preferRelativeResize="0"/>
          <p:nvPr/>
        </p:nvPicPr>
        <p:blipFill rotWithShape="1">
          <a:blip r:embed="rId3">
            <a:alphaModFix/>
          </a:blip>
          <a:srcRect/>
          <a:stretch/>
        </p:blipFill>
        <p:spPr>
          <a:xfrm>
            <a:off x="7062819" y="5386450"/>
            <a:ext cx="2081180" cy="116004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Effect transition="in" filter="fade">
                                      <p:cBhvr>
                                        <p:cTn id="7" dur="500"/>
                                        <p:tgtEl>
                                          <p:spTgt spid="2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6">
                                            <p:txEl>
                                              <p:pRg st="0" end="0"/>
                                            </p:txEl>
                                          </p:spTgt>
                                        </p:tgtEl>
                                        <p:attrNameLst>
                                          <p:attrName>style.visibility</p:attrName>
                                        </p:attrNameLst>
                                      </p:cBhvr>
                                      <p:to>
                                        <p:strVal val="visible"/>
                                      </p:to>
                                    </p:set>
                                    <p:animEffect transition="in" filter="fade">
                                      <p:cBhvr>
                                        <p:cTn id="12" dur="500"/>
                                        <p:tgtEl>
                                          <p:spTgt spid="2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6">
                                            <p:txEl>
                                              <p:pRg st="1" end="1"/>
                                            </p:txEl>
                                          </p:spTgt>
                                        </p:tgtEl>
                                        <p:attrNameLst>
                                          <p:attrName>style.visibility</p:attrName>
                                        </p:attrNameLst>
                                      </p:cBhvr>
                                      <p:to>
                                        <p:strVal val="visible"/>
                                      </p:to>
                                    </p:set>
                                    <p:animEffect transition="in" filter="fade">
                                      <p:cBhvr>
                                        <p:cTn id="17" dur="500"/>
                                        <p:tgtEl>
                                          <p:spTgt spid="21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6">
                                            <p:txEl>
                                              <p:pRg st="2" end="2"/>
                                            </p:txEl>
                                          </p:spTgt>
                                        </p:tgtEl>
                                        <p:attrNameLst>
                                          <p:attrName>style.visibility</p:attrName>
                                        </p:attrNameLst>
                                      </p:cBhvr>
                                      <p:to>
                                        <p:strVal val="visible"/>
                                      </p:to>
                                    </p:set>
                                    <p:animEffect transition="in" filter="fade">
                                      <p:cBhvr>
                                        <p:cTn id="22" dur="500"/>
                                        <p:tgtEl>
                                          <p:spTgt spid="21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6">
                                            <p:txEl>
                                              <p:pRg st="3" end="3"/>
                                            </p:txEl>
                                          </p:spTgt>
                                        </p:tgtEl>
                                        <p:attrNameLst>
                                          <p:attrName>style.visibility</p:attrName>
                                        </p:attrNameLst>
                                      </p:cBhvr>
                                      <p:to>
                                        <p:strVal val="visible"/>
                                      </p:to>
                                    </p:set>
                                    <p:animEffect transition="in" filter="fade">
                                      <p:cBhvr>
                                        <p:cTn id="27" dur="500"/>
                                        <p:tgtEl>
                                          <p:spTgt spid="216">
                                            <p:txEl>
                                              <p:pRg st="3" end="3"/>
                                            </p:txEl>
                                          </p:spTgt>
                                        </p:tgtEl>
                                      </p:cBhvr>
                                    </p:animEffect>
                                  </p:childTnLst>
                                </p:cTn>
                              </p:par>
                              <p:par>
                                <p:cTn id="28" presetID="1" presetClass="entr" presetSubtype="0" fill="hold" nodeType="withEffect">
                                  <p:stCondLst>
                                    <p:cond delay="0"/>
                                  </p:stCondLst>
                                  <p:childTnLst>
                                    <p:set>
                                      <p:cBhvr>
                                        <p:cTn id="29"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58"/>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solidFill>
                  <a:srgbClr val="FF0000"/>
                </a:solidFill>
              </a:rPr>
              <a:t>Punishment</a:t>
            </a:r>
            <a:endParaRPr>
              <a:solidFill>
                <a:srgbClr val="FF0000"/>
              </a:solidFill>
            </a:endParaRPr>
          </a:p>
        </p:txBody>
      </p:sp>
      <p:sp>
        <p:nvSpPr>
          <p:cNvPr id="224" name="Google Shape;224;p58"/>
          <p:cNvSpPr txBox="1">
            <a:spLocks noGrp="1"/>
          </p:cNvSpPr>
          <p:nvPr>
            <p:ph type="body" idx="1"/>
          </p:nvPr>
        </p:nvSpPr>
        <p:spPr>
          <a:xfrm>
            <a:off x="368076" y="1676400"/>
            <a:ext cx="7958669" cy="4169833"/>
          </a:xfrm>
          <a:prstGeom prst="rect">
            <a:avLst/>
          </a:prstGeom>
          <a:noFill/>
          <a:ln>
            <a:noFill/>
          </a:ln>
        </p:spPr>
        <p:txBody>
          <a:bodyPr spcFirstLastPara="1" wrap="square" lIns="91425" tIns="91425" rIns="91425" bIns="91425" anchor="t" anchorCtr="0">
            <a:normAutofit/>
          </a:bodyPr>
          <a:lstStyle/>
          <a:p>
            <a:pPr marL="342900" lvl="0" indent="-222250" algn="l" rtl="0">
              <a:lnSpc>
                <a:spcPct val="100000"/>
              </a:lnSpc>
              <a:spcBef>
                <a:spcPts val="640"/>
              </a:spcBef>
              <a:spcAft>
                <a:spcPts val="0"/>
              </a:spcAft>
              <a:buSzPts val="2600"/>
              <a:buChar char="•"/>
            </a:pPr>
            <a:r>
              <a:rPr lang="en-US" b="1" dirty="0">
                <a:solidFill>
                  <a:srgbClr val="7030A0"/>
                </a:solidFill>
              </a:rPr>
              <a:t>Negative</a:t>
            </a:r>
            <a:r>
              <a:rPr lang="en-US" b="1" dirty="0"/>
              <a:t> </a:t>
            </a:r>
            <a:r>
              <a:rPr lang="en-US" b="1" dirty="0">
                <a:solidFill>
                  <a:srgbClr val="FF0000"/>
                </a:solidFill>
              </a:rPr>
              <a:t>punishment</a:t>
            </a:r>
            <a:r>
              <a:rPr lang="en-US" b="1" dirty="0">
                <a:solidFill>
                  <a:schemeClr val="dk1"/>
                </a:solidFill>
              </a:rPr>
              <a:t> </a:t>
            </a:r>
            <a:r>
              <a:rPr lang="en-US" b="1" dirty="0"/>
              <a:t>(Ex. Time-out or Grounding)</a:t>
            </a:r>
            <a:endParaRPr dirty="0"/>
          </a:p>
          <a:p>
            <a:pPr marL="742950" lvl="1" indent="-177800" algn="l" rtl="0">
              <a:lnSpc>
                <a:spcPct val="100000"/>
              </a:lnSpc>
              <a:spcBef>
                <a:spcPts val="560"/>
              </a:spcBef>
              <a:spcAft>
                <a:spcPts val="0"/>
              </a:spcAft>
              <a:buSzPts val="2200"/>
              <a:buChar char="•"/>
            </a:pPr>
            <a:r>
              <a:rPr lang="en-US" sz="3200" dirty="0"/>
              <a:t>Removing a desired stimulus after a particular behavior is exhibited.</a:t>
            </a:r>
            <a:endParaRPr sz="3200" dirty="0"/>
          </a:p>
          <a:p>
            <a:pPr marL="742950" lvl="1" indent="-177800" algn="l" rtl="0">
              <a:lnSpc>
                <a:spcPct val="100000"/>
              </a:lnSpc>
              <a:spcBef>
                <a:spcPts val="560"/>
              </a:spcBef>
              <a:spcAft>
                <a:spcPts val="0"/>
              </a:spcAft>
              <a:buSzPts val="2200"/>
              <a:buChar char="•"/>
            </a:pPr>
            <a:r>
              <a:rPr lang="en-US" sz="3200" dirty="0"/>
              <a:t>Results in reducing behavior in future.</a:t>
            </a:r>
            <a:endParaRPr sz="3200" dirty="0"/>
          </a:p>
        </p:txBody>
      </p:sp>
      <p:pic>
        <p:nvPicPr>
          <p:cNvPr id="225" name="Google Shape;225;p58"/>
          <p:cNvPicPr preferRelativeResize="0"/>
          <p:nvPr/>
        </p:nvPicPr>
        <p:blipFill rotWithShape="1">
          <a:blip r:embed="rId3">
            <a:alphaModFix/>
          </a:blip>
          <a:srcRect/>
          <a:stretch/>
        </p:blipFill>
        <p:spPr>
          <a:xfrm>
            <a:off x="7624915" y="4876777"/>
            <a:ext cx="1519084" cy="167150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animEffect transition="in" filter="fade">
                                      <p:cBhvr>
                                        <p:cTn id="7" dur="500"/>
                                        <p:tgtEl>
                                          <p:spTgt spid="2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4">
                                            <p:txEl>
                                              <p:pRg st="0" end="0"/>
                                            </p:txEl>
                                          </p:spTgt>
                                        </p:tgtEl>
                                        <p:attrNameLst>
                                          <p:attrName>style.visibility</p:attrName>
                                        </p:attrNameLst>
                                      </p:cBhvr>
                                      <p:to>
                                        <p:strVal val="visible"/>
                                      </p:to>
                                    </p:set>
                                    <p:animEffect transition="in" filter="fade">
                                      <p:cBhvr>
                                        <p:cTn id="12" dur="500"/>
                                        <p:tgtEl>
                                          <p:spTgt spid="2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
                                            <p:txEl>
                                              <p:pRg st="1" end="1"/>
                                            </p:txEl>
                                          </p:spTgt>
                                        </p:tgtEl>
                                        <p:attrNameLst>
                                          <p:attrName>style.visibility</p:attrName>
                                        </p:attrNameLst>
                                      </p:cBhvr>
                                      <p:to>
                                        <p:strVal val="visible"/>
                                      </p:to>
                                    </p:set>
                                    <p:animEffect transition="in" filter="fade">
                                      <p:cBhvr>
                                        <p:cTn id="17" dur="500"/>
                                        <p:tgtEl>
                                          <p:spTgt spid="22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4">
                                            <p:txEl>
                                              <p:pRg st="2" end="2"/>
                                            </p:txEl>
                                          </p:spTgt>
                                        </p:tgtEl>
                                        <p:attrNameLst>
                                          <p:attrName>style.visibility</p:attrName>
                                        </p:attrNameLst>
                                      </p:cBhvr>
                                      <p:to>
                                        <p:strVal val="visible"/>
                                      </p:to>
                                    </p:set>
                                    <p:animEffect transition="in" filter="fade">
                                      <p:cBhvr>
                                        <p:cTn id="22" dur="500"/>
                                        <p:tgtEl>
                                          <p:spTgt spid="224">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25"/>
                                        </p:tgtEl>
                                        <p:attrNameLst>
                                          <p:attrName>style.visibility</p:attrName>
                                        </p:attrNameLst>
                                      </p:cBhvr>
                                      <p:to>
                                        <p:strVal val="visible"/>
                                      </p:to>
                                    </p:set>
                                    <p:animEffect transition="in" filter="fade">
                                      <p:cBhvr>
                                        <p:cTn id="25" dur="5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4"/>
          <p:cNvSpPr txBox="1">
            <a:spLocks noGrp="1"/>
          </p:cNvSpPr>
          <p:nvPr>
            <p:ph type="title"/>
          </p:nvPr>
        </p:nvSpPr>
        <p:spPr>
          <a:xfrm>
            <a:off x="0" y="695498"/>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Question 5</a:t>
            </a:r>
            <a:endParaRPr dirty="0"/>
          </a:p>
        </p:txBody>
      </p:sp>
      <p:sp>
        <p:nvSpPr>
          <p:cNvPr id="232" name="Google Shape;232;p14"/>
          <p:cNvSpPr txBox="1"/>
          <p:nvPr/>
        </p:nvSpPr>
        <p:spPr>
          <a:xfrm>
            <a:off x="0" y="1464425"/>
            <a:ext cx="9144000" cy="4876799"/>
          </a:xfrm>
          <a:prstGeom prst="rect">
            <a:avLst/>
          </a:prstGeom>
          <a:noFill/>
          <a:ln>
            <a:noFill/>
          </a:ln>
        </p:spPr>
        <p:txBody>
          <a:bodyPr spcFirstLastPara="1" wrap="square" lIns="91425" tIns="91425" rIns="91425" bIns="91425" anchor="t" anchorCtr="0">
            <a:noAutofit/>
          </a:bodyPr>
          <a:lstStyle/>
          <a:p>
            <a:pPr marL="120650" marR="0" lvl="0" indent="0" algn="l" rtl="0">
              <a:lnSpc>
                <a:spcPct val="100000"/>
              </a:lnSpc>
              <a:spcBef>
                <a:spcPts val="0"/>
              </a:spcBef>
              <a:spcAft>
                <a:spcPts val="0"/>
              </a:spcAft>
              <a:buClr>
                <a:schemeClr val="dk1"/>
              </a:buClr>
              <a:buSzPts val="3200"/>
              <a:buFont typeface="Arial"/>
              <a:buNone/>
            </a:pPr>
            <a:r>
              <a:rPr lang="en-US" sz="3200" b="0" i="0" u="none" strike="noStrike" cap="none" dirty="0">
                <a:solidFill>
                  <a:schemeClr val="dk1"/>
                </a:solidFill>
                <a:latin typeface="Trebuchet MS"/>
                <a:ea typeface="Trebuchet MS"/>
                <a:cs typeface="Trebuchet MS"/>
                <a:sym typeface="Trebuchet MS"/>
              </a:rPr>
              <a:t>When we say a reinforcer or a punisher is </a:t>
            </a:r>
            <a:r>
              <a:rPr lang="en-US" sz="3200" b="0" i="0" u="none" strike="noStrike" cap="none" dirty="0">
                <a:solidFill>
                  <a:srgbClr val="7030A0"/>
                </a:solidFill>
                <a:latin typeface="Trebuchet MS"/>
                <a:ea typeface="Trebuchet MS"/>
                <a:cs typeface="Trebuchet MS"/>
                <a:sym typeface="Trebuchet MS"/>
              </a:rPr>
              <a:t>NEGATIVE</a:t>
            </a:r>
            <a:r>
              <a:rPr lang="en-US" sz="3200" b="0" i="0" u="none" strike="noStrike" cap="none" dirty="0">
                <a:solidFill>
                  <a:schemeClr val="dk1"/>
                </a:solidFill>
                <a:latin typeface="Trebuchet MS"/>
                <a:ea typeface="Trebuchet MS"/>
                <a:cs typeface="Trebuchet MS"/>
                <a:sym typeface="Trebuchet MS"/>
              </a:rPr>
              <a:t>, we mean ____.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The reinforcement or punishment is a bad thing.</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12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We don’t agree with the reinforcement or punishment.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12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Something is being taken away.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12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The reinforcement or punishment is harmful to the recipient. </a:t>
            </a:r>
            <a:endParaRPr sz="1400" b="0" i="0" u="none" strike="noStrike" cap="none" dirty="0">
              <a:solidFill>
                <a:srgbClr val="000000"/>
              </a:solidFill>
              <a:latin typeface="Arial"/>
              <a:ea typeface="Arial"/>
              <a:cs typeface="Arial"/>
              <a:sym typeface="Arial"/>
            </a:endParaRPr>
          </a:p>
          <a:p>
            <a:pPr marL="635000" marR="0" lvl="0" indent="-311150" algn="l" rtl="0">
              <a:lnSpc>
                <a:spcPct val="100000"/>
              </a:lnSpc>
              <a:spcBef>
                <a:spcPts val="1240"/>
              </a:spcBef>
              <a:spcAft>
                <a:spcPts val="0"/>
              </a:spcAft>
              <a:buClr>
                <a:schemeClr val="dk1"/>
              </a:buClr>
              <a:buSzPts val="3200"/>
              <a:buFont typeface="Arial"/>
              <a:buNone/>
            </a:pPr>
            <a:endParaRPr sz="3200" b="0" i="0" u="none" strike="noStrike" cap="none" dirty="0">
              <a:solidFill>
                <a:schemeClr val="dk1"/>
              </a:solidFill>
              <a:latin typeface="Trebuchet MS"/>
              <a:ea typeface="Trebuchet MS"/>
              <a:cs typeface="Trebuchet MS"/>
              <a:sym typeface="Trebuchet M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5"/>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Question 5—ANSWER </a:t>
            </a:r>
            <a:endParaRPr dirty="0"/>
          </a:p>
        </p:txBody>
      </p:sp>
      <p:sp>
        <p:nvSpPr>
          <p:cNvPr id="239" name="Google Shape;239;p15"/>
          <p:cNvSpPr txBox="1"/>
          <p:nvPr/>
        </p:nvSpPr>
        <p:spPr>
          <a:xfrm>
            <a:off x="0" y="1618722"/>
            <a:ext cx="9144000" cy="4876799"/>
          </a:xfrm>
          <a:prstGeom prst="rect">
            <a:avLst/>
          </a:prstGeom>
          <a:noFill/>
          <a:ln>
            <a:noFill/>
          </a:ln>
        </p:spPr>
        <p:txBody>
          <a:bodyPr spcFirstLastPara="1" wrap="square" lIns="91425" tIns="91425" rIns="91425" bIns="91425" anchor="t" anchorCtr="0">
            <a:noAutofit/>
          </a:bodyPr>
          <a:lstStyle/>
          <a:p>
            <a:pPr marL="120650" marR="0" lvl="0" indent="0" algn="l" rtl="0">
              <a:lnSpc>
                <a:spcPct val="100000"/>
              </a:lnSpc>
              <a:spcBef>
                <a:spcPts val="0"/>
              </a:spcBef>
              <a:spcAft>
                <a:spcPts val="0"/>
              </a:spcAft>
              <a:buClr>
                <a:schemeClr val="dk1"/>
              </a:buClr>
              <a:buSzPts val="3200"/>
              <a:buFont typeface="Arial"/>
              <a:buNone/>
            </a:pPr>
            <a:r>
              <a:rPr lang="en-US" sz="3200" b="0" i="0" u="none" strike="noStrike" cap="none" dirty="0">
                <a:solidFill>
                  <a:schemeClr val="dk1"/>
                </a:solidFill>
                <a:latin typeface="Trebuchet MS"/>
                <a:ea typeface="Trebuchet MS"/>
                <a:cs typeface="Trebuchet MS"/>
                <a:sym typeface="Trebuchet MS"/>
              </a:rPr>
              <a:t>When we say a reinforcer or a punisher is </a:t>
            </a:r>
            <a:r>
              <a:rPr lang="en-US" sz="3200" b="0" i="0" u="none" strike="noStrike" cap="none" dirty="0">
                <a:solidFill>
                  <a:srgbClr val="7030A0"/>
                </a:solidFill>
                <a:latin typeface="Trebuchet MS"/>
                <a:ea typeface="Trebuchet MS"/>
                <a:cs typeface="Trebuchet MS"/>
                <a:sym typeface="Trebuchet MS"/>
              </a:rPr>
              <a:t>NEGATIVE</a:t>
            </a:r>
            <a:r>
              <a:rPr lang="en-US" sz="3200" b="0" i="0" u="none" strike="noStrike" cap="none" dirty="0">
                <a:solidFill>
                  <a:schemeClr val="dk1"/>
                </a:solidFill>
                <a:latin typeface="Trebuchet MS"/>
                <a:ea typeface="Trebuchet MS"/>
                <a:cs typeface="Trebuchet MS"/>
                <a:sym typeface="Trebuchet MS"/>
              </a:rPr>
              <a:t>, we mean ____.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The reinforcement or punishment is a bad thing.</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We don’t agree with the reinforcement or punishment. </a:t>
            </a:r>
            <a:endParaRPr sz="1400" b="0" i="0" u="none" strike="noStrike" cap="none" dirty="0">
              <a:solidFill>
                <a:srgbClr val="00000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1" i="0" u="sng" strike="noStrike" cap="none" dirty="0">
                <a:solidFill>
                  <a:srgbClr val="7030A0"/>
                </a:solidFill>
                <a:latin typeface="Trebuchet MS"/>
                <a:ea typeface="Trebuchet MS"/>
                <a:cs typeface="Trebuchet MS"/>
                <a:sym typeface="Trebuchet MS"/>
              </a:rPr>
              <a:t>Something is being taken away. </a:t>
            </a:r>
            <a:endParaRPr sz="1400" b="0" i="0" u="none" strike="noStrike" cap="none" dirty="0">
              <a:solidFill>
                <a:srgbClr val="7030A0"/>
              </a:solidFill>
              <a:latin typeface="Arial"/>
              <a:ea typeface="Arial"/>
              <a:cs typeface="Arial"/>
              <a:sym typeface="Arial"/>
            </a:endParaRPr>
          </a:p>
          <a:p>
            <a:pPr marL="635000" marR="0" lvl="0" indent="-514350" algn="l" rtl="0">
              <a:lnSpc>
                <a:spcPct val="100000"/>
              </a:lnSpc>
              <a:spcBef>
                <a:spcPts val="640"/>
              </a:spcBef>
              <a:spcAft>
                <a:spcPts val="0"/>
              </a:spcAft>
              <a:buClr>
                <a:schemeClr val="dk1"/>
              </a:buClr>
              <a:buSzPts val="3200"/>
              <a:buFont typeface="Arial"/>
              <a:buAutoNum type="alphaLcPeriod"/>
            </a:pPr>
            <a:r>
              <a:rPr lang="en-US" sz="3200" b="0" i="0" u="none" strike="noStrike" cap="none" dirty="0">
                <a:solidFill>
                  <a:schemeClr val="dk1"/>
                </a:solidFill>
                <a:latin typeface="Trebuchet MS"/>
                <a:ea typeface="Trebuchet MS"/>
                <a:cs typeface="Trebuchet MS"/>
                <a:sym typeface="Trebuchet MS"/>
              </a:rPr>
              <a:t>The reinforcement or punishment is harmful to the recipient. </a:t>
            </a:r>
            <a:endParaRPr sz="1400" b="0" i="0" u="none" strike="noStrike" cap="none" dirty="0">
              <a:solidFill>
                <a:srgbClr val="000000"/>
              </a:solidFill>
              <a:latin typeface="Arial"/>
              <a:ea typeface="Arial"/>
              <a:cs typeface="Arial"/>
              <a:sym typeface="Arial"/>
            </a:endParaRPr>
          </a:p>
          <a:p>
            <a:pPr marL="120650" marR="0" lvl="0" indent="0" algn="l" rtl="0">
              <a:lnSpc>
                <a:spcPct val="100000"/>
              </a:lnSpc>
              <a:spcBef>
                <a:spcPts val="640"/>
              </a:spcBef>
              <a:spcAft>
                <a:spcPts val="0"/>
              </a:spcAft>
              <a:buClr>
                <a:schemeClr val="dk1"/>
              </a:buClr>
              <a:buSzPts val="3200"/>
              <a:buFont typeface="Arial"/>
              <a:buNone/>
            </a:pPr>
            <a:endParaRPr sz="3200" b="0" i="0" u="none" strike="noStrike" cap="none" dirty="0">
              <a:solidFill>
                <a:schemeClr val="dk1"/>
              </a:solidFill>
              <a:latin typeface="Trebuchet MS"/>
              <a:ea typeface="Trebuchet MS"/>
              <a:cs typeface="Trebuchet MS"/>
              <a:sym typeface="Trebuchet MS"/>
            </a:endParaRPr>
          </a:p>
          <a:p>
            <a:pPr marL="635000" marR="0" lvl="0" indent="-311150" algn="l" rtl="0">
              <a:lnSpc>
                <a:spcPct val="100000"/>
              </a:lnSpc>
              <a:spcBef>
                <a:spcPts val="640"/>
              </a:spcBef>
              <a:spcAft>
                <a:spcPts val="0"/>
              </a:spcAft>
              <a:buClr>
                <a:schemeClr val="dk1"/>
              </a:buClr>
              <a:buSzPts val="3200"/>
              <a:buFont typeface="Arial"/>
              <a:buNone/>
            </a:pPr>
            <a:endParaRPr sz="3200" b="0" i="0" u="none" strike="noStrike" cap="none" dirty="0">
              <a:solidFill>
                <a:schemeClr val="dk1"/>
              </a:solidFill>
              <a:latin typeface="Trebuchet MS"/>
              <a:ea typeface="Trebuchet MS"/>
              <a:cs typeface="Trebuchet MS"/>
              <a:sym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4570D-C32C-EE75-30A0-632DAD020BDD}"/>
            </a:ext>
          </a:extLst>
        </p:cNvPr>
        <p:cNvGrpSpPr/>
        <p:nvPr/>
      </p:nvGrpSpPr>
      <p:grpSpPr>
        <a:xfrm>
          <a:off x="0" y="0"/>
          <a:ext cx="0" cy="0"/>
          <a:chOff x="0" y="0"/>
          <a:chExt cx="0" cy="0"/>
        </a:xfrm>
      </p:grpSpPr>
      <p:pic>
        <p:nvPicPr>
          <p:cNvPr id="5" name="Picture 4" descr="A diagram of a behavior condition&#10;&#10;AI-generated content may be incorrect.">
            <a:extLst>
              <a:ext uri="{FF2B5EF4-FFF2-40B4-BE49-F238E27FC236}">
                <a16:creationId xmlns:a16="http://schemas.microsoft.com/office/drawing/2014/main" id="{8896786E-8A58-78BB-4FE7-C84777CA1E8D}"/>
              </a:ext>
            </a:extLst>
          </p:cNvPr>
          <p:cNvPicPr>
            <a:picLocks noChangeAspect="1"/>
          </p:cNvPicPr>
          <p:nvPr/>
        </p:nvPicPr>
        <p:blipFill>
          <a:blip r:embed="rId3"/>
          <a:stretch>
            <a:fillRect/>
          </a:stretch>
        </p:blipFill>
        <p:spPr>
          <a:xfrm>
            <a:off x="927981" y="815546"/>
            <a:ext cx="7288037" cy="5720895"/>
          </a:xfrm>
          <a:prstGeom prst="rect">
            <a:avLst/>
          </a:prstGeom>
        </p:spPr>
      </p:pic>
    </p:spTree>
    <p:extLst>
      <p:ext uri="{BB962C8B-B14F-4D97-AF65-F5344CB8AC3E}">
        <p14:creationId xmlns:p14="http://schemas.microsoft.com/office/powerpoint/2010/main" val="7131299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txBox="1">
            <a:spLocks noGrp="1"/>
          </p:cNvSpPr>
          <p:nvPr>
            <p:ph type="title"/>
          </p:nvPr>
        </p:nvSpPr>
        <p:spPr>
          <a:xfrm>
            <a:off x="0" y="583204"/>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Three Question Method</a:t>
            </a:r>
            <a:endParaRPr dirty="0"/>
          </a:p>
        </p:txBody>
      </p:sp>
      <p:sp>
        <p:nvSpPr>
          <p:cNvPr id="253" name="Google Shape;253;p17"/>
          <p:cNvSpPr txBox="1">
            <a:spLocks noGrp="1"/>
          </p:cNvSpPr>
          <p:nvPr>
            <p:ph type="body" idx="1"/>
          </p:nvPr>
        </p:nvSpPr>
        <p:spPr>
          <a:xfrm>
            <a:off x="0" y="1273121"/>
            <a:ext cx="9144000" cy="5440500"/>
          </a:xfrm>
          <a:prstGeom prst="rect">
            <a:avLst/>
          </a:prstGeom>
          <a:noFill/>
          <a:ln>
            <a:noFill/>
          </a:ln>
        </p:spPr>
        <p:txBody>
          <a:bodyPr spcFirstLastPara="1" wrap="square" lIns="91425" tIns="91425" rIns="91425" bIns="91425" anchor="t" anchorCtr="0">
            <a:normAutofit/>
          </a:bodyPr>
          <a:lstStyle/>
          <a:p>
            <a:pPr marL="0" lvl="0" indent="0" algn="ctr" rtl="0">
              <a:lnSpc>
                <a:spcPct val="80000"/>
              </a:lnSpc>
              <a:spcBef>
                <a:spcPts val="0"/>
              </a:spcBef>
              <a:spcAft>
                <a:spcPts val="0"/>
              </a:spcAft>
              <a:buSzPts val="2870"/>
              <a:buNone/>
            </a:pPr>
            <a:r>
              <a:rPr lang="en-US" sz="2000" b="1" i="1" dirty="0"/>
              <a:t>No matter what test question you get on operant conditioning, </a:t>
            </a:r>
          </a:p>
          <a:p>
            <a:pPr marL="0" lvl="0" indent="0" algn="ctr" rtl="0">
              <a:lnSpc>
                <a:spcPct val="80000"/>
              </a:lnSpc>
              <a:spcBef>
                <a:spcPts val="0"/>
              </a:spcBef>
              <a:spcAft>
                <a:spcPts val="0"/>
              </a:spcAft>
              <a:buSzPts val="2870"/>
              <a:buNone/>
            </a:pPr>
            <a:r>
              <a:rPr lang="en-US" sz="2000" b="1" i="1" dirty="0"/>
              <a:t>you will get the correct answer, if you use the following three questions.</a:t>
            </a:r>
            <a:endParaRPr sz="1050" b="1" i="1" dirty="0"/>
          </a:p>
          <a:p>
            <a:pPr marL="514350" lvl="0" indent="-514350" algn="l" rtl="0">
              <a:lnSpc>
                <a:spcPct val="100000"/>
              </a:lnSpc>
              <a:spcBef>
                <a:spcPts val="640"/>
              </a:spcBef>
              <a:spcAft>
                <a:spcPts val="0"/>
              </a:spcAft>
              <a:buSzPts val="2870"/>
              <a:buFont typeface="Arial"/>
              <a:buAutoNum type="arabicPeriod"/>
            </a:pPr>
            <a:r>
              <a:rPr lang="en-US" sz="2900" dirty="0"/>
              <a:t>What </a:t>
            </a:r>
            <a:r>
              <a:rPr lang="en-US" sz="2900" u="sng" dirty="0"/>
              <a:t>behavior</a:t>
            </a:r>
            <a:r>
              <a:rPr lang="en-US" sz="2900" dirty="0"/>
              <a:t> is being changed?</a:t>
            </a:r>
            <a:endParaRPr sz="2900" dirty="0"/>
          </a:p>
          <a:p>
            <a:pPr marL="514350" indent="-514350">
              <a:buSzPts val="2870"/>
              <a:buFont typeface="Arial"/>
              <a:buAutoNum type="arabicPeriod"/>
            </a:pPr>
            <a:r>
              <a:rPr lang="en-US" sz="2900" dirty="0"/>
              <a:t>Is the frequency of the behavior going to happen more often or less often in the future? </a:t>
            </a:r>
            <a:endParaRPr sz="2900" dirty="0"/>
          </a:p>
          <a:p>
            <a:pPr marL="742950" lvl="1" indent="-177800">
              <a:buSzPts val="2170"/>
            </a:pPr>
            <a:r>
              <a:rPr lang="en-US" sz="2150" dirty="0"/>
              <a:t>If you are trying to </a:t>
            </a:r>
            <a:r>
              <a:rPr lang="en-US" sz="2150" b="1" u="sng" dirty="0">
                <a:solidFill>
                  <a:srgbClr val="00B050"/>
                </a:solidFill>
              </a:rPr>
              <a:t>Increase</a:t>
            </a:r>
            <a:r>
              <a:rPr lang="en-US" sz="2150" dirty="0"/>
              <a:t> the behavior (make it happen more often), then you will use </a:t>
            </a:r>
            <a:r>
              <a:rPr lang="en-US" sz="2150" b="1" u="sng" dirty="0">
                <a:solidFill>
                  <a:srgbClr val="00B050"/>
                </a:solidFill>
              </a:rPr>
              <a:t>Reinforcement</a:t>
            </a:r>
            <a:r>
              <a:rPr lang="en-US" sz="2150" b="1" dirty="0"/>
              <a:t>.</a:t>
            </a:r>
            <a:endParaRPr sz="2150" dirty="0"/>
          </a:p>
          <a:p>
            <a:pPr marL="742950" lvl="1" indent="-177800">
              <a:buSzPts val="2170"/>
            </a:pPr>
            <a:r>
              <a:rPr lang="en-US" sz="2150" dirty="0"/>
              <a:t>If you are trying to </a:t>
            </a:r>
            <a:r>
              <a:rPr lang="en-US" sz="2150" b="1" u="sng" dirty="0">
                <a:solidFill>
                  <a:srgbClr val="FF0000"/>
                </a:solidFill>
              </a:rPr>
              <a:t>Decrease</a:t>
            </a:r>
            <a:r>
              <a:rPr lang="en-US" sz="2150" dirty="0"/>
              <a:t> the behavior (make it happen less often), then you will use </a:t>
            </a:r>
            <a:r>
              <a:rPr lang="en-US" sz="2150" u="sng" dirty="0">
                <a:solidFill>
                  <a:srgbClr val="FF0000"/>
                </a:solidFill>
              </a:rPr>
              <a:t>P</a:t>
            </a:r>
            <a:r>
              <a:rPr lang="en-US" sz="2150" b="1" u="sng" dirty="0">
                <a:solidFill>
                  <a:srgbClr val="FF0000"/>
                </a:solidFill>
              </a:rPr>
              <a:t>unishment</a:t>
            </a:r>
            <a:r>
              <a:rPr lang="en-US" sz="2150" b="1" dirty="0"/>
              <a:t>.</a:t>
            </a:r>
            <a:endParaRPr sz="2150" dirty="0"/>
          </a:p>
          <a:p>
            <a:pPr marL="514350" lvl="0" indent="-514350" algn="l" rtl="0">
              <a:lnSpc>
                <a:spcPct val="100000"/>
              </a:lnSpc>
              <a:spcBef>
                <a:spcPts val="640"/>
              </a:spcBef>
              <a:spcAft>
                <a:spcPts val="0"/>
              </a:spcAft>
              <a:buSzPts val="2870"/>
              <a:buFont typeface="Arial"/>
              <a:buAutoNum type="arabicPeriod"/>
            </a:pPr>
            <a:r>
              <a:rPr lang="en-US" sz="2900" dirty="0"/>
              <a:t>Is something being added or taken away? </a:t>
            </a:r>
            <a:endParaRPr sz="2900" dirty="0"/>
          </a:p>
          <a:p>
            <a:pPr marL="742950" lvl="1" indent="-177800" algn="l" rtl="0">
              <a:lnSpc>
                <a:spcPct val="100000"/>
              </a:lnSpc>
              <a:spcBef>
                <a:spcPts val="560"/>
              </a:spcBef>
              <a:spcAft>
                <a:spcPts val="0"/>
              </a:spcAft>
              <a:buSzPts val="2170"/>
              <a:buChar char="•"/>
            </a:pPr>
            <a:r>
              <a:rPr lang="en-US" sz="2170" dirty="0"/>
              <a:t>If something is being </a:t>
            </a:r>
            <a:r>
              <a:rPr lang="en-US" sz="2170" b="1" u="sng" dirty="0">
                <a:solidFill>
                  <a:srgbClr val="0070C0"/>
                </a:solidFill>
              </a:rPr>
              <a:t>Added</a:t>
            </a:r>
            <a:r>
              <a:rPr lang="en-US" sz="2170" dirty="0"/>
              <a:t>, then you would choose </a:t>
            </a:r>
            <a:r>
              <a:rPr lang="en-US" sz="2170" b="1" u="sng" dirty="0">
                <a:solidFill>
                  <a:srgbClr val="0070C0"/>
                </a:solidFill>
              </a:rPr>
              <a:t>Positive</a:t>
            </a:r>
            <a:r>
              <a:rPr lang="en-US" sz="2170" dirty="0"/>
              <a:t>.</a:t>
            </a:r>
            <a:endParaRPr dirty="0"/>
          </a:p>
          <a:p>
            <a:pPr marL="742950" lvl="1" indent="-177800" algn="l" rtl="0">
              <a:lnSpc>
                <a:spcPct val="100000"/>
              </a:lnSpc>
              <a:spcBef>
                <a:spcPts val="560"/>
              </a:spcBef>
              <a:spcAft>
                <a:spcPts val="0"/>
              </a:spcAft>
              <a:buSzPts val="2170"/>
              <a:buChar char="•"/>
            </a:pPr>
            <a:r>
              <a:rPr lang="en-US" sz="2170" dirty="0"/>
              <a:t>If something is being </a:t>
            </a:r>
            <a:r>
              <a:rPr lang="en-US" sz="2170" b="1" u="sng" dirty="0">
                <a:solidFill>
                  <a:srgbClr val="7030A0"/>
                </a:solidFill>
              </a:rPr>
              <a:t>Taken</a:t>
            </a:r>
            <a:r>
              <a:rPr lang="en-US" sz="2170" dirty="0"/>
              <a:t> away</a:t>
            </a:r>
            <a:r>
              <a:rPr lang="en-US" sz="2170" b="1" dirty="0"/>
              <a:t>,</a:t>
            </a:r>
            <a:r>
              <a:rPr lang="en-US" sz="2170" dirty="0"/>
              <a:t> you would choose </a:t>
            </a:r>
            <a:r>
              <a:rPr lang="en-US" sz="2170" b="1" u="sng" dirty="0">
                <a:solidFill>
                  <a:srgbClr val="7030A0"/>
                </a:solidFill>
              </a:rPr>
              <a:t>Negative</a:t>
            </a:r>
            <a:r>
              <a:rPr lang="en-US" sz="2170" b="1" dirty="0"/>
              <a:t>.</a:t>
            </a:r>
            <a:r>
              <a:rPr lang="en-US" sz="2170" dirty="0"/>
              <a:t>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
                                            <p:txEl>
                                              <p:pRg st="0" end="0"/>
                                            </p:txEl>
                                          </p:spTgt>
                                        </p:tgtEl>
                                        <p:attrNameLst>
                                          <p:attrName>style.visibility</p:attrName>
                                        </p:attrNameLst>
                                      </p:cBhvr>
                                      <p:to>
                                        <p:strVal val="visible"/>
                                      </p:to>
                                    </p:set>
                                    <p:animEffect transition="in" filter="fade">
                                      <p:cBhvr>
                                        <p:cTn id="7" dur="500"/>
                                        <p:tgtEl>
                                          <p:spTgt spid="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xEl>
                                              <p:pRg st="0" end="0"/>
                                            </p:txEl>
                                          </p:spTgt>
                                        </p:tgtEl>
                                        <p:attrNameLst>
                                          <p:attrName>style.visibility</p:attrName>
                                        </p:attrNameLst>
                                      </p:cBhvr>
                                      <p:to>
                                        <p:strVal val="visible"/>
                                      </p:to>
                                    </p:set>
                                    <p:animEffect transition="in" filter="fade">
                                      <p:cBhvr>
                                        <p:cTn id="12" dur="500"/>
                                        <p:tgtEl>
                                          <p:spTgt spid="25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3">
                                            <p:txEl>
                                              <p:pRg st="1" end="1"/>
                                            </p:txEl>
                                          </p:spTgt>
                                        </p:tgtEl>
                                        <p:attrNameLst>
                                          <p:attrName>style.visibility</p:attrName>
                                        </p:attrNameLst>
                                      </p:cBhvr>
                                      <p:to>
                                        <p:strVal val="visible"/>
                                      </p:to>
                                    </p:set>
                                    <p:animEffect transition="in" filter="fade">
                                      <p:cBhvr>
                                        <p:cTn id="17" dur="500"/>
                                        <p:tgtEl>
                                          <p:spTgt spid="25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3">
                                            <p:txEl>
                                              <p:pRg st="2" end="2"/>
                                            </p:txEl>
                                          </p:spTgt>
                                        </p:tgtEl>
                                        <p:attrNameLst>
                                          <p:attrName>style.visibility</p:attrName>
                                        </p:attrNameLst>
                                      </p:cBhvr>
                                      <p:to>
                                        <p:strVal val="visible"/>
                                      </p:to>
                                    </p:set>
                                    <p:animEffect transition="in" filter="fade">
                                      <p:cBhvr>
                                        <p:cTn id="22" dur="500"/>
                                        <p:tgtEl>
                                          <p:spTgt spid="25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3">
                                            <p:txEl>
                                              <p:pRg st="3" end="3"/>
                                            </p:txEl>
                                          </p:spTgt>
                                        </p:tgtEl>
                                        <p:attrNameLst>
                                          <p:attrName>style.visibility</p:attrName>
                                        </p:attrNameLst>
                                      </p:cBhvr>
                                      <p:to>
                                        <p:strVal val="visible"/>
                                      </p:to>
                                    </p:set>
                                    <p:animEffect transition="in" filter="fade">
                                      <p:cBhvr>
                                        <p:cTn id="27" dur="500"/>
                                        <p:tgtEl>
                                          <p:spTgt spid="25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3">
                                            <p:txEl>
                                              <p:pRg st="4" end="4"/>
                                            </p:txEl>
                                          </p:spTgt>
                                        </p:tgtEl>
                                        <p:attrNameLst>
                                          <p:attrName>style.visibility</p:attrName>
                                        </p:attrNameLst>
                                      </p:cBhvr>
                                      <p:to>
                                        <p:strVal val="visible"/>
                                      </p:to>
                                    </p:set>
                                    <p:animEffect transition="in" filter="fade">
                                      <p:cBhvr>
                                        <p:cTn id="32" dur="500"/>
                                        <p:tgtEl>
                                          <p:spTgt spid="25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3">
                                            <p:txEl>
                                              <p:pRg st="5" end="5"/>
                                            </p:txEl>
                                          </p:spTgt>
                                        </p:tgtEl>
                                        <p:attrNameLst>
                                          <p:attrName>style.visibility</p:attrName>
                                        </p:attrNameLst>
                                      </p:cBhvr>
                                      <p:to>
                                        <p:strVal val="visible"/>
                                      </p:to>
                                    </p:set>
                                    <p:animEffect transition="in" filter="fade">
                                      <p:cBhvr>
                                        <p:cTn id="37" dur="500"/>
                                        <p:tgtEl>
                                          <p:spTgt spid="25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3">
                                            <p:txEl>
                                              <p:pRg st="6" end="6"/>
                                            </p:txEl>
                                          </p:spTgt>
                                        </p:tgtEl>
                                        <p:attrNameLst>
                                          <p:attrName>style.visibility</p:attrName>
                                        </p:attrNameLst>
                                      </p:cBhvr>
                                      <p:to>
                                        <p:strVal val="visible"/>
                                      </p:to>
                                    </p:set>
                                    <p:animEffect transition="in" filter="fade">
                                      <p:cBhvr>
                                        <p:cTn id="42" dur="500"/>
                                        <p:tgtEl>
                                          <p:spTgt spid="25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3">
                                            <p:txEl>
                                              <p:pRg st="7" end="7"/>
                                            </p:txEl>
                                          </p:spTgt>
                                        </p:tgtEl>
                                        <p:attrNameLst>
                                          <p:attrName>style.visibility</p:attrName>
                                        </p:attrNameLst>
                                      </p:cBhvr>
                                      <p:to>
                                        <p:strVal val="visible"/>
                                      </p:to>
                                    </p:set>
                                    <p:animEffect transition="in" filter="fade">
                                      <p:cBhvr>
                                        <p:cTn id="47" dur="500"/>
                                        <p:tgtEl>
                                          <p:spTgt spid="25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3">
                                            <p:txEl>
                                              <p:pRg st="8" end="8"/>
                                            </p:txEl>
                                          </p:spTgt>
                                        </p:tgtEl>
                                        <p:attrNameLst>
                                          <p:attrName>style.visibility</p:attrName>
                                        </p:attrNameLst>
                                      </p:cBhvr>
                                      <p:to>
                                        <p:strVal val="visible"/>
                                      </p:to>
                                    </p:set>
                                    <p:animEffect transition="in" filter="fade">
                                      <p:cBhvr>
                                        <p:cTn id="52" dur="500"/>
                                        <p:tgtEl>
                                          <p:spTgt spid="25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8"/>
          <p:cNvSpPr txBox="1">
            <a:spLocks noGrp="1"/>
          </p:cNvSpPr>
          <p:nvPr>
            <p:ph type="title"/>
          </p:nvPr>
        </p:nvSpPr>
        <p:spPr>
          <a:xfrm>
            <a:off x="0" y="1219200"/>
            <a:ext cx="9144000" cy="120058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In-Class Worksheet </a:t>
            </a:r>
            <a:br>
              <a:rPr lang="en-US"/>
            </a:br>
            <a:r>
              <a:rPr lang="en-US"/>
              <a:t>on Operant Conditioning</a:t>
            </a:r>
            <a:br>
              <a:rPr lang="en-US"/>
            </a:br>
            <a:endParaRPr/>
          </a:p>
        </p:txBody>
      </p:sp>
      <p:sp>
        <p:nvSpPr>
          <p:cNvPr id="259" name="Google Shape;259;p18"/>
          <p:cNvSpPr txBox="1">
            <a:spLocks noGrp="1"/>
          </p:cNvSpPr>
          <p:nvPr>
            <p:ph type="body" idx="1"/>
          </p:nvPr>
        </p:nvSpPr>
        <p:spPr>
          <a:xfrm>
            <a:off x="0" y="2159100"/>
            <a:ext cx="9144000" cy="4876799"/>
          </a:xfrm>
          <a:prstGeom prst="rect">
            <a:avLst/>
          </a:prstGeom>
          <a:noFill/>
          <a:ln>
            <a:noFill/>
          </a:ln>
        </p:spPr>
        <p:txBody>
          <a:bodyPr spcFirstLastPara="1" wrap="square" lIns="91425" tIns="91425" rIns="91425" bIns="91425" anchor="t" anchorCtr="0">
            <a:noAutofit/>
          </a:bodyPr>
          <a:lstStyle/>
          <a:p>
            <a:pPr marL="342900" lvl="0" indent="-222250" algn="l" rtl="0">
              <a:lnSpc>
                <a:spcPct val="100000"/>
              </a:lnSpc>
              <a:spcBef>
                <a:spcPts val="0"/>
              </a:spcBef>
              <a:spcAft>
                <a:spcPts val="0"/>
              </a:spcAft>
              <a:buSzPts val="3200"/>
              <a:buChar char="•"/>
            </a:pPr>
            <a:r>
              <a:rPr lang="en-US" dirty="0"/>
              <a:t>We are going to do the first example together using the Three Question Method.</a:t>
            </a:r>
            <a:endParaRPr dirty="0"/>
          </a:p>
          <a:p>
            <a:pPr marL="342900" lvl="0" indent="-222250" algn="l" rtl="0">
              <a:lnSpc>
                <a:spcPct val="100000"/>
              </a:lnSpc>
              <a:spcBef>
                <a:spcPts val="1240"/>
              </a:spcBef>
              <a:spcAft>
                <a:spcPts val="0"/>
              </a:spcAft>
              <a:buSzPts val="3000"/>
              <a:buChar char="•"/>
            </a:pPr>
            <a:r>
              <a:rPr lang="en-US" sz="3000" dirty="0"/>
              <a:t>Underline </a:t>
            </a:r>
            <a:r>
              <a:rPr lang="en-US" sz="3000" u="sng" dirty="0"/>
              <a:t>the behavior</a:t>
            </a:r>
            <a:r>
              <a:rPr lang="en-US" sz="3000" dirty="0"/>
              <a:t> </a:t>
            </a:r>
            <a:r>
              <a:rPr lang="en-US" sz="3000" b="1" dirty="0"/>
              <a:t>that is being changed</a:t>
            </a:r>
            <a:r>
              <a:rPr lang="en-US" sz="3000" dirty="0"/>
              <a:t>. </a:t>
            </a:r>
            <a:endParaRPr dirty="0"/>
          </a:p>
          <a:p>
            <a:pPr marL="342900" indent="-222250">
              <a:spcBef>
                <a:spcPts val="1240"/>
              </a:spcBef>
              <a:buSzPts val="3000"/>
            </a:pPr>
            <a:r>
              <a:rPr lang="en-US" sz="3000" dirty="0"/>
              <a:t>Put a (   ) sign if the behavior is trying to be increased or a (</a:t>
            </a:r>
            <a:r>
              <a:rPr lang="en-US" sz="3000" dirty="0">
                <a:latin typeface="Noto Sans Symbols"/>
                <a:ea typeface="Noto Sans Symbols"/>
                <a:cs typeface="Noto Sans Symbols"/>
                <a:sym typeface="Noto Sans Symbols"/>
              </a:rPr>
              <a:t>   </a:t>
            </a:r>
            <a:r>
              <a:rPr lang="en-US" sz="3000" dirty="0"/>
              <a:t>) sign if the behavior is trying to be decreased.</a:t>
            </a:r>
            <a:endParaRPr dirty="0"/>
          </a:p>
          <a:p>
            <a:pPr marL="342900" lvl="0" indent="-222250" algn="l" rtl="0">
              <a:lnSpc>
                <a:spcPct val="100000"/>
              </a:lnSpc>
              <a:spcBef>
                <a:spcPts val="1240"/>
              </a:spcBef>
              <a:spcAft>
                <a:spcPts val="0"/>
              </a:spcAft>
              <a:buSzPts val="3000"/>
              <a:buChar char="•"/>
            </a:pPr>
            <a:r>
              <a:rPr lang="en-US" sz="3000" dirty="0"/>
              <a:t>Put a (</a:t>
            </a:r>
            <a:r>
              <a:rPr lang="en-US" sz="3600" b="1" dirty="0">
                <a:solidFill>
                  <a:srgbClr val="3B72E1"/>
                </a:solidFill>
              </a:rPr>
              <a:t>+</a:t>
            </a:r>
            <a:r>
              <a:rPr lang="en-US" sz="3000" dirty="0"/>
              <a:t>) sign if something is being added or a (</a:t>
            </a:r>
            <a:r>
              <a:rPr lang="en-US" sz="3000" b="1" dirty="0">
                <a:solidFill>
                  <a:srgbClr val="7030A0"/>
                </a:solidFill>
              </a:rPr>
              <a:t>-</a:t>
            </a:r>
            <a:r>
              <a:rPr lang="en-US" sz="3000" dirty="0"/>
              <a:t>) sign if something is being taken away. </a:t>
            </a:r>
            <a:endParaRPr dirty="0"/>
          </a:p>
          <a:p>
            <a:pPr marL="342900" lvl="0" indent="-19050" algn="l" rtl="0">
              <a:lnSpc>
                <a:spcPct val="100000"/>
              </a:lnSpc>
              <a:spcBef>
                <a:spcPts val="1240"/>
              </a:spcBef>
              <a:spcAft>
                <a:spcPts val="0"/>
              </a:spcAft>
              <a:buSzPts val="3200"/>
              <a:buNone/>
            </a:pPr>
            <a:endParaRPr dirty="0"/>
          </a:p>
        </p:txBody>
      </p:sp>
      <p:sp>
        <p:nvSpPr>
          <p:cNvPr id="260" name="Google Shape;260;p18"/>
          <p:cNvSpPr/>
          <p:nvPr/>
        </p:nvSpPr>
        <p:spPr>
          <a:xfrm>
            <a:off x="1615225" y="4063800"/>
            <a:ext cx="301200" cy="355800"/>
          </a:xfrm>
          <a:prstGeom prst="upArrow">
            <a:avLst>
              <a:gd name="adj1" fmla="val 50000"/>
              <a:gd name="adj2" fmla="val 50000"/>
            </a:avLst>
          </a:prstGeom>
          <a:solidFill>
            <a:srgbClr val="00B05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B050"/>
              </a:solidFill>
              <a:latin typeface="Arial"/>
              <a:ea typeface="Arial"/>
              <a:cs typeface="Arial"/>
              <a:sym typeface="Arial"/>
            </a:endParaRPr>
          </a:p>
        </p:txBody>
      </p:sp>
      <p:sp>
        <p:nvSpPr>
          <p:cNvPr id="261" name="Google Shape;261;p18"/>
          <p:cNvSpPr/>
          <p:nvPr/>
        </p:nvSpPr>
        <p:spPr>
          <a:xfrm>
            <a:off x="3103010" y="4549939"/>
            <a:ext cx="301200" cy="3558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8">
                                            <p:txEl>
                                              <p:pRg st="0" end="0"/>
                                            </p:txEl>
                                          </p:spTgt>
                                        </p:tgtEl>
                                        <p:attrNameLst>
                                          <p:attrName>style.visibility</p:attrName>
                                        </p:attrNameLst>
                                      </p:cBhvr>
                                      <p:to>
                                        <p:strVal val="visible"/>
                                      </p:to>
                                    </p:set>
                                    <p:animEffect transition="in" filter="fade">
                                      <p:cBhvr>
                                        <p:cTn id="7" dur="500"/>
                                        <p:tgtEl>
                                          <p:spTgt spid="2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9">
                                            <p:txEl>
                                              <p:pRg st="0" end="0"/>
                                            </p:txEl>
                                          </p:spTgt>
                                        </p:tgtEl>
                                        <p:attrNameLst>
                                          <p:attrName>style.visibility</p:attrName>
                                        </p:attrNameLst>
                                      </p:cBhvr>
                                      <p:to>
                                        <p:strVal val="visible"/>
                                      </p:to>
                                    </p:set>
                                    <p:animEffect transition="in" filter="fade">
                                      <p:cBhvr>
                                        <p:cTn id="12" dur="500"/>
                                        <p:tgtEl>
                                          <p:spTgt spid="2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9">
                                            <p:txEl>
                                              <p:pRg st="1" end="1"/>
                                            </p:txEl>
                                          </p:spTgt>
                                        </p:tgtEl>
                                        <p:attrNameLst>
                                          <p:attrName>style.visibility</p:attrName>
                                        </p:attrNameLst>
                                      </p:cBhvr>
                                      <p:to>
                                        <p:strVal val="visible"/>
                                      </p:to>
                                    </p:set>
                                    <p:animEffect transition="in" filter="fade">
                                      <p:cBhvr>
                                        <p:cTn id="17" dur="500"/>
                                        <p:tgtEl>
                                          <p:spTgt spid="2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9">
                                            <p:txEl>
                                              <p:pRg st="2" end="2"/>
                                            </p:txEl>
                                          </p:spTgt>
                                        </p:tgtEl>
                                        <p:attrNameLst>
                                          <p:attrName>style.visibility</p:attrName>
                                        </p:attrNameLst>
                                      </p:cBhvr>
                                      <p:to>
                                        <p:strVal val="visible"/>
                                      </p:to>
                                    </p:set>
                                    <p:animEffect transition="in" filter="fade">
                                      <p:cBhvr>
                                        <p:cTn id="22" dur="500"/>
                                        <p:tgtEl>
                                          <p:spTgt spid="259">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0"/>
                                        </p:tgtEl>
                                        <p:attrNameLst>
                                          <p:attrName>style.visibility</p:attrName>
                                        </p:attrNameLst>
                                      </p:cBhvr>
                                      <p:to>
                                        <p:strVal val="visible"/>
                                      </p:to>
                                    </p:set>
                                    <p:animEffect transition="in" filter="fade">
                                      <p:cBhvr>
                                        <p:cTn id="25" dur="500"/>
                                        <p:tgtEl>
                                          <p:spTgt spid="260"/>
                                        </p:tgtEl>
                                      </p:cBhvr>
                                    </p:animEffect>
                                  </p:childTnLst>
                                </p:cTn>
                              </p:par>
                              <p:par>
                                <p:cTn id="26" presetID="10" presetClass="entr" presetSubtype="0" fill="hold" nodeType="withEffect">
                                  <p:stCondLst>
                                    <p:cond delay="0"/>
                                  </p:stCondLst>
                                  <p:childTnLst>
                                    <p:set>
                                      <p:cBhvr>
                                        <p:cTn id="27" dur="1" fill="hold">
                                          <p:stCondLst>
                                            <p:cond delay="0"/>
                                          </p:stCondLst>
                                        </p:cTn>
                                        <p:tgtEl>
                                          <p:spTgt spid="261"/>
                                        </p:tgtEl>
                                        <p:attrNameLst>
                                          <p:attrName>style.visibility</p:attrName>
                                        </p:attrNameLst>
                                      </p:cBhvr>
                                      <p:to>
                                        <p:strVal val="visible"/>
                                      </p:to>
                                    </p:set>
                                    <p:animEffect transition="in" filter="fade">
                                      <p:cBhvr>
                                        <p:cTn id="28" dur="1000"/>
                                        <p:tgtEl>
                                          <p:spTgt spid="26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59">
                                            <p:txEl>
                                              <p:pRg st="3" end="3"/>
                                            </p:txEl>
                                          </p:spTgt>
                                        </p:tgtEl>
                                        <p:attrNameLst>
                                          <p:attrName>style.visibility</p:attrName>
                                        </p:attrNameLst>
                                      </p:cBhvr>
                                      <p:to>
                                        <p:strVal val="visible"/>
                                      </p:to>
                                    </p:set>
                                    <p:animEffect transition="in" filter="fade">
                                      <p:cBhvr>
                                        <p:cTn id="33" dur="500"/>
                                        <p:tgtEl>
                                          <p:spTgt spid="2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9"/>
          <p:cNvSpPr txBox="1">
            <a:spLocks noGrp="1"/>
          </p:cNvSpPr>
          <p:nvPr>
            <p:ph type="title"/>
          </p:nvPr>
        </p:nvSpPr>
        <p:spPr>
          <a:xfrm>
            <a:off x="0" y="947651"/>
            <a:ext cx="9144000" cy="1875905"/>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Johnny scores a goal, and his friends congratulate him. </a:t>
            </a:r>
            <a:endParaRPr/>
          </a:p>
        </p:txBody>
      </p:sp>
      <p:sp>
        <p:nvSpPr>
          <p:cNvPr id="267" name="Google Shape;267;p19"/>
          <p:cNvSpPr txBox="1">
            <a:spLocks noGrp="1"/>
          </p:cNvSpPr>
          <p:nvPr>
            <p:ph type="body" idx="1"/>
          </p:nvPr>
        </p:nvSpPr>
        <p:spPr>
          <a:xfrm>
            <a:off x="0" y="3043844"/>
            <a:ext cx="9144000" cy="3196535"/>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AutoNum type="arabicPeriod"/>
            </a:pPr>
            <a:r>
              <a:rPr lang="en-US"/>
              <a:t>What behavior is being changed? </a:t>
            </a:r>
            <a:endParaRPr/>
          </a:p>
          <a:p>
            <a:pPr marL="1035050" lvl="1" indent="-514350" algn="l" rtl="0">
              <a:lnSpc>
                <a:spcPct val="100000"/>
              </a:lnSpc>
              <a:spcBef>
                <a:spcPts val="560"/>
              </a:spcBef>
              <a:spcAft>
                <a:spcPts val="0"/>
              </a:spcAft>
              <a:buSzPts val="2800"/>
              <a:buFont typeface="Arial"/>
              <a:buAutoNum type="alphaLcPeriod"/>
            </a:pPr>
            <a:r>
              <a:rPr lang="en-US"/>
              <a:t>Scoring a goal</a:t>
            </a:r>
            <a:endParaRPr/>
          </a:p>
          <a:p>
            <a:pPr marL="1035050" lvl="1" indent="-514350" algn="l" rtl="0">
              <a:lnSpc>
                <a:spcPct val="100000"/>
              </a:lnSpc>
              <a:spcBef>
                <a:spcPts val="560"/>
              </a:spcBef>
              <a:spcAft>
                <a:spcPts val="0"/>
              </a:spcAft>
              <a:buSzPts val="2800"/>
              <a:buFont typeface="Arial"/>
              <a:buAutoNum type="alphaLcPeriod"/>
            </a:pPr>
            <a:r>
              <a:rPr lang="en-US"/>
              <a:t>His friends congratulate him</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0"/>
          <p:cNvSpPr txBox="1">
            <a:spLocks noGrp="1"/>
          </p:cNvSpPr>
          <p:nvPr>
            <p:ph type="title"/>
          </p:nvPr>
        </p:nvSpPr>
        <p:spPr>
          <a:xfrm>
            <a:off x="0" y="980901"/>
            <a:ext cx="9144000" cy="1961804"/>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a:t>Johnny scores a goal</a:t>
            </a:r>
            <a:r>
              <a:rPr lang="en-US">
                <a:solidFill>
                  <a:schemeClr val="dk1"/>
                </a:solidFill>
              </a:rPr>
              <a:t>, and his friends congratulate him.</a:t>
            </a:r>
            <a:r>
              <a:rPr lang="en-US"/>
              <a:t> </a:t>
            </a:r>
            <a:endParaRPr/>
          </a:p>
        </p:txBody>
      </p:sp>
      <p:sp>
        <p:nvSpPr>
          <p:cNvPr id="273" name="Google Shape;273;p20"/>
          <p:cNvSpPr txBox="1">
            <a:spLocks noGrp="1"/>
          </p:cNvSpPr>
          <p:nvPr>
            <p:ph type="body" idx="1"/>
          </p:nvPr>
        </p:nvSpPr>
        <p:spPr>
          <a:xfrm>
            <a:off x="0" y="3326476"/>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AutoNum type="arabicPeriod"/>
            </a:pPr>
            <a:r>
              <a:rPr lang="en-US"/>
              <a:t>What behavior is being changed? </a:t>
            </a:r>
            <a:endParaRPr/>
          </a:p>
          <a:p>
            <a:pPr marL="1035050" lvl="1" indent="-514350" algn="l" rtl="0">
              <a:lnSpc>
                <a:spcPct val="100000"/>
              </a:lnSpc>
              <a:spcBef>
                <a:spcPts val="560"/>
              </a:spcBef>
              <a:spcAft>
                <a:spcPts val="0"/>
              </a:spcAft>
              <a:buSzPts val="2800"/>
              <a:buFont typeface="Arial"/>
              <a:buAutoNum type="alphaLcPeriod"/>
            </a:pPr>
            <a:r>
              <a:rPr lang="en-US"/>
              <a:t>Scoring a goal</a:t>
            </a:r>
            <a:endParaRPr/>
          </a:p>
          <a:p>
            <a:pPr marL="914400" lvl="1" indent="-406400" algn="l" rtl="0">
              <a:lnSpc>
                <a:spcPct val="100000"/>
              </a:lnSpc>
              <a:spcBef>
                <a:spcPts val="560"/>
              </a:spcBef>
              <a:spcAft>
                <a:spcPts val="0"/>
              </a:spcAft>
              <a:buSzPts val="2800"/>
              <a:buAutoNum type="alphaLcPeriod"/>
            </a:pPr>
            <a:r>
              <a:rPr lang="en-US"/>
              <a:t>His friends congratulate him</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
        <p:nvSpPr>
          <p:cNvPr id="274" name="Google Shape;274;p20"/>
          <p:cNvSpPr/>
          <p:nvPr/>
        </p:nvSpPr>
        <p:spPr>
          <a:xfrm>
            <a:off x="541516" y="3928545"/>
            <a:ext cx="3023094" cy="529456"/>
          </a:xfrm>
          <a:prstGeom prst="rect">
            <a:avLst/>
          </a:prstGeom>
          <a:noFill/>
          <a:ln w="762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275" name="Google Shape;275;p20"/>
          <p:cNvCxnSpPr/>
          <p:nvPr/>
        </p:nvCxnSpPr>
        <p:spPr>
          <a:xfrm>
            <a:off x="2805983" y="1966740"/>
            <a:ext cx="3349153" cy="0"/>
          </a:xfrm>
          <a:prstGeom prst="straightConnector1">
            <a:avLst/>
          </a:prstGeom>
          <a:noFill/>
          <a:ln w="76200" cap="flat" cmpd="sng">
            <a:solidFill>
              <a:srgbClr val="FCA018"/>
            </a:solidFill>
            <a:prstDash val="solid"/>
            <a:round/>
            <a:headEnd type="none" w="sm" len="sm"/>
            <a:tailEnd type="none" w="sm" len="sm"/>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1"/>
          <p:cNvSpPr txBox="1">
            <a:spLocks noGrp="1"/>
          </p:cNvSpPr>
          <p:nvPr>
            <p:ph type="title"/>
          </p:nvPr>
        </p:nvSpPr>
        <p:spPr>
          <a:xfrm>
            <a:off x="0" y="947650"/>
            <a:ext cx="9144000" cy="1925782"/>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a:t>Johnny scores a goal</a:t>
            </a:r>
            <a:r>
              <a:rPr lang="en-US">
                <a:solidFill>
                  <a:schemeClr val="dk1"/>
                </a:solidFill>
              </a:rPr>
              <a:t>, and his friends congratulate him.</a:t>
            </a:r>
            <a:endParaRPr/>
          </a:p>
        </p:txBody>
      </p:sp>
      <p:sp>
        <p:nvSpPr>
          <p:cNvPr id="281" name="Google Shape;281;p21"/>
          <p:cNvSpPr txBox="1">
            <a:spLocks noGrp="1"/>
          </p:cNvSpPr>
          <p:nvPr>
            <p:ph type="body" idx="1"/>
          </p:nvPr>
        </p:nvSpPr>
        <p:spPr>
          <a:xfrm>
            <a:off x="0" y="3126970"/>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Font typeface="Arial"/>
              <a:buAutoNum type="arabicPeriod" startAt="2"/>
            </a:pPr>
            <a:r>
              <a:rPr lang="en-US"/>
              <a:t>Is the frequency of the behavior going to be increased or decreased? </a:t>
            </a:r>
            <a:endParaRPr/>
          </a:p>
          <a:p>
            <a:pPr marL="1035050" lvl="1" indent="-514350" algn="l" rtl="0">
              <a:lnSpc>
                <a:spcPct val="100000"/>
              </a:lnSpc>
              <a:spcBef>
                <a:spcPts val="560"/>
              </a:spcBef>
              <a:spcAft>
                <a:spcPts val="0"/>
              </a:spcAft>
              <a:buSzPts val="2800"/>
              <a:buFont typeface="Arial"/>
              <a:buAutoNum type="alphaLcPeriod"/>
            </a:pPr>
            <a:r>
              <a:rPr lang="en-US"/>
              <a:t>Increased </a:t>
            </a:r>
            <a:endParaRPr/>
          </a:p>
          <a:p>
            <a:pPr marL="1035050" lvl="1" indent="-514350" algn="l" rtl="0">
              <a:lnSpc>
                <a:spcPct val="100000"/>
              </a:lnSpc>
              <a:spcBef>
                <a:spcPts val="560"/>
              </a:spcBef>
              <a:spcAft>
                <a:spcPts val="0"/>
              </a:spcAft>
              <a:buSzPts val="2800"/>
              <a:buFont typeface="Arial"/>
              <a:buAutoNum type="alphaLcPeriod"/>
            </a:pPr>
            <a:r>
              <a:rPr lang="en-US"/>
              <a:t>Decreased </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2"/>
          <p:cNvSpPr txBox="1">
            <a:spLocks noGrp="1"/>
          </p:cNvSpPr>
          <p:nvPr>
            <p:ph type="title"/>
          </p:nvPr>
        </p:nvSpPr>
        <p:spPr>
          <a:xfrm>
            <a:off x="0" y="781396"/>
            <a:ext cx="9144000" cy="21419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a:t>Johnny scores a goal</a:t>
            </a:r>
            <a:r>
              <a:rPr lang="en-US">
                <a:solidFill>
                  <a:schemeClr val="dk1"/>
                </a:solidFill>
              </a:rPr>
              <a:t>, and his friends congratulate him.</a:t>
            </a:r>
            <a:endParaRPr/>
          </a:p>
        </p:txBody>
      </p:sp>
      <p:sp>
        <p:nvSpPr>
          <p:cNvPr id="287" name="Google Shape;287;p22"/>
          <p:cNvSpPr txBox="1">
            <a:spLocks noGrp="1"/>
          </p:cNvSpPr>
          <p:nvPr>
            <p:ph type="body" idx="1"/>
          </p:nvPr>
        </p:nvSpPr>
        <p:spPr>
          <a:xfrm>
            <a:off x="0" y="3010593"/>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Font typeface="Arial"/>
              <a:buAutoNum type="arabicPeriod" startAt="2"/>
            </a:pPr>
            <a:r>
              <a:rPr lang="en-US"/>
              <a:t>Is the frequency of the behavior going to be increased or decreased? </a:t>
            </a:r>
            <a:endParaRPr/>
          </a:p>
          <a:p>
            <a:pPr marL="1035050" lvl="1" indent="-514350" algn="l" rtl="0">
              <a:lnSpc>
                <a:spcPct val="100000"/>
              </a:lnSpc>
              <a:spcBef>
                <a:spcPts val="560"/>
              </a:spcBef>
              <a:spcAft>
                <a:spcPts val="0"/>
              </a:spcAft>
              <a:buSzPts val="2800"/>
              <a:buFont typeface="Arial"/>
              <a:buAutoNum type="alphaLcPeriod"/>
            </a:pPr>
            <a:r>
              <a:rPr lang="en-US"/>
              <a:t>Increased </a:t>
            </a:r>
            <a:endParaRPr/>
          </a:p>
          <a:p>
            <a:pPr marL="1035050" lvl="1" indent="-514350" algn="l" rtl="0">
              <a:lnSpc>
                <a:spcPct val="100000"/>
              </a:lnSpc>
              <a:spcBef>
                <a:spcPts val="560"/>
              </a:spcBef>
              <a:spcAft>
                <a:spcPts val="0"/>
              </a:spcAft>
              <a:buSzPts val="2800"/>
              <a:buFont typeface="Arial"/>
              <a:buAutoNum type="alphaLcPeriod"/>
            </a:pPr>
            <a:r>
              <a:rPr lang="en-US"/>
              <a:t>Decreased </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
        <p:nvSpPr>
          <p:cNvPr id="288" name="Google Shape;288;p22"/>
          <p:cNvSpPr/>
          <p:nvPr/>
        </p:nvSpPr>
        <p:spPr>
          <a:xfrm>
            <a:off x="457200" y="4114276"/>
            <a:ext cx="2252749" cy="497898"/>
          </a:xfrm>
          <a:prstGeom prst="rect">
            <a:avLst/>
          </a:prstGeom>
          <a:noFill/>
          <a:ln w="762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9" name="Google Shape;289;p22"/>
          <p:cNvSpPr/>
          <p:nvPr/>
        </p:nvSpPr>
        <p:spPr>
          <a:xfrm>
            <a:off x="2942705" y="4110814"/>
            <a:ext cx="432262" cy="580161"/>
          </a:xfrm>
          <a:prstGeom prst="upArrow">
            <a:avLst>
              <a:gd name="adj1" fmla="val 50000"/>
              <a:gd name="adj2" fmla="val 50000"/>
            </a:avLst>
          </a:prstGeom>
          <a:solidFill>
            <a:srgbClr val="FCA018"/>
          </a:solidFill>
          <a:ln w="254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60"/>
          <p:cNvSpPr txBox="1">
            <a:spLocks noGrp="1"/>
          </p:cNvSpPr>
          <p:nvPr>
            <p:ph type="title"/>
          </p:nvPr>
        </p:nvSpPr>
        <p:spPr>
          <a:xfrm>
            <a:off x="534319" y="1537387"/>
            <a:ext cx="82169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a:t>Johnny scores a goal</a:t>
            </a:r>
            <a:r>
              <a:rPr lang="en-US">
                <a:solidFill>
                  <a:schemeClr val="dk1"/>
                </a:solidFill>
              </a:rPr>
              <a:t>, and his friends congratulate him.</a:t>
            </a:r>
            <a:endParaRPr/>
          </a:p>
        </p:txBody>
      </p:sp>
      <p:sp>
        <p:nvSpPr>
          <p:cNvPr id="295" name="Google Shape;295;p60"/>
          <p:cNvSpPr txBox="1">
            <a:spLocks noGrp="1"/>
          </p:cNvSpPr>
          <p:nvPr>
            <p:ph type="body" idx="1"/>
          </p:nvPr>
        </p:nvSpPr>
        <p:spPr>
          <a:xfrm>
            <a:off x="0" y="3126970"/>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Font typeface="Arial"/>
              <a:buAutoNum type="arabicPeriod" startAt="3"/>
            </a:pPr>
            <a:r>
              <a:rPr lang="en-US"/>
              <a:t>Is something being added or taken away? </a:t>
            </a:r>
            <a:endParaRPr/>
          </a:p>
          <a:p>
            <a:pPr marL="1035050" lvl="1" indent="-514350" algn="l" rtl="0">
              <a:lnSpc>
                <a:spcPct val="100000"/>
              </a:lnSpc>
              <a:spcBef>
                <a:spcPts val="560"/>
              </a:spcBef>
              <a:spcAft>
                <a:spcPts val="0"/>
              </a:spcAft>
              <a:buSzPts val="2800"/>
              <a:buFont typeface="Arial"/>
              <a:buAutoNum type="alphaLcPeriod"/>
            </a:pPr>
            <a:r>
              <a:rPr lang="en-US"/>
              <a:t>Added something</a:t>
            </a:r>
            <a:endParaRPr/>
          </a:p>
          <a:p>
            <a:pPr marL="1035050" lvl="1" indent="-514350" algn="l" rtl="0">
              <a:lnSpc>
                <a:spcPct val="100000"/>
              </a:lnSpc>
              <a:spcBef>
                <a:spcPts val="560"/>
              </a:spcBef>
              <a:spcAft>
                <a:spcPts val="0"/>
              </a:spcAft>
              <a:buSzPts val="2800"/>
              <a:buFont typeface="Arial"/>
              <a:buAutoNum type="alphaLcPeriod"/>
            </a:pPr>
            <a:r>
              <a:rPr lang="en-US"/>
              <a:t>Took away something</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61"/>
          <p:cNvSpPr txBox="1">
            <a:spLocks noGrp="1"/>
          </p:cNvSpPr>
          <p:nvPr>
            <p:ph type="title"/>
          </p:nvPr>
        </p:nvSpPr>
        <p:spPr>
          <a:xfrm>
            <a:off x="534319" y="1537387"/>
            <a:ext cx="82169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a:t>Johnny scores a goal</a:t>
            </a:r>
            <a:r>
              <a:rPr lang="en-US">
                <a:solidFill>
                  <a:schemeClr val="dk1"/>
                </a:solidFill>
              </a:rPr>
              <a:t>, and his friends congratulate him.</a:t>
            </a:r>
            <a:endParaRPr/>
          </a:p>
        </p:txBody>
      </p:sp>
      <p:sp>
        <p:nvSpPr>
          <p:cNvPr id="301" name="Google Shape;301;p61"/>
          <p:cNvSpPr txBox="1">
            <a:spLocks noGrp="1"/>
          </p:cNvSpPr>
          <p:nvPr>
            <p:ph type="body" idx="1"/>
          </p:nvPr>
        </p:nvSpPr>
        <p:spPr>
          <a:xfrm>
            <a:off x="0" y="3126970"/>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Font typeface="Arial"/>
              <a:buAutoNum type="arabicPeriod" startAt="3"/>
            </a:pPr>
            <a:r>
              <a:rPr lang="en-US"/>
              <a:t>Is something being added or taken away? </a:t>
            </a:r>
            <a:endParaRPr/>
          </a:p>
          <a:p>
            <a:pPr marL="1035050" lvl="1" indent="-514350" algn="l" rtl="0">
              <a:lnSpc>
                <a:spcPct val="100000"/>
              </a:lnSpc>
              <a:spcBef>
                <a:spcPts val="560"/>
              </a:spcBef>
              <a:spcAft>
                <a:spcPts val="0"/>
              </a:spcAft>
              <a:buSzPts val="2800"/>
              <a:buFont typeface="Arial"/>
              <a:buAutoNum type="alphaLcPeriod"/>
            </a:pPr>
            <a:r>
              <a:rPr lang="en-US"/>
              <a:t>Added something</a:t>
            </a:r>
            <a:endParaRPr/>
          </a:p>
          <a:p>
            <a:pPr marL="1035050" lvl="1" indent="-514350" algn="l" rtl="0">
              <a:lnSpc>
                <a:spcPct val="100000"/>
              </a:lnSpc>
              <a:spcBef>
                <a:spcPts val="560"/>
              </a:spcBef>
              <a:spcAft>
                <a:spcPts val="0"/>
              </a:spcAft>
              <a:buSzPts val="2800"/>
              <a:buFont typeface="Arial"/>
              <a:buAutoNum type="alphaLcPeriod"/>
            </a:pPr>
            <a:r>
              <a:rPr lang="en-US"/>
              <a:t>Took away something</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
        <p:nvSpPr>
          <p:cNvPr id="302" name="Google Shape;302;p61"/>
          <p:cNvSpPr/>
          <p:nvPr/>
        </p:nvSpPr>
        <p:spPr>
          <a:xfrm>
            <a:off x="534319" y="3761737"/>
            <a:ext cx="3585989" cy="497898"/>
          </a:xfrm>
          <a:prstGeom prst="rect">
            <a:avLst/>
          </a:prstGeom>
          <a:noFill/>
          <a:ln w="762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3" name="Google Shape;303;p61"/>
          <p:cNvSpPr/>
          <p:nvPr/>
        </p:nvSpPr>
        <p:spPr>
          <a:xfrm>
            <a:off x="4202935" y="3761737"/>
            <a:ext cx="451692" cy="497898"/>
          </a:xfrm>
          <a:prstGeom prst="mathPlus">
            <a:avLst>
              <a:gd name="adj1" fmla="val 23520"/>
            </a:avLst>
          </a:prstGeom>
          <a:solidFill>
            <a:srgbClr val="FCA018"/>
          </a:solidFill>
          <a:ln w="254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7"/>
          <p:cNvSpPr txBox="1">
            <a:spLocks noGrp="1"/>
          </p:cNvSpPr>
          <p:nvPr>
            <p:ph type="title"/>
          </p:nvPr>
        </p:nvSpPr>
        <p:spPr>
          <a:xfrm>
            <a:off x="0" y="669175"/>
            <a:ext cx="9144000" cy="2460567"/>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800"/>
              <a:buNone/>
            </a:pPr>
            <a:r>
              <a:rPr lang="en-US"/>
              <a:t>Let’s Practice the Next Few Together – Follow along on your worksheet!</a:t>
            </a:r>
            <a:endParaRPr/>
          </a:p>
        </p:txBody>
      </p:sp>
      <p:sp>
        <p:nvSpPr>
          <p:cNvPr id="309" name="Google Shape;309;p47"/>
          <p:cNvSpPr/>
          <p:nvPr/>
        </p:nvSpPr>
        <p:spPr>
          <a:xfrm>
            <a:off x="328352" y="2855119"/>
            <a:ext cx="8483139" cy="3939500"/>
          </a:xfrm>
          <a:prstGeom prst="rect">
            <a:avLst/>
          </a:prstGeom>
          <a:noFill/>
          <a:ln>
            <a:noFill/>
          </a:ln>
        </p:spPr>
        <p:txBody>
          <a:bodyPr spcFirstLastPara="1" wrap="square" lIns="91425" tIns="45700" rIns="91425" bIns="45700" anchor="t" anchorCtr="0">
            <a:spAutoFit/>
          </a:bodyPr>
          <a:lstStyle/>
          <a:p>
            <a:pPr marL="342900" marR="0" lvl="0" indent="-222250" algn="l" rtl="0">
              <a:lnSpc>
                <a:spcPct val="100000"/>
              </a:lnSpc>
              <a:spcBef>
                <a:spcPts val="0"/>
              </a:spcBef>
              <a:spcAft>
                <a:spcPts val="0"/>
              </a:spcAft>
              <a:buClr>
                <a:srgbClr val="000000"/>
              </a:buClr>
              <a:buSzPts val="3000"/>
              <a:buFont typeface="Arial"/>
              <a:buChar char="•"/>
            </a:pPr>
            <a:r>
              <a:rPr lang="en-US" sz="3000" b="0" i="0" u="none" strike="noStrike" cap="none" dirty="0">
                <a:solidFill>
                  <a:srgbClr val="000000"/>
                </a:solidFill>
                <a:latin typeface="Trebuchet MS"/>
                <a:ea typeface="Trebuchet MS"/>
                <a:cs typeface="Trebuchet MS"/>
                <a:sym typeface="Trebuchet MS"/>
              </a:rPr>
              <a:t>Underline </a:t>
            </a:r>
            <a:r>
              <a:rPr lang="en-US" sz="3000" b="0" i="0" u="sng" strike="noStrike" cap="none" dirty="0">
                <a:solidFill>
                  <a:srgbClr val="000000"/>
                </a:solidFill>
                <a:latin typeface="Trebuchet MS"/>
                <a:ea typeface="Trebuchet MS"/>
                <a:cs typeface="Trebuchet MS"/>
                <a:sym typeface="Trebuchet MS"/>
              </a:rPr>
              <a:t>the behavior</a:t>
            </a:r>
            <a:r>
              <a:rPr lang="en-US" sz="3000" b="0" i="0" u="none" strike="noStrike" cap="none" dirty="0">
                <a:solidFill>
                  <a:srgbClr val="000000"/>
                </a:solidFill>
                <a:latin typeface="Trebuchet MS"/>
                <a:ea typeface="Trebuchet MS"/>
                <a:cs typeface="Trebuchet MS"/>
                <a:sym typeface="Trebuchet MS"/>
              </a:rPr>
              <a:t> </a:t>
            </a:r>
            <a:r>
              <a:rPr lang="en-US" sz="3000" b="1" i="0" u="none" strike="noStrike" cap="none" dirty="0">
                <a:solidFill>
                  <a:srgbClr val="000000"/>
                </a:solidFill>
                <a:latin typeface="Trebuchet MS"/>
                <a:ea typeface="Trebuchet MS"/>
                <a:cs typeface="Trebuchet MS"/>
                <a:sym typeface="Trebuchet MS"/>
              </a:rPr>
              <a:t>that is being changed</a:t>
            </a:r>
            <a:r>
              <a:rPr lang="en-US" sz="3000" b="0" i="0" u="none" strike="noStrike" cap="none" dirty="0">
                <a:solidFill>
                  <a:srgbClr val="000000"/>
                </a:solidFill>
                <a:latin typeface="Trebuchet MS"/>
                <a:ea typeface="Trebuchet MS"/>
                <a:cs typeface="Trebuchet MS"/>
                <a:sym typeface="Trebuchet MS"/>
              </a:rPr>
              <a:t>. </a:t>
            </a:r>
            <a:endParaRPr sz="3200" b="0" i="0" u="none" strike="noStrike" cap="none" dirty="0">
              <a:solidFill>
                <a:srgbClr val="000000"/>
              </a:solidFill>
              <a:latin typeface="Trebuchet MS"/>
              <a:ea typeface="Trebuchet MS"/>
              <a:cs typeface="Trebuchet MS"/>
              <a:sym typeface="Trebuchet MS"/>
            </a:endParaRPr>
          </a:p>
          <a:p>
            <a:pPr marL="342900" marR="0" lvl="0" indent="-222250" algn="l" rtl="0">
              <a:lnSpc>
                <a:spcPct val="100000"/>
              </a:lnSpc>
              <a:spcBef>
                <a:spcPts val="1240"/>
              </a:spcBef>
              <a:spcAft>
                <a:spcPts val="0"/>
              </a:spcAft>
              <a:buClr>
                <a:srgbClr val="000000"/>
              </a:buClr>
              <a:buSzPts val="3000"/>
              <a:buFont typeface="Arial"/>
              <a:buChar char="•"/>
            </a:pPr>
            <a:r>
              <a:rPr lang="en-US" sz="3000" b="0" i="0" u="none" strike="noStrike" cap="none" dirty="0">
                <a:solidFill>
                  <a:srgbClr val="000000"/>
                </a:solidFill>
                <a:latin typeface="Trebuchet MS"/>
                <a:ea typeface="Trebuchet MS"/>
                <a:cs typeface="Trebuchet MS"/>
                <a:sym typeface="Trebuchet MS"/>
              </a:rPr>
              <a:t>Put a (   ) sign if the behavior is trying to be increased or a (</a:t>
            </a:r>
            <a:r>
              <a:rPr lang="en-US" sz="3000" b="0" i="0" u="none" strike="noStrike" cap="none" dirty="0">
                <a:solidFill>
                  <a:srgbClr val="000000"/>
                </a:solidFill>
                <a:latin typeface="Noto Sans Symbols"/>
                <a:ea typeface="Noto Sans Symbols"/>
                <a:cs typeface="Noto Sans Symbols"/>
                <a:sym typeface="Noto Sans Symbols"/>
              </a:rPr>
              <a:t>    </a:t>
            </a:r>
            <a:r>
              <a:rPr lang="en-US" sz="3000" b="0" i="0" u="none" strike="noStrike" cap="none" dirty="0">
                <a:solidFill>
                  <a:srgbClr val="000000"/>
                </a:solidFill>
                <a:latin typeface="Trebuchet MS"/>
                <a:ea typeface="Trebuchet MS"/>
                <a:cs typeface="Trebuchet MS"/>
                <a:sym typeface="Trebuchet MS"/>
              </a:rPr>
              <a:t>) sign if the behavior is trying to be decreased.</a:t>
            </a:r>
            <a:endParaRPr sz="3200" b="0" i="0" u="none" strike="noStrike" cap="none" dirty="0">
              <a:solidFill>
                <a:srgbClr val="000000"/>
              </a:solidFill>
              <a:latin typeface="Trebuchet MS"/>
              <a:ea typeface="Trebuchet MS"/>
              <a:cs typeface="Trebuchet MS"/>
              <a:sym typeface="Trebuchet MS"/>
            </a:endParaRPr>
          </a:p>
          <a:p>
            <a:pPr marL="342900" marR="0" lvl="0" indent="-222250" algn="l" rtl="0">
              <a:lnSpc>
                <a:spcPct val="100000"/>
              </a:lnSpc>
              <a:spcBef>
                <a:spcPts val="640"/>
              </a:spcBef>
              <a:spcAft>
                <a:spcPts val="0"/>
              </a:spcAft>
              <a:buClr>
                <a:srgbClr val="000000"/>
              </a:buClr>
              <a:buSzPts val="3000"/>
              <a:buFont typeface="Arial"/>
              <a:buChar char="•"/>
            </a:pPr>
            <a:r>
              <a:rPr lang="en-US" sz="3000" b="0" i="0" u="none" strike="noStrike" cap="none" dirty="0">
                <a:solidFill>
                  <a:srgbClr val="000000"/>
                </a:solidFill>
                <a:latin typeface="Trebuchet MS"/>
                <a:ea typeface="Trebuchet MS"/>
                <a:cs typeface="Trebuchet MS"/>
                <a:sym typeface="Trebuchet MS"/>
              </a:rPr>
              <a:t>Put a (</a:t>
            </a:r>
            <a:r>
              <a:rPr lang="en-US" sz="4000" b="1" i="0" u="none" strike="noStrike" cap="none" dirty="0">
                <a:solidFill>
                  <a:schemeClr val="accent1">
                    <a:lumMod val="50000"/>
                  </a:schemeClr>
                </a:solidFill>
                <a:latin typeface="Trebuchet MS"/>
                <a:ea typeface="Trebuchet MS"/>
                <a:cs typeface="Trebuchet MS"/>
                <a:sym typeface="Trebuchet MS"/>
              </a:rPr>
              <a:t>+</a:t>
            </a:r>
            <a:r>
              <a:rPr lang="en-US" sz="3000" b="0" i="0" u="none" strike="noStrike" cap="none" dirty="0">
                <a:solidFill>
                  <a:srgbClr val="000000"/>
                </a:solidFill>
                <a:latin typeface="Trebuchet MS"/>
                <a:ea typeface="Trebuchet MS"/>
                <a:cs typeface="Trebuchet MS"/>
                <a:sym typeface="Trebuchet MS"/>
              </a:rPr>
              <a:t>) sign if something is being added or a (</a:t>
            </a:r>
            <a:r>
              <a:rPr lang="en-US" sz="4000" b="1" i="0" u="none" strike="noStrike" cap="none" dirty="0">
                <a:solidFill>
                  <a:srgbClr val="7030A0"/>
                </a:solidFill>
                <a:latin typeface="Trebuchet MS"/>
                <a:ea typeface="Trebuchet MS"/>
                <a:cs typeface="Trebuchet MS"/>
                <a:sym typeface="Trebuchet MS"/>
              </a:rPr>
              <a:t>-</a:t>
            </a:r>
            <a:r>
              <a:rPr lang="en-US" sz="3000" b="0" i="0" u="none" strike="noStrike" cap="none" dirty="0">
                <a:solidFill>
                  <a:srgbClr val="000000"/>
                </a:solidFill>
                <a:latin typeface="Trebuchet MS"/>
                <a:ea typeface="Trebuchet MS"/>
                <a:cs typeface="Trebuchet MS"/>
                <a:sym typeface="Trebuchet MS"/>
              </a:rPr>
              <a:t>) sign if something is being taken away. </a:t>
            </a:r>
            <a:endParaRPr sz="3200" b="0" i="0" u="none" strike="noStrike" cap="none" dirty="0">
              <a:solidFill>
                <a:srgbClr val="000000"/>
              </a:solidFill>
              <a:latin typeface="Trebuchet MS"/>
              <a:ea typeface="Trebuchet MS"/>
              <a:cs typeface="Trebuchet MS"/>
              <a:sym typeface="Trebuchet MS"/>
            </a:endParaRPr>
          </a:p>
        </p:txBody>
      </p:sp>
      <p:sp>
        <p:nvSpPr>
          <p:cNvPr id="310" name="Google Shape;310;p47"/>
          <p:cNvSpPr/>
          <p:nvPr/>
        </p:nvSpPr>
        <p:spPr>
          <a:xfrm rot="5400000">
            <a:off x="3424843" y="4550912"/>
            <a:ext cx="399011" cy="332509"/>
          </a:xfrm>
          <a:prstGeom prst="rightArrow">
            <a:avLst>
              <a:gd name="adj1" fmla="val 50000"/>
              <a:gd name="adj2" fmla="val 50000"/>
            </a:avLst>
          </a:prstGeom>
          <a:solidFill>
            <a:srgbClr val="FF0000"/>
          </a:solidFill>
          <a:ln w="25400" cap="flat" cmpd="sng">
            <a:solidFill>
              <a:srgbClr val="677E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1" name="Google Shape;311;p47"/>
          <p:cNvSpPr/>
          <p:nvPr/>
        </p:nvSpPr>
        <p:spPr>
          <a:xfrm rot="-5400000">
            <a:off x="1881447" y="4039675"/>
            <a:ext cx="399011" cy="332509"/>
          </a:xfrm>
          <a:prstGeom prst="rightArrow">
            <a:avLst>
              <a:gd name="adj1" fmla="val 50000"/>
              <a:gd name="adj2" fmla="val 50000"/>
            </a:avLst>
          </a:prstGeom>
          <a:solidFill>
            <a:srgbClr val="00B050"/>
          </a:solidFill>
          <a:ln w="25400" cap="flat" cmpd="sng">
            <a:solidFill>
              <a:srgbClr val="677E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62"/>
          <p:cNvSpPr txBox="1">
            <a:spLocks noGrp="1"/>
          </p:cNvSpPr>
          <p:nvPr>
            <p:ph type="title"/>
          </p:nvPr>
        </p:nvSpPr>
        <p:spPr>
          <a:xfrm>
            <a:off x="635000" y="1032854"/>
            <a:ext cx="7696200" cy="1961804"/>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sz="4400" b="0" i="0" u="none" strike="noStrike">
                <a:solidFill>
                  <a:srgbClr val="000000"/>
                </a:solidFill>
                <a:latin typeface="Calibri"/>
                <a:ea typeface="Calibri"/>
                <a:cs typeface="Calibri"/>
                <a:sym typeface="Calibri"/>
              </a:rPr>
              <a:t>I put on sunscreen to avoid a sunburn.</a:t>
            </a:r>
            <a:endParaRPr/>
          </a:p>
        </p:txBody>
      </p:sp>
      <p:sp>
        <p:nvSpPr>
          <p:cNvPr id="317" name="Google Shape;317;p62"/>
          <p:cNvSpPr txBox="1">
            <a:spLocks noGrp="1"/>
          </p:cNvSpPr>
          <p:nvPr>
            <p:ph type="body" idx="1"/>
          </p:nvPr>
        </p:nvSpPr>
        <p:spPr>
          <a:xfrm>
            <a:off x="0" y="3326476"/>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AutoNum type="arabicPeriod"/>
            </a:pPr>
            <a:r>
              <a:rPr lang="en-US"/>
              <a:t>What behavior is being changed? </a:t>
            </a:r>
            <a:endParaRPr/>
          </a:p>
          <a:p>
            <a:pPr marL="1035050" lvl="1" indent="-514350" algn="l" rtl="0">
              <a:lnSpc>
                <a:spcPct val="100000"/>
              </a:lnSpc>
              <a:spcBef>
                <a:spcPts val="560"/>
              </a:spcBef>
              <a:spcAft>
                <a:spcPts val="0"/>
              </a:spcAft>
              <a:buSzPts val="2800"/>
              <a:buFont typeface="Arial"/>
              <a:buAutoNum type="alphaLcPeriod"/>
            </a:pPr>
            <a:r>
              <a:rPr lang="en-US"/>
              <a:t>Putting on sunscreen</a:t>
            </a:r>
            <a:endParaRPr/>
          </a:p>
          <a:p>
            <a:pPr marL="914400" lvl="1" indent="-406400" algn="l" rtl="0">
              <a:lnSpc>
                <a:spcPct val="100000"/>
              </a:lnSpc>
              <a:spcBef>
                <a:spcPts val="560"/>
              </a:spcBef>
              <a:spcAft>
                <a:spcPts val="0"/>
              </a:spcAft>
              <a:buSzPts val="2800"/>
              <a:buAutoNum type="alphaLcPeriod"/>
            </a:pPr>
            <a:r>
              <a:rPr lang="en-US"/>
              <a:t> Getting a sunburn</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63"/>
          <p:cNvSpPr txBox="1">
            <a:spLocks noGrp="1"/>
          </p:cNvSpPr>
          <p:nvPr>
            <p:ph type="title"/>
          </p:nvPr>
        </p:nvSpPr>
        <p:spPr>
          <a:xfrm>
            <a:off x="635000" y="1032854"/>
            <a:ext cx="7696200" cy="1961804"/>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sz="4400" b="0" i="0" u="none" strike="noStrike">
                <a:solidFill>
                  <a:srgbClr val="000000"/>
                </a:solidFill>
                <a:latin typeface="Calibri"/>
                <a:ea typeface="Calibri"/>
                <a:cs typeface="Calibri"/>
                <a:sym typeface="Calibri"/>
              </a:rPr>
              <a:t>I put on sunscreen to avoid a sunburn.</a:t>
            </a:r>
            <a:endParaRPr/>
          </a:p>
        </p:txBody>
      </p:sp>
      <p:sp>
        <p:nvSpPr>
          <p:cNvPr id="323" name="Google Shape;323;p63"/>
          <p:cNvSpPr txBox="1">
            <a:spLocks noGrp="1"/>
          </p:cNvSpPr>
          <p:nvPr>
            <p:ph type="body" idx="1"/>
          </p:nvPr>
        </p:nvSpPr>
        <p:spPr>
          <a:xfrm>
            <a:off x="0" y="3326476"/>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AutoNum type="arabicPeriod"/>
            </a:pPr>
            <a:r>
              <a:rPr lang="en-US"/>
              <a:t>What behavior is being changed? </a:t>
            </a:r>
            <a:endParaRPr/>
          </a:p>
          <a:p>
            <a:pPr marL="1035050" lvl="1" indent="-514350" algn="l" rtl="0">
              <a:lnSpc>
                <a:spcPct val="100000"/>
              </a:lnSpc>
              <a:spcBef>
                <a:spcPts val="560"/>
              </a:spcBef>
              <a:spcAft>
                <a:spcPts val="0"/>
              </a:spcAft>
              <a:buSzPts val="2800"/>
              <a:buFont typeface="Arial"/>
              <a:buAutoNum type="alphaLcPeriod"/>
            </a:pPr>
            <a:r>
              <a:rPr lang="en-US"/>
              <a:t>Putting on sunscreen</a:t>
            </a:r>
            <a:endParaRPr/>
          </a:p>
          <a:p>
            <a:pPr marL="914400" lvl="1" indent="-406400" algn="l" rtl="0">
              <a:lnSpc>
                <a:spcPct val="100000"/>
              </a:lnSpc>
              <a:spcBef>
                <a:spcPts val="560"/>
              </a:spcBef>
              <a:spcAft>
                <a:spcPts val="0"/>
              </a:spcAft>
              <a:buSzPts val="2800"/>
              <a:buAutoNum type="alphaLcPeriod"/>
            </a:pPr>
            <a:r>
              <a:rPr lang="en-US"/>
              <a:t> Getting a sunburn</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
        <p:nvSpPr>
          <p:cNvPr id="324" name="Google Shape;324;p63"/>
          <p:cNvSpPr/>
          <p:nvPr/>
        </p:nvSpPr>
        <p:spPr>
          <a:xfrm>
            <a:off x="515390" y="3990112"/>
            <a:ext cx="4206240" cy="473400"/>
          </a:xfrm>
          <a:prstGeom prst="rect">
            <a:avLst/>
          </a:prstGeom>
          <a:noFill/>
          <a:ln w="762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325" name="Google Shape;325;p63"/>
          <p:cNvCxnSpPr/>
          <p:nvPr/>
        </p:nvCxnSpPr>
        <p:spPr>
          <a:xfrm>
            <a:off x="1159347" y="2013756"/>
            <a:ext cx="4264428" cy="0"/>
          </a:xfrm>
          <a:prstGeom prst="straightConnector1">
            <a:avLst/>
          </a:prstGeom>
          <a:noFill/>
          <a:ln w="76200" cap="flat" cmpd="sng">
            <a:solidFill>
              <a:srgbClr val="FCA018"/>
            </a:solidFill>
            <a:prstDash val="solid"/>
            <a:round/>
            <a:headEnd type="none" w="sm" len="sm"/>
            <a:tailEnd type="none" w="sm" len="sm"/>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64"/>
          <p:cNvSpPr txBox="1">
            <a:spLocks noGrp="1"/>
          </p:cNvSpPr>
          <p:nvPr>
            <p:ph type="title"/>
          </p:nvPr>
        </p:nvSpPr>
        <p:spPr>
          <a:xfrm>
            <a:off x="165100" y="1036550"/>
            <a:ext cx="7810500" cy="1925782"/>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sz="4400" b="0" i="0" u="none" strike="noStrike">
                <a:solidFill>
                  <a:srgbClr val="000000"/>
                </a:solidFill>
                <a:latin typeface="Calibri"/>
                <a:ea typeface="Calibri"/>
                <a:cs typeface="Calibri"/>
                <a:sym typeface="Calibri"/>
              </a:rPr>
              <a:t>I put on sunscreen to avoid a sunburn.</a:t>
            </a:r>
            <a:endParaRPr/>
          </a:p>
        </p:txBody>
      </p:sp>
      <p:sp>
        <p:nvSpPr>
          <p:cNvPr id="331" name="Google Shape;331;p64"/>
          <p:cNvSpPr txBox="1">
            <a:spLocks noGrp="1"/>
          </p:cNvSpPr>
          <p:nvPr>
            <p:ph type="body" idx="1"/>
          </p:nvPr>
        </p:nvSpPr>
        <p:spPr>
          <a:xfrm>
            <a:off x="0" y="3126970"/>
            <a:ext cx="82804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Font typeface="Arial"/>
              <a:buAutoNum type="arabicPeriod" startAt="2"/>
            </a:pPr>
            <a:r>
              <a:rPr lang="en-US"/>
              <a:t>Is the frequency of the behavior going to be increased or decreased? </a:t>
            </a:r>
            <a:endParaRPr/>
          </a:p>
          <a:p>
            <a:pPr marL="1035050" lvl="1" indent="-514350" algn="l" rtl="0">
              <a:lnSpc>
                <a:spcPct val="100000"/>
              </a:lnSpc>
              <a:spcBef>
                <a:spcPts val="560"/>
              </a:spcBef>
              <a:spcAft>
                <a:spcPts val="0"/>
              </a:spcAft>
              <a:buSzPts val="2800"/>
              <a:buFont typeface="Arial"/>
              <a:buAutoNum type="alphaLcPeriod"/>
            </a:pPr>
            <a:r>
              <a:rPr lang="en-US"/>
              <a:t>Increased </a:t>
            </a:r>
            <a:endParaRPr/>
          </a:p>
          <a:p>
            <a:pPr marL="1035050" lvl="1" indent="-514350" algn="l" rtl="0">
              <a:lnSpc>
                <a:spcPct val="100000"/>
              </a:lnSpc>
              <a:spcBef>
                <a:spcPts val="560"/>
              </a:spcBef>
              <a:spcAft>
                <a:spcPts val="0"/>
              </a:spcAft>
              <a:buSzPts val="2800"/>
              <a:buFont typeface="Arial"/>
              <a:buAutoNum type="alphaLcPeriod"/>
            </a:pPr>
            <a:r>
              <a:rPr lang="en-US"/>
              <a:t>Decreased </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65"/>
          <p:cNvSpPr txBox="1">
            <a:spLocks noGrp="1"/>
          </p:cNvSpPr>
          <p:nvPr>
            <p:ph type="title"/>
          </p:nvPr>
        </p:nvSpPr>
        <p:spPr>
          <a:xfrm>
            <a:off x="292100" y="914397"/>
            <a:ext cx="7150100" cy="21419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sz="4400" b="0" i="0" u="none" strike="noStrike">
                <a:solidFill>
                  <a:srgbClr val="000000"/>
                </a:solidFill>
                <a:latin typeface="Calibri"/>
                <a:ea typeface="Calibri"/>
                <a:cs typeface="Calibri"/>
                <a:sym typeface="Calibri"/>
              </a:rPr>
              <a:t>I put on sunscreen to avoid a sunburn.</a:t>
            </a:r>
            <a:endParaRPr/>
          </a:p>
        </p:txBody>
      </p:sp>
      <p:sp>
        <p:nvSpPr>
          <p:cNvPr id="337" name="Google Shape;337;p65"/>
          <p:cNvSpPr txBox="1">
            <a:spLocks noGrp="1"/>
          </p:cNvSpPr>
          <p:nvPr>
            <p:ph type="body" idx="1"/>
          </p:nvPr>
        </p:nvSpPr>
        <p:spPr>
          <a:xfrm>
            <a:off x="0" y="3010593"/>
            <a:ext cx="79248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Font typeface="Arial"/>
              <a:buAutoNum type="arabicPeriod" startAt="2"/>
            </a:pPr>
            <a:r>
              <a:rPr lang="en-US"/>
              <a:t>Is the frequency of the behavior going to be increased or decreased? </a:t>
            </a:r>
            <a:endParaRPr/>
          </a:p>
          <a:p>
            <a:pPr marL="1035050" lvl="1" indent="-514350" algn="l" rtl="0">
              <a:lnSpc>
                <a:spcPct val="100000"/>
              </a:lnSpc>
              <a:spcBef>
                <a:spcPts val="560"/>
              </a:spcBef>
              <a:spcAft>
                <a:spcPts val="0"/>
              </a:spcAft>
              <a:buSzPts val="2800"/>
              <a:buFont typeface="Arial"/>
              <a:buAutoNum type="alphaLcPeriod"/>
            </a:pPr>
            <a:r>
              <a:rPr lang="en-US"/>
              <a:t>Increased </a:t>
            </a:r>
            <a:endParaRPr/>
          </a:p>
          <a:p>
            <a:pPr marL="1035050" lvl="1" indent="-514350" algn="l" rtl="0">
              <a:lnSpc>
                <a:spcPct val="100000"/>
              </a:lnSpc>
              <a:spcBef>
                <a:spcPts val="560"/>
              </a:spcBef>
              <a:spcAft>
                <a:spcPts val="0"/>
              </a:spcAft>
              <a:buSzPts val="2800"/>
              <a:buFont typeface="Arial"/>
              <a:buAutoNum type="alphaLcPeriod"/>
            </a:pPr>
            <a:r>
              <a:rPr lang="en-US"/>
              <a:t>Decreased </a:t>
            </a:r>
            <a:endParaRPr/>
          </a:p>
          <a:p>
            <a:pPr marL="635000" lvl="0" indent="-311150" algn="l" rtl="0">
              <a:lnSpc>
                <a:spcPct val="100000"/>
              </a:lnSpc>
              <a:spcBef>
                <a:spcPts val="640"/>
              </a:spcBef>
              <a:spcAft>
                <a:spcPts val="0"/>
              </a:spcAft>
              <a:buSzPts val="3200"/>
              <a:buNone/>
            </a:pPr>
            <a:endParaRPr/>
          </a:p>
          <a:p>
            <a:pPr marL="120650" lvl="0" indent="0" algn="l" rtl="0">
              <a:lnSpc>
                <a:spcPct val="100000"/>
              </a:lnSpc>
              <a:spcBef>
                <a:spcPts val="640"/>
              </a:spcBef>
              <a:spcAft>
                <a:spcPts val="0"/>
              </a:spcAft>
              <a:buSzPts val="3200"/>
              <a:buNone/>
            </a:pPr>
            <a:endParaRPr/>
          </a:p>
        </p:txBody>
      </p:sp>
      <p:sp>
        <p:nvSpPr>
          <p:cNvPr id="338" name="Google Shape;338;p65"/>
          <p:cNvSpPr/>
          <p:nvPr/>
        </p:nvSpPr>
        <p:spPr>
          <a:xfrm>
            <a:off x="457200" y="4114276"/>
            <a:ext cx="2252749" cy="497898"/>
          </a:xfrm>
          <a:prstGeom prst="rect">
            <a:avLst/>
          </a:prstGeom>
          <a:noFill/>
          <a:ln w="762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9" name="Google Shape;339;p65"/>
          <p:cNvSpPr/>
          <p:nvPr/>
        </p:nvSpPr>
        <p:spPr>
          <a:xfrm>
            <a:off x="2942705" y="4110814"/>
            <a:ext cx="432262" cy="580161"/>
          </a:xfrm>
          <a:prstGeom prst="upArrow">
            <a:avLst>
              <a:gd name="adj1" fmla="val 50000"/>
              <a:gd name="adj2" fmla="val 50000"/>
            </a:avLst>
          </a:prstGeom>
          <a:solidFill>
            <a:srgbClr val="FCA018"/>
          </a:solidFill>
          <a:ln w="254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3"/>
          <p:cNvSpPr txBox="1">
            <a:spLocks noGrp="1"/>
          </p:cNvSpPr>
          <p:nvPr>
            <p:ph type="title"/>
          </p:nvPr>
        </p:nvSpPr>
        <p:spPr>
          <a:xfrm>
            <a:off x="0" y="1460269"/>
            <a:ext cx="72898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sz="4400" b="0" i="0" u="none" strike="noStrike">
                <a:solidFill>
                  <a:srgbClr val="000000"/>
                </a:solidFill>
                <a:latin typeface="Calibri"/>
                <a:ea typeface="Calibri"/>
                <a:cs typeface="Calibri"/>
                <a:sym typeface="Calibri"/>
              </a:rPr>
              <a:t>I put on sunscreen to avoid a sunburn.</a:t>
            </a:r>
            <a:endParaRPr/>
          </a:p>
        </p:txBody>
      </p:sp>
      <p:sp>
        <p:nvSpPr>
          <p:cNvPr id="345" name="Google Shape;345;p23"/>
          <p:cNvSpPr txBox="1">
            <a:spLocks noGrp="1"/>
          </p:cNvSpPr>
          <p:nvPr>
            <p:ph type="body" idx="1"/>
          </p:nvPr>
        </p:nvSpPr>
        <p:spPr>
          <a:xfrm>
            <a:off x="0" y="3126970"/>
            <a:ext cx="9144000" cy="4876799"/>
          </a:xfrm>
          <a:prstGeom prst="rect">
            <a:avLst/>
          </a:prstGeom>
          <a:noFill/>
          <a:ln>
            <a:noFill/>
          </a:ln>
        </p:spPr>
        <p:txBody>
          <a:bodyPr spcFirstLastPara="1" wrap="square" lIns="91425" tIns="91425" rIns="91425" bIns="91425" anchor="t" anchorCtr="0">
            <a:noAutofit/>
          </a:bodyPr>
          <a:lstStyle/>
          <a:p>
            <a:pPr marL="635000" lvl="0" indent="-514350" algn="l" rtl="0">
              <a:lnSpc>
                <a:spcPct val="100000"/>
              </a:lnSpc>
              <a:spcBef>
                <a:spcPts val="0"/>
              </a:spcBef>
              <a:spcAft>
                <a:spcPts val="0"/>
              </a:spcAft>
              <a:buSzPts val="3200"/>
              <a:buFont typeface="Arial"/>
              <a:buAutoNum type="arabicPeriod" startAt="3"/>
            </a:pPr>
            <a:r>
              <a:rPr lang="en-US" dirty="0"/>
              <a:t>Is something being added or taken away (to change the behavior)? </a:t>
            </a:r>
            <a:endParaRPr dirty="0"/>
          </a:p>
          <a:p>
            <a:pPr marL="1035050" lvl="1" indent="-514350" algn="l" rtl="0">
              <a:lnSpc>
                <a:spcPct val="100000"/>
              </a:lnSpc>
              <a:spcBef>
                <a:spcPts val="560"/>
              </a:spcBef>
              <a:spcAft>
                <a:spcPts val="0"/>
              </a:spcAft>
              <a:buSzPts val="2800"/>
              <a:buFont typeface="Arial"/>
              <a:buAutoNum type="alphaLcPeriod"/>
            </a:pPr>
            <a:r>
              <a:rPr lang="en-US" dirty="0"/>
              <a:t>Added something</a:t>
            </a:r>
            <a:endParaRPr dirty="0"/>
          </a:p>
          <a:p>
            <a:pPr marL="1035050" lvl="1" indent="-514350" algn="l" rtl="0">
              <a:lnSpc>
                <a:spcPct val="100000"/>
              </a:lnSpc>
              <a:spcBef>
                <a:spcPts val="560"/>
              </a:spcBef>
              <a:spcAft>
                <a:spcPts val="0"/>
              </a:spcAft>
              <a:buSzPts val="2800"/>
              <a:buFont typeface="Arial"/>
              <a:buAutoNum type="alphaLcPeriod"/>
            </a:pPr>
            <a:r>
              <a:rPr lang="en-US" dirty="0"/>
              <a:t>Took away something</a:t>
            </a:r>
            <a:endParaRPr dirty="0"/>
          </a:p>
          <a:p>
            <a:pPr marL="635000" lvl="0" indent="-311150" algn="l" rtl="0">
              <a:lnSpc>
                <a:spcPct val="100000"/>
              </a:lnSpc>
              <a:spcBef>
                <a:spcPts val="640"/>
              </a:spcBef>
              <a:spcAft>
                <a:spcPts val="0"/>
              </a:spcAft>
              <a:buSzPts val="3200"/>
              <a:buNone/>
            </a:pPr>
            <a:endParaRPr dirty="0"/>
          </a:p>
          <a:p>
            <a:pPr marL="120650" lvl="0" indent="0" algn="l" rtl="0">
              <a:lnSpc>
                <a:spcPct val="100000"/>
              </a:lnSpc>
              <a:spcBef>
                <a:spcPts val="640"/>
              </a:spcBef>
              <a:spcAft>
                <a:spcPts val="0"/>
              </a:spcAft>
              <a:buSzPts val="3200"/>
              <a:buNone/>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4"/>
          <p:cNvSpPr txBox="1">
            <a:spLocks noGrp="1"/>
          </p:cNvSpPr>
          <p:nvPr>
            <p:ph type="title"/>
          </p:nvPr>
        </p:nvSpPr>
        <p:spPr>
          <a:xfrm>
            <a:off x="88900" y="1574568"/>
            <a:ext cx="7239000" cy="1130531"/>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400"/>
              <a:buNone/>
            </a:pPr>
            <a:r>
              <a:rPr lang="en-US" sz="4400" b="0" i="0" u="none" strike="noStrike">
                <a:solidFill>
                  <a:srgbClr val="000000"/>
                </a:solidFill>
                <a:latin typeface="Calibri"/>
                <a:ea typeface="Calibri"/>
                <a:cs typeface="Calibri"/>
                <a:sym typeface="Calibri"/>
              </a:rPr>
              <a:t>I put on sunscreen to avoid a sunburn.</a:t>
            </a:r>
            <a:endParaRPr/>
          </a:p>
        </p:txBody>
      </p:sp>
      <p:sp>
        <p:nvSpPr>
          <p:cNvPr id="351" name="Google Shape;351;p24"/>
          <p:cNvSpPr txBox="1">
            <a:spLocks noGrp="1"/>
          </p:cNvSpPr>
          <p:nvPr>
            <p:ph type="body" idx="1"/>
          </p:nvPr>
        </p:nvSpPr>
        <p:spPr>
          <a:xfrm>
            <a:off x="0" y="3293225"/>
            <a:ext cx="9144000" cy="4876799"/>
          </a:xfrm>
          <a:prstGeom prst="rect">
            <a:avLst/>
          </a:prstGeom>
          <a:noFill/>
          <a:ln>
            <a:noFill/>
          </a:ln>
        </p:spPr>
        <p:txBody>
          <a:bodyPr spcFirstLastPara="1" wrap="square" lIns="91425" tIns="91425" rIns="91425" bIns="91425" anchor="t" anchorCtr="0">
            <a:noAutofit/>
          </a:bodyPr>
          <a:lstStyle/>
          <a:p>
            <a:pPr marL="635000" indent="-514350">
              <a:spcBef>
                <a:spcPts val="0"/>
              </a:spcBef>
              <a:buSzPts val="3200"/>
              <a:buFont typeface="Arial"/>
              <a:buAutoNum type="arabicPeriod" startAt="3"/>
            </a:pPr>
            <a:r>
              <a:rPr lang="en-US" dirty="0"/>
              <a:t>Is something being added or taken away after the behavior occurs (to change the behavior)? </a:t>
            </a:r>
            <a:endParaRPr dirty="0"/>
          </a:p>
          <a:p>
            <a:pPr marL="1035050" lvl="1" indent="-514350" algn="l" rtl="0">
              <a:lnSpc>
                <a:spcPct val="100000"/>
              </a:lnSpc>
              <a:spcBef>
                <a:spcPts val="560"/>
              </a:spcBef>
              <a:spcAft>
                <a:spcPts val="0"/>
              </a:spcAft>
              <a:buSzPts val="2800"/>
              <a:buFont typeface="Arial"/>
              <a:buAutoNum type="alphaLcPeriod"/>
            </a:pPr>
            <a:r>
              <a:rPr lang="en-US" dirty="0"/>
              <a:t>Added something </a:t>
            </a:r>
            <a:endParaRPr dirty="0"/>
          </a:p>
          <a:p>
            <a:pPr marL="1035050" lvl="1" indent="-514350" algn="l" rtl="0">
              <a:lnSpc>
                <a:spcPct val="100000"/>
              </a:lnSpc>
              <a:spcBef>
                <a:spcPts val="560"/>
              </a:spcBef>
              <a:spcAft>
                <a:spcPts val="0"/>
              </a:spcAft>
              <a:buSzPts val="2800"/>
              <a:buFont typeface="Arial"/>
              <a:buAutoNum type="alphaLcPeriod"/>
            </a:pPr>
            <a:r>
              <a:rPr lang="en-US" dirty="0"/>
              <a:t>Took away something</a:t>
            </a:r>
            <a:endParaRPr dirty="0"/>
          </a:p>
          <a:p>
            <a:pPr marL="120650" lvl="0" indent="0" algn="l" rtl="0">
              <a:lnSpc>
                <a:spcPct val="100000"/>
              </a:lnSpc>
              <a:spcBef>
                <a:spcPts val="640"/>
              </a:spcBef>
              <a:spcAft>
                <a:spcPts val="0"/>
              </a:spcAft>
              <a:buSzPts val="3200"/>
              <a:buNone/>
            </a:pPr>
            <a:endParaRPr dirty="0"/>
          </a:p>
        </p:txBody>
      </p:sp>
      <p:sp>
        <p:nvSpPr>
          <p:cNvPr id="352" name="Google Shape;352;p24"/>
          <p:cNvSpPr/>
          <p:nvPr/>
        </p:nvSpPr>
        <p:spPr>
          <a:xfrm>
            <a:off x="571887" y="5376317"/>
            <a:ext cx="4229105" cy="630518"/>
          </a:xfrm>
          <a:prstGeom prst="rect">
            <a:avLst/>
          </a:prstGeom>
          <a:noFill/>
          <a:ln w="762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3" name="Google Shape;353;p24"/>
          <p:cNvSpPr/>
          <p:nvPr/>
        </p:nvSpPr>
        <p:spPr>
          <a:xfrm>
            <a:off x="5048224" y="5435651"/>
            <a:ext cx="674600" cy="596900"/>
          </a:xfrm>
          <a:prstGeom prst="mathMinus">
            <a:avLst>
              <a:gd name="adj1" fmla="val 23520"/>
            </a:avLst>
          </a:prstGeom>
          <a:solidFill>
            <a:srgbClr val="FCA018"/>
          </a:solidFill>
          <a:ln w="25400" cap="flat" cmpd="sng">
            <a:solidFill>
              <a:srgbClr val="FCA0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54" name="Google Shape;354;p24"/>
          <p:cNvCxnSpPr/>
          <p:nvPr/>
        </p:nvCxnSpPr>
        <p:spPr>
          <a:xfrm>
            <a:off x="5384800" y="2064556"/>
            <a:ext cx="1638300" cy="0"/>
          </a:xfrm>
          <a:prstGeom prst="straightConnector1">
            <a:avLst/>
          </a:prstGeom>
          <a:noFill/>
          <a:ln w="76200" cap="flat" cmpd="sng">
            <a:solidFill>
              <a:srgbClr val="FCA018"/>
            </a:solidFill>
            <a:prstDash val="solid"/>
            <a:round/>
            <a:headEnd type="none" w="sm" len="sm"/>
            <a:tailEnd type="none" w="sm" len="sm"/>
          </a:ln>
        </p:spPr>
      </p:cxnSp>
      <p:cxnSp>
        <p:nvCxnSpPr>
          <p:cNvPr id="355" name="Google Shape;355;p24"/>
          <p:cNvCxnSpPr/>
          <p:nvPr/>
        </p:nvCxnSpPr>
        <p:spPr>
          <a:xfrm>
            <a:off x="2705100" y="2705099"/>
            <a:ext cx="1866900" cy="0"/>
          </a:xfrm>
          <a:prstGeom prst="straightConnector1">
            <a:avLst/>
          </a:prstGeom>
          <a:noFill/>
          <a:ln w="76200" cap="flat" cmpd="sng">
            <a:solidFill>
              <a:srgbClr val="FCA018"/>
            </a:solidFill>
            <a:prstDash val="solid"/>
            <a:round/>
            <a:headEnd type="none" w="sm" len="sm"/>
            <a:tailEnd type="none" w="sm" len="sm"/>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5"/>
          <p:cNvSpPr txBox="1">
            <a:spLocks noGrp="1"/>
          </p:cNvSpPr>
          <p:nvPr>
            <p:ph type="body" idx="1"/>
          </p:nvPr>
        </p:nvSpPr>
        <p:spPr>
          <a:xfrm>
            <a:off x="292100" y="1711971"/>
            <a:ext cx="6997700" cy="3434058"/>
          </a:xfrm>
          <a:prstGeom prst="rect">
            <a:avLst/>
          </a:prstGeom>
          <a:noFill/>
          <a:ln>
            <a:noFill/>
          </a:ln>
        </p:spPr>
        <p:txBody>
          <a:bodyPr spcFirstLastPara="1" wrap="square" lIns="91425" tIns="91425" rIns="91425" bIns="91425" anchor="t" anchorCtr="0">
            <a:noAutofit/>
          </a:bodyPr>
          <a:lstStyle/>
          <a:p>
            <a:pPr marL="1371600" lvl="0" indent="457200" algn="ctr" rtl="0">
              <a:lnSpc>
                <a:spcPct val="100000"/>
              </a:lnSpc>
              <a:spcBef>
                <a:spcPts val="0"/>
              </a:spcBef>
              <a:spcAft>
                <a:spcPts val="0"/>
              </a:spcAft>
              <a:buSzPts val="1800"/>
              <a:buNone/>
            </a:pPr>
            <a:r>
              <a:rPr lang="en-US" sz="5000"/>
              <a:t>Now work on these questions in groups of two or three!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6"/>
          <p:cNvSpPr txBox="1">
            <a:spLocks noGrp="1"/>
          </p:cNvSpPr>
          <p:nvPr>
            <p:ph type="body" idx="1"/>
          </p:nvPr>
        </p:nvSpPr>
        <p:spPr>
          <a:xfrm>
            <a:off x="0" y="2268242"/>
            <a:ext cx="9144000" cy="4876800"/>
          </a:xfrm>
          <a:prstGeom prst="rect">
            <a:avLst/>
          </a:prstGeom>
          <a:noFill/>
          <a:ln>
            <a:noFill/>
          </a:ln>
        </p:spPr>
        <p:txBody>
          <a:bodyPr spcFirstLastPara="1" wrap="square" lIns="91425" tIns="91425" rIns="91425" bIns="91425" anchor="t" anchorCtr="0">
            <a:noAutofit/>
          </a:bodyPr>
          <a:lstStyle/>
          <a:p>
            <a:pPr marL="1371600" lvl="0" indent="457200" algn="l" rtl="0">
              <a:lnSpc>
                <a:spcPct val="100000"/>
              </a:lnSpc>
              <a:spcBef>
                <a:spcPts val="0"/>
              </a:spcBef>
              <a:spcAft>
                <a:spcPts val="0"/>
              </a:spcAft>
              <a:buSzPts val="1800"/>
              <a:buNone/>
            </a:pPr>
            <a:r>
              <a:rPr lang="en-US" sz="8000"/>
              <a:t>Questions??</a:t>
            </a:r>
            <a:endParaRPr sz="8000"/>
          </a:p>
          <a:p>
            <a:pPr marL="1371600" lvl="0" indent="0" algn="l" rtl="0">
              <a:lnSpc>
                <a:spcPct val="100000"/>
              </a:lnSpc>
              <a:spcBef>
                <a:spcPts val="640"/>
              </a:spcBef>
              <a:spcAft>
                <a:spcPts val="0"/>
              </a:spcAft>
              <a:buSzPts val="1800"/>
              <a:buNone/>
            </a:pPr>
            <a:r>
              <a:rPr lang="en-US" sz="5000"/>
              <a:t> What did you learn?</a:t>
            </a:r>
            <a:endParaRPr sz="5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10"/>
          <p:cNvSpPr txBox="1">
            <a:spLocks noGrp="1"/>
          </p:cNvSpPr>
          <p:nvPr>
            <p:ph type="body" idx="1"/>
          </p:nvPr>
        </p:nvSpPr>
        <p:spPr>
          <a:xfrm>
            <a:off x="-287383" y="1731314"/>
            <a:ext cx="8412480" cy="4876800"/>
          </a:xfrm>
          <a:prstGeom prst="rect">
            <a:avLst/>
          </a:prstGeom>
          <a:noFill/>
          <a:ln>
            <a:noFill/>
          </a:ln>
        </p:spPr>
        <p:txBody>
          <a:bodyPr spcFirstLastPara="1" wrap="square" lIns="91425" tIns="91425" rIns="91425" bIns="91425" anchor="t" anchorCtr="0">
            <a:noAutofit/>
          </a:bodyPr>
          <a:lstStyle/>
          <a:p>
            <a:pPr marL="76200" lvl="0" indent="-50800" algn="ctr" rtl="0">
              <a:lnSpc>
                <a:spcPct val="100000"/>
              </a:lnSpc>
              <a:spcBef>
                <a:spcPts val="0"/>
              </a:spcBef>
              <a:spcAft>
                <a:spcPts val="0"/>
              </a:spcAft>
              <a:buSzPts val="1800"/>
              <a:buNone/>
            </a:pPr>
            <a:r>
              <a:rPr lang="en-US" sz="4800" dirty="0"/>
              <a:t>Now, we are going to </a:t>
            </a:r>
          </a:p>
          <a:p>
            <a:pPr marL="76200" lvl="0" indent="-50800" algn="ctr" rtl="0">
              <a:lnSpc>
                <a:spcPct val="100000"/>
              </a:lnSpc>
              <a:spcBef>
                <a:spcPts val="0"/>
              </a:spcBef>
              <a:spcAft>
                <a:spcPts val="0"/>
              </a:spcAft>
              <a:buSzPts val="1800"/>
              <a:buNone/>
            </a:pPr>
            <a:r>
              <a:rPr lang="en-US" sz="4800" dirty="0"/>
              <a:t>talk about…</a:t>
            </a:r>
          </a:p>
          <a:p>
            <a:pPr marL="76200" lvl="0" indent="-50800" algn="ctr" rtl="0">
              <a:lnSpc>
                <a:spcPct val="100000"/>
              </a:lnSpc>
              <a:spcBef>
                <a:spcPts val="0"/>
              </a:spcBef>
              <a:spcAft>
                <a:spcPts val="0"/>
              </a:spcAft>
              <a:buSzPts val="1800"/>
              <a:buNone/>
            </a:pPr>
            <a:r>
              <a:rPr lang="en-US" sz="4800" dirty="0"/>
              <a:t> </a:t>
            </a:r>
          </a:p>
          <a:p>
            <a:pPr marL="76200" lvl="0" indent="-50800" algn="ctr" rtl="0">
              <a:lnSpc>
                <a:spcPct val="100000"/>
              </a:lnSpc>
              <a:spcBef>
                <a:spcPts val="0"/>
              </a:spcBef>
              <a:spcAft>
                <a:spcPts val="0"/>
              </a:spcAft>
              <a:buSzPts val="1800"/>
              <a:buNone/>
            </a:pPr>
            <a:r>
              <a:rPr lang="en-US" sz="4800" dirty="0"/>
              <a:t>Using Operant Conditioning </a:t>
            </a:r>
          </a:p>
          <a:p>
            <a:pPr marL="76200" lvl="0" indent="-50800" algn="ctr" rtl="0">
              <a:lnSpc>
                <a:spcPct val="100000"/>
              </a:lnSpc>
              <a:spcBef>
                <a:spcPts val="0"/>
              </a:spcBef>
              <a:spcAft>
                <a:spcPts val="0"/>
              </a:spcAft>
              <a:buSzPts val="1800"/>
              <a:buNone/>
            </a:pPr>
            <a:r>
              <a:rPr lang="en-US" sz="4800" dirty="0"/>
              <a:t>to Change YOUR Behavior!</a:t>
            </a:r>
            <a:endParaRPr sz="4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67"/>
          <p:cNvSpPr txBox="1">
            <a:spLocks noGrp="1"/>
          </p:cNvSpPr>
          <p:nvPr>
            <p:ph type="title"/>
          </p:nvPr>
        </p:nvSpPr>
        <p:spPr>
          <a:xfrm>
            <a:off x="0" y="762000"/>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sz="3600"/>
              <a:t>Choice of Unwanted Target Behaviors</a:t>
            </a:r>
            <a:endParaRPr sz="3600"/>
          </a:p>
        </p:txBody>
      </p:sp>
      <p:sp>
        <p:nvSpPr>
          <p:cNvPr id="390" name="Google Shape;390;p67"/>
          <p:cNvSpPr txBox="1">
            <a:spLocks noGrp="1"/>
          </p:cNvSpPr>
          <p:nvPr>
            <p:ph type="body" idx="1"/>
          </p:nvPr>
        </p:nvSpPr>
        <p:spPr>
          <a:xfrm>
            <a:off x="1" y="1600200"/>
            <a:ext cx="7889358" cy="5257800"/>
          </a:xfrm>
          <a:prstGeom prst="rect">
            <a:avLst/>
          </a:prstGeom>
          <a:noFill/>
          <a:ln>
            <a:noFill/>
          </a:ln>
        </p:spPr>
        <p:txBody>
          <a:bodyPr spcFirstLastPara="1" wrap="square" lIns="91425" tIns="91425" rIns="91425" bIns="91425" anchor="t" anchorCtr="0">
            <a:noAutofit/>
          </a:bodyPr>
          <a:lstStyle/>
          <a:p>
            <a:pPr marL="765810" lvl="0" indent="-457200" algn="l" rtl="0">
              <a:lnSpc>
                <a:spcPct val="170000"/>
              </a:lnSpc>
              <a:spcBef>
                <a:spcPts val="640"/>
              </a:spcBef>
              <a:spcAft>
                <a:spcPts val="0"/>
              </a:spcAft>
              <a:buSzPts val="2960"/>
              <a:buChar char="•"/>
            </a:pPr>
            <a:r>
              <a:rPr lang="en-US" dirty="0"/>
              <a:t>Lack of sleep</a:t>
            </a:r>
            <a:endParaRPr sz="3600" dirty="0"/>
          </a:p>
          <a:p>
            <a:pPr marL="765810" lvl="0" indent="-457200" algn="l" rtl="0">
              <a:lnSpc>
                <a:spcPct val="170000"/>
              </a:lnSpc>
              <a:spcBef>
                <a:spcPts val="640"/>
              </a:spcBef>
              <a:spcAft>
                <a:spcPts val="0"/>
              </a:spcAft>
              <a:buSzPts val="2960"/>
              <a:buChar char="•"/>
            </a:pPr>
            <a:r>
              <a:rPr lang="en-US" dirty="0"/>
              <a:t>Lack of exercise </a:t>
            </a:r>
            <a:endParaRPr sz="3600" dirty="0"/>
          </a:p>
          <a:p>
            <a:pPr marL="765810" lvl="0" indent="-457200" algn="l" rtl="0">
              <a:lnSpc>
                <a:spcPct val="120000"/>
              </a:lnSpc>
              <a:spcBef>
                <a:spcPts val="640"/>
              </a:spcBef>
              <a:spcAft>
                <a:spcPts val="0"/>
              </a:spcAft>
              <a:buSzPts val="2960"/>
              <a:buChar char="•"/>
            </a:pPr>
            <a:r>
              <a:rPr lang="en-US" dirty="0"/>
              <a:t>Insufficient consumption of fruits and vegetables </a:t>
            </a:r>
            <a:endParaRPr sz="3600" dirty="0"/>
          </a:p>
          <a:p>
            <a:pPr marL="765810" lvl="0" indent="-457200" algn="l" rtl="0">
              <a:lnSpc>
                <a:spcPct val="120000"/>
              </a:lnSpc>
              <a:spcBef>
                <a:spcPts val="640"/>
              </a:spcBef>
              <a:spcAft>
                <a:spcPts val="0"/>
              </a:spcAft>
              <a:buSzPts val="2960"/>
              <a:buChar char="•"/>
            </a:pPr>
            <a:r>
              <a:rPr lang="en-US" dirty="0"/>
              <a:t>Spending too much time on electronic devices</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4">
          <a:extLst>
            <a:ext uri="{FF2B5EF4-FFF2-40B4-BE49-F238E27FC236}">
              <a16:creationId xmlns:a16="http://schemas.microsoft.com/office/drawing/2014/main" id="{0448CAB2-160C-E324-BD40-728B0F44AE2D}"/>
            </a:ext>
          </a:extLst>
        </p:cNvPr>
        <p:cNvGrpSpPr/>
        <p:nvPr/>
      </p:nvGrpSpPr>
      <p:grpSpPr>
        <a:xfrm>
          <a:off x="0" y="0"/>
          <a:ext cx="0" cy="0"/>
          <a:chOff x="0" y="0"/>
          <a:chExt cx="0" cy="0"/>
        </a:xfrm>
      </p:grpSpPr>
      <p:sp>
        <p:nvSpPr>
          <p:cNvPr id="395" name="Google Shape;395;p27">
            <a:extLst>
              <a:ext uri="{FF2B5EF4-FFF2-40B4-BE49-F238E27FC236}">
                <a16:creationId xmlns:a16="http://schemas.microsoft.com/office/drawing/2014/main" id="{CD70EE4D-48E5-D02A-4484-0B9A8AD74344}"/>
              </a:ext>
            </a:extLst>
          </p:cNvPr>
          <p:cNvSpPr txBox="1">
            <a:spLocks noGrp="1"/>
          </p:cNvSpPr>
          <p:nvPr>
            <p:ph type="body" idx="1"/>
          </p:nvPr>
        </p:nvSpPr>
        <p:spPr>
          <a:xfrm>
            <a:off x="0" y="1642824"/>
            <a:ext cx="9132794" cy="5442535"/>
          </a:xfrm>
          <a:prstGeom prst="rect">
            <a:avLst/>
          </a:prstGeom>
          <a:noFill/>
          <a:ln>
            <a:noFill/>
          </a:ln>
        </p:spPr>
        <p:txBody>
          <a:bodyPr spcFirstLastPara="1" wrap="square" lIns="91425" tIns="91425" rIns="91425" bIns="91425" anchor="t" anchorCtr="0">
            <a:noAutofit/>
          </a:bodyPr>
          <a:lstStyle/>
          <a:p>
            <a:pPr marL="114300" indent="0" algn="ctr">
              <a:lnSpc>
                <a:spcPct val="80000"/>
              </a:lnSpc>
              <a:spcBef>
                <a:spcPts val="0"/>
              </a:spcBef>
              <a:buSzPts val="2422"/>
              <a:buNone/>
            </a:pPr>
            <a:endParaRPr lang="en-US" sz="4000" b="1" dirty="0"/>
          </a:p>
          <a:p>
            <a:pPr marL="114300" indent="0">
              <a:lnSpc>
                <a:spcPct val="80000"/>
              </a:lnSpc>
              <a:spcBef>
                <a:spcPts val="0"/>
              </a:spcBef>
              <a:buSzPts val="2422"/>
              <a:buNone/>
            </a:pPr>
            <a:r>
              <a:rPr lang="en-US" sz="4000" b="1" dirty="0"/>
              <a:t>For </a:t>
            </a:r>
            <a:r>
              <a:rPr lang="en-US" sz="4000" b="1" dirty="0">
                <a:solidFill>
                  <a:srgbClr val="00B050"/>
                </a:solidFill>
              </a:rPr>
              <a:t>reinforcement</a:t>
            </a:r>
            <a:r>
              <a:rPr lang="en-US" sz="4000" b="1" dirty="0"/>
              <a:t>, you are going to try to increase your wanted goal behavior (WGB).</a:t>
            </a:r>
            <a:endParaRPr lang="en-US" dirty="0"/>
          </a:p>
          <a:p>
            <a:pPr marL="114300" indent="0" algn="ctr">
              <a:lnSpc>
                <a:spcPct val="80000"/>
              </a:lnSpc>
              <a:spcBef>
                <a:spcPts val="0"/>
              </a:spcBef>
              <a:buSzPts val="2422"/>
              <a:buNone/>
            </a:pPr>
            <a:endParaRPr lang="en-US" sz="4000" b="1" dirty="0"/>
          </a:p>
          <a:p>
            <a:pPr marL="114300" indent="0">
              <a:lnSpc>
                <a:spcPct val="80000"/>
              </a:lnSpc>
              <a:spcBef>
                <a:spcPts val="0"/>
              </a:spcBef>
              <a:buSzPts val="2422"/>
              <a:buNone/>
            </a:pPr>
            <a:r>
              <a:rPr lang="en-US" sz="4000" b="1" dirty="0"/>
              <a:t>For </a:t>
            </a:r>
            <a:r>
              <a:rPr lang="en-US" sz="4000" b="1" dirty="0">
                <a:solidFill>
                  <a:srgbClr val="FF0000"/>
                </a:solidFill>
              </a:rPr>
              <a:t>punishment</a:t>
            </a:r>
            <a:r>
              <a:rPr lang="en-US" sz="4000" b="1" dirty="0"/>
              <a:t>, you are going to try to decrease your unwanted target behavior (UTB).</a:t>
            </a:r>
          </a:p>
          <a:p>
            <a:pPr marL="114300" indent="0" algn="ctr">
              <a:lnSpc>
                <a:spcPct val="80000"/>
              </a:lnSpc>
              <a:spcBef>
                <a:spcPts val="0"/>
              </a:spcBef>
              <a:buSzPts val="2422"/>
              <a:buNone/>
            </a:pPr>
            <a:endParaRPr lang="en-US" sz="4000" b="1" dirty="0"/>
          </a:p>
          <a:p>
            <a:pPr marL="114300" indent="0" algn="ctr">
              <a:lnSpc>
                <a:spcPct val="80000"/>
              </a:lnSpc>
              <a:spcBef>
                <a:spcPts val="0"/>
              </a:spcBef>
              <a:buSzPts val="2422"/>
              <a:buNone/>
            </a:pPr>
            <a:endParaRPr lang="en-US" sz="4000" b="1" dirty="0"/>
          </a:p>
          <a:p>
            <a:pPr marL="114300" indent="0" algn="ctr">
              <a:lnSpc>
                <a:spcPct val="80000"/>
              </a:lnSpc>
              <a:spcBef>
                <a:spcPts val="0"/>
              </a:spcBef>
              <a:buSzPts val="2422"/>
              <a:buNone/>
            </a:pPr>
            <a:endParaRPr lang="en-US" sz="4000" b="1" dirty="0"/>
          </a:p>
          <a:p>
            <a:pPr marL="114300" indent="0" algn="ctr">
              <a:lnSpc>
                <a:spcPct val="80000"/>
              </a:lnSpc>
              <a:spcBef>
                <a:spcPts val="0"/>
              </a:spcBef>
              <a:buSzPts val="2422"/>
              <a:buNone/>
            </a:pPr>
            <a:endParaRPr lang="en-US" sz="4000" b="1" dirty="0"/>
          </a:p>
        </p:txBody>
      </p:sp>
      <p:sp>
        <p:nvSpPr>
          <p:cNvPr id="396" name="Google Shape;396;p27">
            <a:extLst>
              <a:ext uri="{FF2B5EF4-FFF2-40B4-BE49-F238E27FC236}">
                <a16:creationId xmlns:a16="http://schemas.microsoft.com/office/drawing/2014/main" id="{972CBA0F-C2D7-EABB-2B03-FDFDA3DC59C2}"/>
              </a:ext>
            </a:extLst>
          </p:cNvPr>
          <p:cNvSpPr txBox="1">
            <a:spLocks noGrp="1"/>
          </p:cNvSpPr>
          <p:nvPr>
            <p:ph type="title"/>
          </p:nvPr>
        </p:nvSpPr>
        <p:spPr>
          <a:xfrm>
            <a:off x="0" y="824784"/>
            <a:ext cx="9144000" cy="1057805"/>
          </a:xfrm>
          <a:prstGeom prst="rect">
            <a:avLst/>
          </a:prstGeom>
          <a:noFill/>
          <a:ln>
            <a:noFill/>
          </a:ln>
        </p:spPr>
        <p:txBody>
          <a:bodyPr spcFirstLastPara="1" wrap="square" lIns="91425" tIns="91425" rIns="91425" bIns="91425" anchor="ctr" anchorCtr="0">
            <a:noAutofit/>
          </a:bodyPr>
          <a:lstStyle/>
          <a:p>
            <a:pPr algn="ctr">
              <a:buSzPts val="5400"/>
            </a:pPr>
            <a:r>
              <a:rPr lang="en-US" dirty="0"/>
              <a:t>Important Note:  </a:t>
            </a:r>
            <a:r>
              <a:rPr lang="en-US" b="1" i="0" u="none" strike="noStrike" cap="none" dirty="0">
                <a:latin typeface="Trebuchet MS"/>
                <a:ea typeface="Trebuchet MS"/>
                <a:cs typeface="Trebuchet MS"/>
                <a:sym typeface="Trebuchet MS"/>
              </a:rPr>
              <a:t> </a:t>
            </a:r>
            <a:endParaRPr lang="en-US" b="1" i="0" u="none" strike="noStrike" cap="none" dirty="0">
              <a:latin typeface="Trebuchet MS"/>
              <a:ea typeface="Trebuchet MS"/>
              <a:cs typeface="Trebuchet MS"/>
            </a:endParaRPr>
          </a:p>
        </p:txBody>
      </p:sp>
    </p:spTree>
    <p:extLst>
      <p:ext uri="{BB962C8B-B14F-4D97-AF65-F5344CB8AC3E}">
        <p14:creationId xmlns:p14="http://schemas.microsoft.com/office/powerpoint/2010/main" val="24850184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txBox="1">
            <a:spLocks noGrp="1"/>
          </p:cNvSpPr>
          <p:nvPr>
            <p:ph type="body" idx="1"/>
          </p:nvPr>
        </p:nvSpPr>
        <p:spPr>
          <a:xfrm>
            <a:off x="0" y="3510963"/>
            <a:ext cx="9121589" cy="3347037"/>
          </a:xfrm>
          <a:prstGeom prst="rect">
            <a:avLst/>
          </a:prstGeom>
          <a:noFill/>
          <a:ln>
            <a:noFill/>
          </a:ln>
        </p:spPr>
        <p:txBody>
          <a:bodyPr spcFirstLastPara="1" wrap="square" lIns="91425" tIns="91425" rIns="91425" bIns="91425" anchor="t" anchorCtr="0">
            <a:noAutofit/>
          </a:bodyPr>
          <a:lstStyle/>
          <a:p>
            <a:pPr marL="114300" indent="0" algn="ctr">
              <a:lnSpc>
                <a:spcPct val="80000"/>
              </a:lnSpc>
              <a:spcBef>
                <a:spcPts val="0"/>
              </a:spcBef>
              <a:buSzPts val="2422"/>
              <a:buNone/>
            </a:pPr>
            <a:r>
              <a:rPr lang="en-US" sz="4000" b="1" dirty="0"/>
              <a:t>For example: </a:t>
            </a:r>
          </a:p>
          <a:p>
            <a:pPr marL="114300" indent="0" algn="ctr">
              <a:lnSpc>
                <a:spcPct val="80000"/>
              </a:lnSpc>
              <a:spcBef>
                <a:spcPts val="0"/>
              </a:spcBef>
              <a:buSzPts val="2422"/>
              <a:buNone/>
            </a:pPr>
            <a:endParaRPr lang="en-US" dirty="0"/>
          </a:p>
          <a:p>
            <a:pPr marL="114300" indent="0">
              <a:lnSpc>
                <a:spcPct val="80000"/>
              </a:lnSpc>
              <a:spcBef>
                <a:spcPts val="0"/>
              </a:spcBef>
              <a:buSzPts val="2422"/>
              <a:buNone/>
            </a:pPr>
            <a:r>
              <a:rPr lang="en-US" sz="4000" b="1" dirty="0"/>
              <a:t>UTB: </a:t>
            </a:r>
            <a:r>
              <a:rPr lang="en-US" sz="4000" dirty="0"/>
              <a:t>Not drinking enough water</a:t>
            </a:r>
          </a:p>
          <a:p>
            <a:pPr marL="114300" indent="0">
              <a:lnSpc>
                <a:spcPct val="80000"/>
              </a:lnSpc>
              <a:spcBef>
                <a:spcPts val="0"/>
              </a:spcBef>
              <a:buSzPts val="2422"/>
              <a:buNone/>
            </a:pPr>
            <a:endParaRPr lang="en-US" sz="4000" b="1" dirty="0"/>
          </a:p>
          <a:p>
            <a:pPr marL="114300" indent="0">
              <a:lnSpc>
                <a:spcPct val="80000"/>
              </a:lnSpc>
              <a:spcBef>
                <a:spcPts val="0"/>
              </a:spcBef>
              <a:buSzPts val="2422"/>
              <a:buNone/>
            </a:pPr>
            <a:r>
              <a:rPr lang="en-US" sz="4000" b="1" dirty="0"/>
              <a:t>WGB: </a:t>
            </a:r>
            <a:r>
              <a:rPr lang="en-US" sz="4000" dirty="0"/>
              <a:t>I want to drink more water (at least 32 oz per day)</a:t>
            </a:r>
            <a:endParaRPr sz="4000" dirty="0"/>
          </a:p>
        </p:txBody>
      </p:sp>
      <p:sp>
        <p:nvSpPr>
          <p:cNvPr id="396" name="Google Shape;396;p27"/>
          <p:cNvSpPr txBox="1">
            <a:spLocks noGrp="1"/>
          </p:cNvSpPr>
          <p:nvPr>
            <p:ph type="title"/>
          </p:nvPr>
        </p:nvSpPr>
        <p:spPr>
          <a:xfrm>
            <a:off x="0" y="1404543"/>
            <a:ext cx="9144000" cy="10578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5400"/>
              <a:buFont typeface="Trebuchet MS"/>
              <a:buNone/>
            </a:pPr>
            <a:r>
              <a:rPr lang="en-US" b="1" i="0" u="none" strike="noStrike" cap="none" dirty="0">
                <a:latin typeface="Trebuchet MS"/>
                <a:ea typeface="Trebuchet MS"/>
                <a:cs typeface="Trebuchet MS"/>
                <a:sym typeface="Trebuchet MS"/>
              </a:rPr>
              <a:t>Example of using</a:t>
            </a:r>
            <a:br>
              <a:rPr lang="en-US" b="1" i="0" u="none" strike="noStrike" cap="none" dirty="0">
                <a:solidFill>
                  <a:schemeClr val="dk2"/>
                </a:solidFill>
                <a:latin typeface="Trebuchet MS"/>
                <a:ea typeface="Trebuchet MS"/>
                <a:cs typeface="Trebuchet MS"/>
                <a:sym typeface="Trebuchet MS"/>
              </a:rPr>
            </a:br>
            <a:r>
              <a:rPr lang="en-US" b="1" i="0" u="none" strike="noStrike" cap="none" dirty="0">
                <a:latin typeface="Trebuchet MS"/>
                <a:ea typeface="Trebuchet MS"/>
                <a:cs typeface="Trebuchet MS"/>
                <a:sym typeface="Trebuchet MS"/>
              </a:rPr>
              <a:t> Operant Conditioning </a:t>
            </a:r>
            <a:br>
              <a:rPr lang="en-US" b="1" i="0" u="none" strike="noStrike" cap="none" dirty="0">
                <a:latin typeface="Trebuchet MS"/>
                <a:ea typeface="Trebuchet MS"/>
                <a:cs typeface="Trebuchet MS"/>
                <a:sym typeface="Trebuchet MS"/>
              </a:rPr>
            </a:br>
            <a:r>
              <a:rPr lang="en-US" b="1" i="0" u="none" strike="noStrike" cap="none" dirty="0">
                <a:latin typeface="Trebuchet MS"/>
                <a:ea typeface="Trebuchet MS"/>
                <a:cs typeface="Trebuchet MS"/>
                <a:sym typeface="Trebuchet MS"/>
              </a:rPr>
              <a:t>to Change Behavior </a:t>
            </a:r>
            <a:endParaRPr lang="en-US" b="1" i="0" u="none" strike="noStrike" cap="none" dirty="0">
              <a:latin typeface="Trebuchet MS"/>
              <a:ea typeface="Trebuchet MS"/>
              <a:cs typeface="Trebuchet M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8"/>
          <p:cNvSpPr txBox="1">
            <a:spLocks noGrp="1"/>
          </p:cNvSpPr>
          <p:nvPr>
            <p:ph type="title"/>
          </p:nvPr>
        </p:nvSpPr>
        <p:spPr>
          <a:xfrm>
            <a:off x="0" y="1339384"/>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sz="4000" u="sng" dirty="0"/>
              <a:t>Positive Reinforcement(</a:t>
            </a:r>
            <a:r>
              <a:rPr lang="en-US" sz="4000" u="sng" dirty="0">
                <a:solidFill>
                  <a:schemeClr val="accent4">
                    <a:lumMod val="50000"/>
                  </a:schemeClr>
                </a:solidFill>
              </a:rPr>
              <a:t>+</a:t>
            </a:r>
            <a:r>
              <a:rPr lang="en-US" sz="4000" u="sng" dirty="0"/>
              <a:t>   ):  </a:t>
            </a:r>
            <a:br>
              <a:rPr lang="en-US" sz="4000" u="sng" dirty="0"/>
            </a:br>
            <a:r>
              <a:rPr lang="en-US" sz="4000" u="sng" dirty="0"/>
              <a:t>I want to drink more water.</a:t>
            </a:r>
            <a:endParaRPr sz="4000" dirty="0"/>
          </a:p>
        </p:txBody>
      </p:sp>
      <p:sp>
        <p:nvSpPr>
          <p:cNvPr id="402" name="Google Shape;402;p28"/>
          <p:cNvSpPr txBox="1">
            <a:spLocks noGrp="1"/>
          </p:cNvSpPr>
          <p:nvPr>
            <p:ph type="body" idx="1"/>
          </p:nvPr>
        </p:nvSpPr>
        <p:spPr>
          <a:xfrm>
            <a:off x="0" y="2846943"/>
            <a:ext cx="9144000" cy="3443514"/>
          </a:xfrm>
          <a:prstGeom prst="rect">
            <a:avLst/>
          </a:prstGeom>
          <a:noFill/>
          <a:ln>
            <a:noFill/>
          </a:ln>
        </p:spPr>
        <p:txBody>
          <a:bodyPr spcFirstLastPara="1" wrap="square" lIns="91425" tIns="91425" rIns="91425" bIns="91425" anchor="t" anchorCtr="0">
            <a:noAutofit/>
          </a:bodyPr>
          <a:lstStyle/>
          <a:p>
            <a:pPr marL="342900" lvl="0" indent="-228600" algn="l" rtl="0">
              <a:lnSpc>
                <a:spcPct val="100000"/>
              </a:lnSpc>
              <a:spcBef>
                <a:spcPts val="0"/>
              </a:spcBef>
              <a:spcAft>
                <a:spcPts val="0"/>
              </a:spcAft>
              <a:buSzPts val="1995"/>
              <a:buChar char="•"/>
            </a:pPr>
            <a:r>
              <a:rPr lang="en-US" dirty="0"/>
              <a:t>I will </a:t>
            </a:r>
            <a:r>
              <a:rPr lang="en-US" u="sng" dirty="0"/>
              <a:t>reward</a:t>
            </a:r>
            <a:r>
              <a:rPr lang="en-US" dirty="0"/>
              <a:t> myself with an episode of my favorite TV show every night after I drink at least 32 oz of water that day. You can see that I am </a:t>
            </a:r>
            <a:r>
              <a:rPr lang="en-US" u="sng" dirty="0"/>
              <a:t>adding something pleasant to increase the chance</a:t>
            </a:r>
            <a:r>
              <a:rPr lang="en-US" dirty="0"/>
              <a:t> I will drink enough water again. </a:t>
            </a:r>
            <a:endParaRPr dirty="0"/>
          </a:p>
          <a:p>
            <a:pPr marL="0" lvl="0" indent="0" algn="l" rtl="0">
              <a:lnSpc>
                <a:spcPct val="80000"/>
              </a:lnSpc>
              <a:spcBef>
                <a:spcPts val="0"/>
              </a:spcBef>
              <a:spcAft>
                <a:spcPts val="0"/>
              </a:spcAft>
              <a:buSzPts val="3200"/>
              <a:buNone/>
            </a:pPr>
            <a:r>
              <a:rPr lang="en-US" dirty="0"/>
              <a:t> </a:t>
            </a:r>
            <a:endParaRPr sz="2000" u="sng" dirty="0"/>
          </a:p>
          <a:p>
            <a:pPr marL="342900" lvl="0" indent="-19050" algn="l" rtl="0">
              <a:lnSpc>
                <a:spcPct val="100000"/>
              </a:lnSpc>
              <a:spcBef>
                <a:spcPts val="640"/>
              </a:spcBef>
              <a:spcAft>
                <a:spcPts val="0"/>
              </a:spcAft>
              <a:buSzPts val="3200"/>
              <a:buNone/>
            </a:pPr>
            <a:endParaRPr dirty="0"/>
          </a:p>
        </p:txBody>
      </p:sp>
      <p:sp>
        <p:nvSpPr>
          <p:cNvPr id="403" name="Google Shape;403;p28"/>
          <p:cNvSpPr/>
          <p:nvPr/>
        </p:nvSpPr>
        <p:spPr>
          <a:xfrm rot="10800000">
            <a:off x="7200933" y="1234591"/>
            <a:ext cx="374100" cy="415500"/>
          </a:xfrm>
          <a:prstGeom prst="downArrow">
            <a:avLst>
              <a:gd name="adj1" fmla="val 50000"/>
              <a:gd name="adj2" fmla="val 50000"/>
            </a:avLst>
          </a:prstGeom>
          <a:solidFill>
            <a:srgbClr val="00B050"/>
          </a:solidFill>
          <a:ln w="25400" cap="flat" cmpd="sng">
            <a:solidFill>
              <a:schemeClr val="dk1"/>
            </a:solidFill>
            <a:prstDash val="solid"/>
            <a:round/>
            <a:headEnd type="none" w="sm" len="sm"/>
            <a:tailEnd type="none" w="sm" len="sm"/>
          </a:ln>
          <a:effectLst>
            <a:outerShdw blurRad="57150" dist="19050" dir="5400000" algn="bl" rotWithShape="0">
              <a:srgbClr val="000000">
                <a:alpha val="4901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500"/>
                                        <p:tgtEl>
                                          <p:spTgt spid="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9"/>
          <p:cNvSpPr txBox="1">
            <a:spLocks noGrp="1"/>
          </p:cNvSpPr>
          <p:nvPr>
            <p:ph type="title"/>
          </p:nvPr>
        </p:nvSpPr>
        <p:spPr>
          <a:xfrm>
            <a:off x="0" y="1052285"/>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sz="4000" u="sng" dirty="0"/>
              <a:t>Negative Reinforcement (</a:t>
            </a:r>
            <a:r>
              <a:rPr lang="en-US" sz="4000" u="sng" dirty="0">
                <a:solidFill>
                  <a:srgbClr val="7030A0"/>
                </a:solidFill>
              </a:rPr>
              <a:t>-</a:t>
            </a:r>
            <a:r>
              <a:rPr lang="en-US" sz="4000" u="sng" dirty="0"/>
              <a:t>   ): </a:t>
            </a:r>
            <a:br>
              <a:rPr lang="en-US" sz="4000" u="sng" dirty="0"/>
            </a:br>
            <a:r>
              <a:rPr lang="en-US" sz="4000" u="sng" dirty="0"/>
              <a:t>I want to drink more water.</a:t>
            </a:r>
            <a:endParaRPr sz="4000" dirty="0"/>
          </a:p>
        </p:txBody>
      </p:sp>
      <p:sp>
        <p:nvSpPr>
          <p:cNvPr id="409" name="Google Shape;409;p29"/>
          <p:cNvSpPr txBox="1">
            <a:spLocks noGrp="1"/>
          </p:cNvSpPr>
          <p:nvPr>
            <p:ph type="body" idx="1"/>
          </p:nvPr>
        </p:nvSpPr>
        <p:spPr>
          <a:xfrm>
            <a:off x="0" y="2590801"/>
            <a:ext cx="9144000" cy="3443400"/>
          </a:xfrm>
          <a:prstGeom prst="rect">
            <a:avLst/>
          </a:prstGeom>
          <a:noFill/>
          <a:ln>
            <a:noFill/>
          </a:ln>
        </p:spPr>
        <p:txBody>
          <a:bodyPr spcFirstLastPara="1" wrap="square" lIns="91425" tIns="91425" rIns="91425" bIns="91425" anchor="t" anchorCtr="0">
            <a:noAutofit/>
          </a:bodyPr>
          <a:lstStyle/>
          <a:p>
            <a:pPr marL="342900" lvl="0" indent="-228600" algn="l" rtl="0">
              <a:lnSpc>
                <a:spcPct val="100000"/>
              </a:lnSpc>
              <a:spcBef>
                <a:spcPts val="0"/>
              </a:spcBef>
              <a:spcAft>
                <a:spcPts val="0"/>
              </a:spcAft>
              <a:buSzPts val="1995"/>
              <a:buChar char="•"/>
            </a:pPr>
            <a:r>
              <a:rPr lang="en-US" dirty="0"/>
              <a:t>I hate to do the laundry. So, on nights that I drink at least 32 oz of water, I will not make myself do the laundry. I will wait until the weekend when I am not so tired. You can see that I am</a:t>
            </a:r>
            <a:r>
              <a:rPr lang="en-US" u="sng" dirty="0"/>
              <a:t> taking something unwanted away</a:t>
            </a:r>
            <a:r>
              <a:rPr lang="en-US" dirty="0"/>
              <a:t> to </a:t>
            </a:r>
            <a:r>
              <a:rPr lang="en-US" u="sng" dirty="0"/>
              <a:t>increase the chance </a:t>
            </a:r>
            <a:r>
              <a:rPr lang="en-US" dirty="0"/>
              <a:t>that I will continue to drink enough water in the future. </a:t>
            </a:r>
            <a:endParaRPr dirty="0"/>
          </a:p>
          <a:p>
            <a:pPr marL="0" lvl="0" indent="0" algn="l" rtl="0">
              <a:lnSpc>
                <a:spcPct val="80000"/>
              </a:lnSpc>
              <a:spcBef>
                <a:spcPts val="0"/>
              </a:spcBef>
              <a:spcAft>
                <a:spcPts val="0"/>
              </a:spcAft>
              <a:buSzPts val="3200"/>
              <a:buNone/>
            </a:pPr>
            <a:r>
              <a:rPr lang="en-US" dirty="0"/>
              <a:t> </a:t>
            </a:r>
            <a:endParaRPr sz="2000" u="sng" dirty="0"/>
          </a:p>
          <a:p>
            <a:pPr marL="342900" lvl="0" indent="-19050" algn="l" rtl="0">
              <a:lnSpc>
                <a:spcPct val="100000"/>
              </a:lnSpc>
              <a:spcBef>
                <a:spcPts val="640"/>
              </a:spcBef>
              <a:spcAft>
                <a:spcPts val="0"/>
              </a:spcAft>
              <a:buSzPts val="3200"/>
              <a:buNone/>
            </a:pPr>
            <a:endParaRPr dirty="0"/>
          </a:p>
        </p:txBody>
      </p:sp>
      <p:sp>
        <p:nvSpPr>
          <p:cNvPr id="410" name="Google Shape;410;p29"/>
          <p:cNvSpPr/>
          <p:nvPr/>
        </p:nvSpPr>
        <p:spPr>
          <a:xfrm rot="10800000">
            <a:off x="7320282" y="965855"/>
            <a:ext cx="374100" cy="415500"/>
          </a:xfrm>
          <a:prstGeom prst="downArrow">
            <a:avLst>
              <a:gd name="adj1" fmla="val 50000"/>
              <a:gd name="adj2" fmla="val 50000"/>
            </a:avLst>
          </a:prstGeom>
          <a:solidFill>
            <a:srgbClr val="00B050"/>
          </a:solidFill>
          <a:ln w="25400" cap="flat" cmpd="sng">
            <a:solidFill>
              <a:schemeClr val="dk1"/>
            </a:solidFill>
            <a:prstDash val="solid"/>
            <a:round/>
            <a:headEnd type="none" w="sm" len="sm"/>
            <a:tailEnd type="none" w="sm" len="sm"/>
          </a:ln>
          <a:effectLst>
            <a:outerShdw blurRad="57150" dist="19050" dir="5400000" algn="bl" rotWithShape="0">
              <a:srgbClr val="000000">
                <a:alpha val="4901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0"/>
                                        </p:tgtEl>
                                        <p:attrNameLst>
                                          <p:attrName>style.visibility</p:attrName>
                                        </p:attrNameLst>
                                      </p:cBhvr>
                                      <p:to>
                                        <p:strVal val="visible"/>
                                      </p:to>
                                    </p:set>
                                    <p:animEffect transition="in" filter="fade">
                                      <p:cBhvr>
                                        <p:cTn id="7" dur="500"/>
                                        <p:tgtEl>
                                          <p:spTgt spid="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0"/>
          <p:cNvSpPr txBox="1">
            <a:spLocks noGrp="1"/>
          </p:cNvSpPr>
          <p:nvPr>
            <p:ph type="title"/>
          </p:nvPr>
        </p:nvSpPr>
        <p:spPr>
          <a:xfrm>
            <a:off x="0" y="1139027"/>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sz="4000" u="sng" dirty="0"/>
              <a:t>Positive Punishment (</a:t>
            </a:r>
            <a:r>
              <a:rPr lang="en-US" sz="4000" u="sng" dirty="0">
                <a:solidFill>
                  <a:schemeClr val="accent4">
                    <a:lumMod val="50000"/>
                  </a:schemeClr>
                </a:solidFill>
              </a:rPr>
              <a:t>+</a:t>
            </a:r>
            <a:r>
              <a:rPr lang="en-US" sz="4000" u="sng" dirty="0"/>
              <a:t>   ): </a:t>
            </a:r>
            <a:br>
              <a:rPr lang="en-US" sz="4000" u="sng" dirty="0"/>
            </a:br>
            <a:r>
              <a:rPr lang="en-US" sz="4000" u="sng" dirty="0"/>
              <a:t>I want to drink more water.</a:t>
            </a:r>
            <a:endParaRPr sz="4000" dirty="0"/>
          </a:p>
        </p:txBody>
      </p:sp>
      <p:sp>
        <p:nvSpPr>
          <p:cNvPr id="416" name="Google Shape;416;p30"/>
          <p:cNvSpPr txBox="1">
            <a:spLocks noGrp="1"/>
          </p:cNvSpPr>
          <p:nvPr>
            <p:ph type="body" idx="1"/>
          </p:nvPr>
        </p:nvSpPr>
        <p:spPr>
          <a:xfrm>
            <a:off x="0" y="2576513"/>
            <a:ext cx="9144000" cy="3443514"/>
          </a:xfrm>
          <a:prstGeom prst="rect">
            <a:avLst/>
          </a:prstGeom>
          <a:noFill/>
          <a:ln>
            <a:noFill/>
          </a:ln>
        </p:spPr>
        <p:txBody>
          <a:bodyPr spcFirstLastPara="1" wrap="square" lIns="91425" tIns="91425" rIns="91425" bIns="91425" anchor="t" anchorCtr="0">
            <a:noAutofit/>
          </a:bodyPr>
          <a:lstStyle/>
          <a:p>
            <a:pPr marL="342900" lvl="0" indent="-228600" algn="l" rtl="0">
              <a:lnSpc>
                <a:spcPct val="100000"/>
              </a:lnSpc>
              <a:spcBef>
                <a:spcPts val="0"/>
              </a:spcBef>
              <a:spcAft>
                <a:spcPts val="0"/>
              </a:spcAft>
              <a:buSzPts val="1995"/>
              <a:buChar char="•"/>
            </a:pPr>
            <a:r>
              <a:rPr lang="en-US" dirty="0"/>
              <a:t>If I did not drink at least 32 oz of water that day, I will make myself do my most despised activities – pushups and planks. You can see that I am </a:t>
            </a:r>
            <a:r>
              <a:rPr lang="en-US" u="sng" dirty="0"/>
              <a:t>adding something unwanted </a:t>
            </a:r>
            <a:r>
              <a:rPr lang="en-US" dirty="0"/>
              <a:t>to try to </a:t>
            </a:r>
            <a:r>
              <a:rPr lang="en-US" u="sng" dirty="0"/>
              <a:t>decrease the chance</a:t>
            </a:r>
            <a:r>
              <a:rPr lang="en-US" dirty="0"/>
              <a:t> that I will not drink enough water the next day.</a:t>
            </a:r>
            <a:endParaRPr dirty="0"/>
          </a:p>
          <a:p>
            <a:pPr marL="0" lvl="0" indent="0" algn="l" rtl="0">
              <a:lnSpc>
                <a:spcPct val="80000"/>
              </a:lnSpc>
              <a:spcBef>
                <a:spcPts val="0"/>
              </a:spcBef>
              <a:spcAft>
                <a:spcPts val="0"/>
              </a:spcAft>
              <a:buSzPts val="3200"/>
              <a:buNone/>
            </a:pPr>
            <a:r>
              <a:rPr lang="en-US" dirty="0"/>
              <a:t> </a:t>
            </a:r>
            <a:endParaRPr sz="2000" u="sng" dirty="0"/>
          </a:p>
          <a:p>
            <a:pPr marL="342900" lvl="0" indent="-19050" algn="l" rtl="0">
              <a:lnSpc>
                <a:spcPct val="100000"/>
              </a:lnSpc>
              <a:spcBef>
                <a:spcPts val="640"/>
              </a:spcBef>
              <a:spcAft>
                <a:spcPts val="0"/>
              </a:spcAft>
              <a:buSzPts val="3200"/>
              <a:buNone/>
            </a:pPr>
            <a:endParaRPr dirty="0"/>
          </a:p>
        </p:txBody>
      </p:sp>
      <p:sp>
        <p:nvSpPr>
          <p:cNvPr id="417" name="Google Shape;417;p30"/>
          <p:cNvSpPr/>
          <p:nvPr/>
        </p:nvSpPr>
        <p:spPr>
          <a:xfrm>
            <a:off x="6951218" y="1139027"/>
            <a:ext cx="374100" cy="357347"/>
          </a:xfrm>
          <a:prstGeom prst="downArrow">
            <a:avLst>
              <a:gd name="adj1" fmla="val 50000"/>
              <a:gd name="adj2" fmla="val 50000"/>
            </a:avLst>
          </a:prstGeom>
          <a:solidFill>
            <a:srgbClr val="FF0000"/>
          </a:solidFill>
          <a:ln w="25400" cap="flat" cmpd="sng">
            <a:solidFill>
              <a:schemeClr val="dk1"/>
            </a:solidFill>
            <a:prstDash val="solid"/>
            <a:round/>
            <a:headEnd type="none" w="sm" len="sm"/>
            <a:tailEnd type="none" w="sm" len="sm"/>
          </a:ln>
          <a:effectLst>
            <a:outerShdw blurRad="57150" dist="19050" dir="5400000" algn="bl" rotWithShape="0">
              <a:srgbClr val="000000">
                <a:alpha val="4901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7"/>
                                        </p:tgtEl>
                                        <p:attrNameLst>
                                          <p:attrName>style.visibility</p:attrName>
                                        </p:attrNameLst>
                                      </p:cBhvr>
                                      <p:to>
                                        <p:strVal val="visible"/>
                                      </p:to>
                                    </p:set>
                                    <p:animEffect transition="in" filter="fade">
                                      <p:cBhvr>
                                        <p:cTn id="7" dur="500"/>
                                        <p:tgtEl>
                                          <p:spTgt spid="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1"/>
          <p:cNvSpPr txBox="1">
            <a:spLocks noGrp="1"/>
          </p:cNvSpPr>
          <p:nvPr>
            <p:ph type="title"/>
          </p:nvPr>
        </p:nvSpPr>
        <p:spPr>
          <a:xfrm>
            <a:off x="0" y="1011382"/>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sz="4000" u="sng" dirty="0"/>
              <a:t>Negative Punishment (</a:t>
            </a:r>
            <a:r>
              <a:rPr lang="en-US" sz="4800" u="sng" dirty="0">
                <a:solidFill>
                  <a:srgbClr val="7030A0"/>
                </a:solidFill>
              </a:rPr>
              <a:t>-</a:t>
            </a:r>
            <a:r>
              <a:rPr lang="en-US" sz="4000" u="sng" dirty="0"/>
              <a:t>   ): </a:t>
            </a:r>
            <a:br>
              <a:rPr lang="en-US" sz="4000" u="sng" dirty="0"/>
            </a:br>
            <a:r>
              <a:rPr lang="en-US" sz="4000" u="sng" dirty="0"/>
              <a:t>I want to drink more water.</a:t>
            </a:r>
            <a:endParaRPr sz="4000" dirty="0"/>
          </a:p>
        </p:txBody>
      </p:sp>
      <p:sp>
        <p:nvSpPr>
          <p:cNvPr id="423" name="Google Shape;423;p31"/>
          <p:cNvSpPr txBox="1">
            <a:spLocks noGrp="1"/>
          </p:cNvSpPr>
          <p:nvPr>
            <p:ph type="body" idx="1"/>
          </p:nvPr>
        </p:nvSpPr>
        <p:spPr>
          <a:xfrm>
            <a:off x="0" y="2362201"/>
            <a:ext cx="9144000" cy="3443514"/>
          </a:xfrm>
          <a:prstGeom prst="rect">
            <a:avLst/>
          </a:prstGeom>
          <a:noFill/>
          <a:ln>
            <a:noFill/>
          </a:ln>
        </p:spPr>
        <p:txBody>
          <a:bodyPr spcFirstLastPara="1" wrap="square" lIns="91425" tIns="91425" rIns="91425" bIns="91425" anchor="t" anchorCtr="0">
            <a:noAutofit/>
          </a:bodyPr>
          <a:lstStyle/>
          <a:p>
            <a:pPr marL="342900" lvl="0" indent="-228600" algn="l" rtl="0">
              <a:lnSpc>
                <a:spcPct val="100000"/>
              </a:lnSpc>
              <a:spcBef>
                <a:spcPts val="0"/>
              </a:spcBef>
              <a:spcAft>
                <a:spcPts val="0"/>
              </a:spcAft>
              <a:buSzPts val="1995"/>
              <a:buChar char="•"/>
            </a:pPr>
            <a:r>
              <a:rPr lang="en-US" dirty="0"/>
              <a:t>When I don’t meet my water intake goal for the week, then I will not allow myself to go out with my friends to dinner and a movie on the weekend. You can see that I am </a:t>
            </a:r>
            <a:r>
              <a:rPr lang="en-US" u="sng" dirty="0"/>
              <a:t>taking away something pleasant</a:t>
            </a:r>
            <a:r>
              <a:rPr lang="en-US" dirty="0"/>
              <a:t> on the weekend to try to </a:t>
            </a:r>
            <a:r>
              <a:rPr lang="en-US" u="sng" dirty="0"/>
              <a:t>decrease the chance</a:t>
            </a:r>
            <a:r>
              <a:rPr lang="en-US" dirty="0"/>
              <a:t> that I will not meet my water intake goal again next week.</a:t>
            </a:r>
            <a:endParaRPr dirty="0"/>
          </a:p>
        </p:txBody>
      </p:sp>
      <p:sp>
        <p:nvSpPr>
          <p:cNvPr id="424" name="Google Shape;424;p31"/>
          <p:cNvSpPr/>
          <p:nvPr/>
        </p:nvSpPr>
        <p:spPr>
          <a:xfrm>
            <a:off x="7046085" y="1052285"/>
            <a:ext cx="374100" cy="357347"/>
          </a:xfrm>
          <a:prstGeom prst="downArrow">
            <a:avLst>
              <a:gd name="adj1" fmla="val 50000"/>
              <a:gd name="adj2" fmla="val 50000"/>
            </a:avLst>
          </a:prstGeom>
          <a:solidFill>
            <a:srgbClr val="FF0000"/>
          </a:solidFill>
          <a:ln w="25400" cap="flat" cmpd="sng">
            <a:solidFill>
              <a:schemeClr val="dk1"/>
            </a:solidFill>
            <a:prstDash val="solid"/>
            <a:round/>
            <a:headEnd type="none" w="sm" len="sm"/>
            <a:tailEnd type="none" w="sm" len="sm"/>
          </a:ln>
          <a:effectLst>
            <a:outerShdw blurRad="57150" dist="19050" dir="5400000" algn="bl" rotWithShape="0">
              <a:srgbClr val="000000">
                <a:alpha val="4901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500"/>
                                        <p:tgtEl>
                                          <p:spTgt spid="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2"/>
          <p:cNvSpPr txBox="1">
            <a:spLocks noGrp="1"/>
          </p:cNvSpPr>
          <p:nvPr>
            <p:ph type="title"/>
          </p:nvPr>
        </p:nvSpPr>
        <p:spPr>
          <a:xfrm>
            <a:off x="0" y="861151"/>
            <a:ext cx="9144000" cy="568037"/>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3959"/>
              <a:buFont typeface="Trebuchet MS"/>
              <a:buNone/>
            </a:pPr>
            <a:r>
              <a:rPr lang="en-US" sz="2400"/>
              <a:t>Example of using Operant Conditioning to Change an Unwanted Target Behavior</a:t>
            </a:r>
            <a:endParaRPr sz="2400"/>
          </a:p>
        </p:txBody>
      </p:sp>
      <p:sp>
        <p:nvSpPr>
          <p:cNvPr id="431" name="Google Shape;431;p32"/>
          <p:cNvSpPr txBox="1">
            <a:spLocks noGrp="1"/>
          </p:cNvSpPr>
          <p:nvPr>
            <p:ph type="body" idx="1"/>
          </p:nvPr>
        </p:nvSpPr>
        <p:spPr>
          <a:xfrm>
            <a:off x="0" y="1582190"/>
            <a:ext cx="9144000" cy="5275810"/>
          </a:xfrm>
          <a:prstGeom prst="rect">
            <a:avLst/>
          </a:prstGeom>
          <a:noFill/>
          <a:ln>
            <a:noFill/>
          </a:ln>
        </p:spPr>
        <p:txBody>
          <a:bodyPr spcFirstLastPara="1" wrap="square" lIns="91425" tIns="91425" rIns="91425" bIns="91425" anchor="t" anchorCtr="0">
            <a:normAutofit fontScale="85000" lnSpcReduction="10000"/>
          </a:bodyPr>
          <a:lstStyle/>
          <a:p>
            <a:pPr marL="342900" lvl="0" indent="-222405" algn="l" rtl="0">
              <a:lnSpc>
                <a:spcPct val="80000"/>
              </a:lnSpc>
              <a:spcBef>
                <a:spcPts val="0"/>
              </a:spcBef>
              <a:spcAft>
                <a:spcPts val="0"/>
              </a:spcAft>
              <a:buSzPct val="117647"/>
              <a:buChar char="•"/>
            </a:pPr>
            <a:r>
              <a:rPr lang="en-US" sz="2422" b="1" dirty="0">
                <a:solidFill>
                  <a:schemeClr val="dk1"/>
                </a:solidFill>
              </a:rPr>
              <a:t>For example:  </a:t>
            </a:r>
            <a:r>
              <a:rPr lang="en-US" sz="2422" b="1" u="sng" dirty="0">
                <a:solidFill>
                  <a:schemeClr val="dk1"/>
                </a:solidFill>
              </a:rPr>
              <a:t>I want to drink more water.</a:t>
            </a:r>
            <a:endParaRPr sz="2422" dirty="0">
              <a:solidFill>
                <a:schemeClr val="dk1"/>
              </a:solidFill>
            </a:endParaRPr>
          </a:p>
          <a:p>
            <a:pPr marL="0" lvl="0" indent="0" algn="l" rtl="0">
              <a:lnSpc>
                <a:spcPct val="80000"/>
              </a:lnSpc>
              <a:spcBef>
                <a:spcPts val="640"/>
              </a:spcBef>
              <a:spcAft>
                <a:spcPts val="0"/>
              </a:spcAft>
              <a:buSzPct val="117647"/>
              <a:buNone/>
            </a:pPr>
            <a:r>
              <a:rPr lang="en-US" sz="1615" dirty="0"/>
              <a:t> </a:t>
            </a:r>
            <a:endParaRPr sz="1187" u="sng" dirty="0">
              <a:solidFill>
                <a:srgbClr val="0000FF"/>
              </a:solidFill>
            </a:endParaRPr>
          </a:p>
          <a:p>
            <a:pPr marL="342900" lvl="0" indent="-228600">
              <a:spcBef>
                <a:spcPts val="0"/>
              </a:spcBef>
              <a:buSzPts val="1995"/>
            </a:pPr>
            <a:r>
              <a:rPr lang="en-US" sz="2100" b="1" u="sng" dirty="0">
                <a:solidFill>
                  <a:srgbClr val="0070C0"/>
                </a:solidFill>
              </a:rPr>
              <a:t>Positive</a:t>
            </a:r>
            <a:r>
              <a:rPr lang="en-US" sz="2100" b="1" dirty="0">
                <a:solidFill>
                  <a:srgbClr val="0000FF"/>
                </a:solidFill>
              </a:rPr>
              <a:t> </a:t>
            </a:r>
            <a:r>
              <a:rPr lang="en-US" sz="2100" b="1" u="sng" dirty="0">
                <a:solidFill>
                  <a:srgbClr val="00B050"/>
                </a:solidFill>
              </a:rPr>
              <a:t>Reinforcement</a:t>
            </a:r>
            <a:r>
              <a:rPr lang="en-US" sz="2100" b="1" dirty="0">
                <a:solidFill>
                  <a:srgbClr val="0000FF"/>
                </a:solidFill>
              </a:rPr>
              <a:t> </a:t>
            </a:r>
            <a:r>
              <a:rPr lang="en-US" sz="1900" b="1" dirty="0">
                <a:solidFill>
                  <a:schemeClr val="dk2"/>
                </a:solidFill>
              </a:rPr>
              <a:t>–</a:t>
            </a:r>
            <a:r>
              <a:rPr lang="en-US" sz="1900" dirty="0">
                <a:solidFill>
                  <a:srgbClr val="0000FF"/>
                </a:solidFill>
              </a:rPr>
              <a:t> </a:t>
            </a:r>
            <a:r>
              <a:rPr lang="en-US" sz="2000" dirty="0"/>
              <a:t>I will </a:t>
            </a:r>
            <a:r>
              <a:rPr lang="en-US" sz="2000" u="sng" dirty="0"/>
              <a:t>reward</a:t>
            </a:r>
            <a:r>
              <a:rPr lang="en-US" sz="2000" dirty="0"/>
              <a:t> myself with an episode of my favorite TV show every night after I drink at least 32 oz of water that day. You can see that I am </a:t>
            </a:r>
            <a:r>
              <a:rPr lang="en-US" sz="2000" u="sng" dirty="0"/>
              <a:t>adding something pleasant to increase the chance </a:t>
            </a:r>
            <a:r>
              <a:rPr lang="en-US" sz="2000" dirty="0"/>
              <a:t>I will drink enough water again. </a:t>
            </a:r>
          </a:p>
          <a:p>
            <a:pPr marL="0" lvl="0" indent="0" algn="l" rtl="0">
              <a:lnSpc>
                <a:spcPct val="110000"/>
              </a:lnSpc>
              <a:spcBef>
                <a:spcPts val="0"/>
              </a:spcBef>
              <a:spcAft>
                <a:spcPts val="0"/>
              </a:spcAft>
              <a:buSzPct val="99999"/>
              <a:buNone/>
            </a:pPr>
            <a:r>
              <a:rPr lang="en-US" sz="1900" dirty="0"/>
              <a:t> </a:t>
            </a:r>
            <a:endParaRPr sz="1300" u="sng" dirty="0"/>
          </a:p>
          <a:p>
            <a:pPr marL="342900" indent="-222250">
              <a:lnSpc>
                <a:spcPct val="110000"/>
              </a:lnSpc>
              <a:spcBef>
                <a:spcPts val="0"/>
              </a:spcBef>
              <a:buSzPct val="111764"/>
            </a:pPr>
            <a:r>
              <a:rPr lang="en-US" sz="2100" b="1" u="sng" dirty="0">
                <a:solidFill>
                  <a:srgbClr val="7030A0"/>
                </a:solidFill>
              </a:rPr>
              <a:t>Negative</a:t>
            </a:r>
            <a:r>
              <a:rPr lang="en-US" sz="2100" b="1" dirty="0">
                <a:solidFill>
                  <a:srgbClr val="0000FF"/>
                </a:solidFill>
              </a:rPr>
              <a:t> </a:t>
            </a:r>
            <a:r>
              <a:rPr lang="en-US" sz="2100" b="1" u="sng" dirty="0">
                <a:solidFill>
                  <a:srgbClr val="00B050"/>
                </a:solidFill>
              </a:rPr>
              <a:t>Reinforcement</a:t>
            </a:r>
            <a:r>
              <a:rPr lang="en-US" sz="2100" b="1" dirty="0">
                <a:solidFill>
                  <a:srgbClr val="0000FF"/>
                </a:solidFill>
              </a:rPr>
              <a:t> </a:t>
            </a:r>
            <a:r>
              <a:rPr lang="en-US" sz="2100" b="1" dirty="0"/>
              <a:t>–</a:t>
            </a:r>
            <a:r>
              <a:rPr lang="en-US" sz="2100" dirty="0"/>
              <a:t> </a:t>
            </a:r>
            <a:r>
              <a:rPr lang="en-US" sz="2000" dirty="0"/>
              <a:t>I hate to do the laundry. So, on nights that I drink at least 32 oz of water, I will not make myself do the laundry. I will wait until the weekend when I am not so tired. You can see that I am </a:t>
            </a:r>
            <a:r>
              <a:rPr lang="en-US" sz="2000" u="sng" dirty="0"/>
              <a:t>taking something unwanted away</a:t>
            </a:r>
            <a:r>
              <a:rPr lang="en-US" sz="2000" dirty="0"/>
              <a:t> to </a:t>
            </a:r>
            <a:r>
              <a:rPr lang="en-US" sz="2000" u="sng" dirty="0"/>
              <a:t>increase the chance </a:t>
            </a:r>
            <a:r>
              <a:rPr lang="en-US" sz="2000" dirty="0"/>
              <a:t>that I will continue to drink enough water in the future. </a:t>
            </a:r>
            <a:endParaRPr sz="3800" dirty="0"/>
          </a:p>
          <a:p>
            <a:pPr marL="0" lvl="0" indent="0" algn="l" rtl="0">
              <a:lnSpc>
                <a:spcPct val="110000"/>
              </a:lnSpc>
              <a:spcBef>
                <a:spcPts val="0"/>
              </a:spcBef>
              <a:spcAft>
                <a:spcPts val="0"/>
              </a:spcAft>
              <a:buSzPct val="99999"/>
              <a:buNone/>
            </a:pPr>
            <a:r>
              <a:rPr lang="en-US" sz="1900" dirty="0"/>
              <a:t> </a:t>
            </a:r>
            <a:endParaRPr sz="1300" dirty="0"/>
          </a:p>
          <a:p>
            <a:pPr marL="342900" lvl="0" indent="-228600">
              <a:spcBef>
                <a:spcPts val="0"/>
              </a:spcBef>
              <a:buSzPts val="1995"/>
            </a:pPr>
            <a:r>
              <a:rPr lang="en-US" sz="2100" b="1" u="sng" dirty="0">
                <a:solidFill>
                  <a:srgbClr val="0070C0"/>
                </a:solidFill>
              </a:rPr>
              <a:t>Positive</a:t>
            </a:r>
            <a:r>
              <a:rPr lang="en-US" sz="2100" b="1" dirty="0">
                <a:solidFill>
                  <a:srgbClr val="0000FF"/>
                </a:solidFill>
              </a:rPr>
              <a:t> </a:t>
            </a:r>
            <a:r>
              <a:rPr lang="en-US" sz="2100" b="1" u="sng" dirty="0">
                <a:solidFill>
                  <a:srgbClr val="FF0000"/>
                </a:solidFill>
              </a:rPr>
              <a:t>Punishment</a:t>
            </a:r>
            <a:r>
              <a:rPr lang="en-US" sz="2100" b="1" dirty="0">
                <a:solidFill>
                  <a:srgbClr val="0000FF"/>
                </a:solidFill>
              </a:rPr>
              <a:t> </a:t>
            </a:r>
            <a:r>
              <a:rPr lang="en-US" sz="2100" b="1" dirty="0"/>
              <a:t>–</a:t>
            </a:r>
            <a:r>
              <a:rPr lang="en-US" sz="2100" dirty="0"/>
              <a:t> </a:t>
            </a:r>
            <a:r>
              <a:rPr lang="en-US" sz="2000" dirty="0"/>
              <a:t>If I did not drink at least 32 oz of water that day, I will make myself do my most despised activities – pushups and planks. You can see that I am </a:t>
            </a:r>
            <a:r>
              <a:rPr lang="en-US" sz="2000" u="sng" dirty="0"/>
              <a:t>adding something unwanted </a:t>
            </a:r>
            <a:r>
              <a:rPr lang="en-US" sz="2000" dirty="0"/>
              <a:t>to try to </a:t>
            </a:r>
            <a:r>
              <a:rPr lang="en-US" sz="2000" u="sng" dirty="0"/>
              <a:t>decrease the chance</a:t>
            </a:r>
            <a:r>
              <a:rPr lang="en-US" sz="2000" dirty="0"/>
              <a:t> that  I will not drink enough water the next day.</a:t>
            </a:r>
          </a:p>
          <a:p>
            <a:pPr marL="0" lvl="0" indent="0" algn="l" rtl="0">
              <a:lnSpc>
                <a:spcPct val="110000"/>
              </a:lnSpc>
              <a:spcBef>
                <a:spcPts val="0"/>
              </a:spcBef>
              <a:spcAft>
                <a:spcPts val="0"/>
              </a:spcAft>
              <a:buSzPct val="99999"/>
              <a:buNone/>
            </a:pPr>
            <a:r>
              <a:rPr lang="en-US" sz="1900" dirty="0"/>
              <a:t> </a:t>
            </a:r>
            <a:endParaRPr sz="1300" u="sng" dirty="0"/>
          </a:p>
          <a:p>
            <a:pPr marL="342900" lvl="0" indent="-228600">
              <a:spcBef>
                <a:spcPts val="0"/>
              </a:spcBef>
              <a:buSzPts val="1995"/>
            </a:pPr>
            <a:r>
              <a:rPr lang="en-US" sz="2100" b="1" u="sng" dirty="0">
                <a:solidFill>
                  <a:srgbClr val="7030A0"/>
                </a:solidFill>
              </a:rPr>
              <a:t>Negative</a:t>
            </a:r>
            <a:r>
              <a:rPr lang="en-US" sz="2100" b="1" dirty="0">
                <a:solidFill>
                  <a:srgbClr val="0000FF"/>
                </a:solidFill>
              </a:rPr>
              <a:t> </a:t>
            </a:r>
            <a:r>
              <a:rPr lang="en-US" sz="2100" b="1" u="sng" dirty="0">
                <a:solidFill>
                  <a:srgbClr val="FF0000"/>
                </a:solidFill>
              </a:rPr>
              <a:t>Punishment</a:t>
            </a:r>
            <a:r>
              <a:rPr lang="en-US" sz="2100" b="1" dirty="0">
                <a:solidFill>
                  <a:srgbClr val="0000FF"/>
                </a:solidFill>
              </a:rPr>
              <a:t> </a:t>
            </a:r>
            <a:r>
              <a:rPr lang="en-US" sz="2100" b="1" dirty="0"/>
              <a:t>–</a:t>
            </a:r>
            <a:r>
              <a:rPr lang="en-US" sz="2100" dirty="0"/>
              <a:t> </a:t>
            </a:r>
            <a:r>
              <a:rPr lang="en-US" sz="2000" dirty="0"/>
              <a:t>When I don’t meet my water intake goal for the week, then I will not allow myself to go out with my friends to dinner and a movie on the weekend. You can see that I am </a:t>
            </a:r>
            <a:r>
              <a:rPr lang="en-US" sz="2000" u="sng" dirty="0"/>
              <a:t>taking away something pleasant</a:t>
            </a:r>
            <a:r>
              <a:rPr lang="en-US" sz="2000" dirty="0"/>
              <a:t> on the weekend to try to </a:t>
            </a:r>
            <a:r>
              <a:rPr lang="en-US" sz="2000" u="sng" dirty="0"/>
              <a:t>decrease the chance</a:t>
            </a:r>
            <a:r>
              <a:rPr lang="en-US" sz="2000" dirty="0"/>
              <a:t> that I will not meet my water intake goal again next week.</a:t>
            </a:r>
            <a:endParaRPr sz="3800" dirty="0"/>
          </a:p>
          <a:p>
            <a:pPr marL="342900" lvl="0" indent="-125729" algn="l" rtl="0">
              <a:lnSpc>
                <a:spcPct val="80000"/>
              </a:lnSpc>
              <a:spcBef>
                <a:spcPts val="0"/>
              </a:spcBef>
              <a:spcAft>
                <a:spcPts val="0"/>
              </a:spcAft>
              <a:buSzPct val="117645"/>
              <a:buNone/>
            </a:pPr>
            <a:endParaRPr sz="152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9B91-F2B7-CE47-CF6E-99D38B24D7CA}"/>
              </a:ext>
            </a:extLst>
          </p:cNvPr>
          <p:cNvSpPr>
            <a:spLocks noGrp="1"/>
          </p:cNvSpPr>
          <p:nvPr>
            <p:ph type="ctrTitle"/>
          </p:nvPr>
        </p:nvSpPr>
        <p:spPr>
          <a:xfrm>
            <a:off x="0" y="853440"/>
            <a:ext cx="9144000" cy="1214772"/>
          </a:xfrm>
          <a:solidFill>
            <a:schemeClr val="lt1"/>
          </a:solidFill>
        </p:spPr>
        <p:txBody>
          <a:bodyPr/>
          <a:lstStyle/>
          <a:p>
            <a:pPr algn="ctr"/>
            <a:r>
              <a:rPr lang="en-US" sz="4800" dirty="0"/>
              <a:t>Apply What You Have Learned</a:t>
            </a:r>
          </a:p>
        </p:txBody>
      </p:sp>
      <p:sp>
        <p:nvSpPr>
          <p:cNvPr id="3" name="Subtitle 2">
            <a:extLst>
              <a:ext uri="{FF2B5EF4-FFF2-40B4-BE49-F238E27FC236}">
                <a16:creationId xmlns:a16="http://schemas.microsoft.com/office/drawing/2014/main" id="{09E887C4-7648-D8D1-15FD-D032D7B9B0E9}"/>
              </a:ext>
            </a:extLst>
          </p:cNvPr>
          <p:cNvSpPr>
            <a:spLocks noGrp="1"/>
          </p:cNvSpPr>
          <p:nvPr>
            <p:ph type="subTitle" idx="1"/>
          </p:nvPr>
        </p:nvSpPr>
        <p:spPr>
          <a:xfrm>
            <a:off x="308918" y="1761660"/>
            <a:ext cx="8835082" cy="4791540"/>
          </a:xfrm>
          <a:solidFill>
            <a:schemeClr val="lt1"/>
          </a:solidFill>
        </p:spPr>
        <p:txBody>
          <a:bodyPr>
            <a:noAutofit/>
          </a:bodyPr>
          <a:lstStyle/>
          <a:p>
            <a:pPr marL="482600" indent="-457200" algn="l">
              <a:buFont typeface="Arial" panose="020B0604020202020204" pitchFamily="34" charset="0"/>
              <a:buChar char="•"/>
            </a:pPr>
            <a:r>
              <a:rPr lang="en-US" dirty="0">
                <a:solidFill>
                  <a:schemeClr val="tx1"/>
                </a:solidFill>
              </a:rPr>
              <a:t>Write an example for each type of Operant Conditioning that you could use to attempt to change your behavior.</a:t>
            </a:r>
          </a:p>
          <a:p>
            <a:pPr marL="939800" lvl="1" indent="-457200" algn="l">
              <a:buFont typeface="Arial" panose="020B0604020202020204" pitchFamily="34" charset="0"/>
              <a:buChar char="•"/>
            </a:pPr>
            <a:r>
              <a:rPr lang="en-US" sz="3200" dirty="0">
                <a:solidFill>
                  <a:schemeClr val="tx1"/>
                </a:solidFill>
              </a:rPr>
              <a:t>For reinforcement examples, you would try to increase your wanted goal behavior (WGB).</a:t>
            </a:r>
          </a:p>
          <a:p>
            <a:pPr marL="939800" lvl="1" indent="-457200" algn="l">
              <a:buFont typeface="Arial" panose="020B0604020202020204" pitchFamily="34" charset="0"/>
              <a:buChar char="•"/>
            </a:pPr>
            <a:r>
              <a:rPr lang="en-US" sz="3200" dirty="0">
                <a:solidFill>
                  <a:schemeClr val="tx1"/>
                </a:solidFill>
              </a:rPr>
              <a:t>For punishment examples, you would try to decrease your unwanted target behavior (UTB).</a:t>
            </a:r>
          </a:p>
          <a:p>
            <a:pPr marL="25400" indent="0" algn="l"/>
            <a:endParaRPr lang="en-US" sz="3200" dirty="0">
              <a:solidFill>
                <a:schemeClr val="tx1"/>
              </a:solidFill>
            </a:endParaRPr>
          </a:p>
          <a:p>
            <a:pPr marL="482600" indent="-457200" algn="l">
              <a:buFont typeface="Arial" panose="020B0604020202020204" pitchFamily="34" charset="0"/>
              <a:buChar char="•"/>
            </a:pPr>
            <a:endParaRPr lang="en-US" dirty="0">
              <a:solidFill>
                <a:schemeClr val="tx1"/>
              </a:solidFill>
            </a:endParaRPr>
          </a:p>
          <a:p>
            <a:endParaRPr lang="en-US" dirty="0"/>
          </a:p>
        </p:txBody>
      </p:sp>
    </p:spTree>
    <p:extLst>
      <p:ext uri="{BB962C8B-B14F-4D97-AF65-F5344CB8AC3E}">
        <p14:creationId xmlns:p14="http://schemas.microsoft.com/office/powerpoint/2010/main" val="3057754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1CAD0-91A5-C053-B892-AB7BD7B2E752}"/>
              </a:ext>
            </a:extLst>
          </p:cNvPr>
          <p:cNvSpPr>
            <a:spLocks noGrp="1"/>
          </p:cNvSpPr>
          <p:nvPr>
            <p:ph type="ctrTitle"/>
          </p:nvPr>
        </p:nvSpPr>
        <p:spPr>
          <a:xfrm>
            <a:off x="685800" y="822153"/>
            <a:ext cx="7772400" cy="1470025"/>
          </a:xfrm>
        </p:spPr>
        <p:txBody>
          <a:bodyPr/>
          <a:lstStyle/>
          <a:p>
            <a:pPr algn="ctr"/>
            <a:r>
              <a:rPr lang="en-US" dirty="0"/>
              <a:t>Designing Your Behavior Modification Intervention</a:t>
            </a:r>
          </a:p>
        </p:txBody>
      </p:sp>
      <p:sp>
        <p:nvSpPr>
          <p:cNvPr id="4" name="Google Shape;390;p67">
            <a:extLst>
              <a:ext uri="{FF2B5EF4-FFF2-40B4-BE49-F238E27FC236}">
                <a16:creationId xmlns:a16="http://schemas.microsoft.com/office/drawing/2014/main" id="{CB1DE7DF-E41F-6D97-7AE0-D3EBAEB0556A}"/>
              </a:ext>
            </a:extLst>
          </p:cNvPr>
          <p:cNvSpPr txBox="1">
            <a:spLocks/>
          </p:cNvSpPr>
          <p:nvPr/>
        </p:nvSpPr>
        <p:spPr>
          <a:xfrm>
            <a:off x="117388" y="2242750"/>
            <a:ext cx="7772401" cy="37255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chemeClr val="dk1"/>
              </a:buClr>
              <a:buSzPts val="3200"/>
              <a:buFont typeface="Arial"/>
              <a:buNone/>
              <a:defRPr sz="3200" b="0" i="0" u="none" strike="noStrike" cap="none">
                <a:solidFill>
                  <a:srgbClr val="888888"/>
                </a:solidFill>
                <a:latin typeface="Trebuchet MS"/>
                <a:ea typeface="Trebuchet MS"/>
                <a:cs typeface="Trebuchet MS"/>
                <a:sym typeface="Trebuchet MS"/>
              </a:defRPr>
            </a:lvl1pPr>
            <a:lvl2pPr marL="914400" marR="0" lvl="1" indent="-406400" algn="ctr" rtl="0">
              <a:lnSpc>
                <a:spcPct val="100000"/>
              </a:lnSpc>
              <a:spcBef>
                <a:spcPts val="560"/>
              </a:spcBef>
              <a:spcAft>
                <a:spcPts val="0"/>
              </a:spcAft>
              <a:buClr>
                <a:schemeClr val="dk1"/>
              </a:buClr>
              <a:buSzPts val="2800"/>
              <a:buFont typeface="Arial"/>
              <a:buNone/>
              <a:defRPr sz="2800" b="0" i="0" u="none" strike="noStrike" cap="none">
                <a:solidFill>
                  <a:srgbClr val="888888"/>
                </a:solidFill>
                <a:latin typeface="Trebuchet MS"/>
                <a:ea typeface="Trebuchet MS"/>
                <a:cs typeface="Trebuchet MS"/>
                <a:sym typeface="Trebuchet MS"/>
              </a:defRPr>
            </a:lvl2pPr>
            <a:lvl3pPr marL="1371600" marR="0" lvl="2" indent="-381000" algn="ctr" rtl="0">
              <a:lnSpc>
                <a:spcPct val="100000"/>
              </a:lnSpc>
              <a:spcBef>
                <a:spcPts val="480"/>
              </a:spcBef>
              <a:spcAft>
                <a:spcPts val="0"/>
              </a:spcAft>
              <a:buClr>
                <a:schemeClr val="dk1"/>
              </a:buClr>
              <a:buSzPts val="2400"/>
              <a:buFont typeface="Arial"/>
              <a:buNone/>
              <a:defRPr sz="2400" b="0" i="0" u="none" strike="noStrike" cap="none">
                <a:solidFill>
                  <a:srgbClr val="888888"/>
                </a:solidFill>
                <a:latin typeface="Trebuchet MS"/>
                <a:ea typeface="Trebuchet MS"/>
                <a:cs typeface="Trebuchet MS"/>
                <a:sym typeface="Trebuchet MS"/>
              </a:defRPr>
            </a:lvl3pPr>
            <a:lvl4pPr marL="1828800" marR="0" lvl="3"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4pPr>
            <a:lvl5pPr marL="2286000" marR="0" lvl="4"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5pPr>
            <a:lvl6pPr marL="2743200" marR="0" lvl="5"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6pPr>
            <a:lvl7pPr marL="3200400" marR="0" lvl="6"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7pPr>
            <a:lvl8pPr marL="3657600" marR="0" lvl="7"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8pPr>
            <a:lvl9pPr marL="4114800" marR="0" lvl="8"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9pPr>
          </a:lstStyle>
          <a:p>
            <a:pPr marL="482600" indent="-457200" algn="l">
              <a:buFont typeface="Arial" panose="020B0604020202020204" pitchFamily="34" charset="0"/>
              <a:buChar char="•"/>
            </a:pPr>
            <a:r>
              <a:rPr lang="en-US" dirty="0">
                <a:solidFill>
                  <a:schemeClr val="tx1"/>
                </a:solidFill>
              </a:rPr>
              <a:t>Choose </a:t>
            </a:r>
            <a:r>
              <a:rPr lang="en-US" u="sng" dirty="0">
                <a:solidFill>
                  <a:schemeClr val="tx1"/>
                </a:solidFill>
              </a:rPr>
              <a:t>two</a:t>
            </a:r>
            <a:r>
              <a:rPr lang="en-US" dirty="0">
                <a:solidFill>
                  <a:schemeClr val="tx1"/>
                </a:solidFill>
              </a:rPr>
              <a:t> different types of Operant Conditioning you plan to use to change your behavior. </a:t>
            </a:r>
          </a:p>
          <a:p>
            <a:pPr marL="482600" indent="-457200" algn="l">
              <a:buFont typeface="Arial" panose="020B0604020202020204" pitchFamily="34" charset="0"/>
              <a:buChar char="•"/>
            </a:pPr>
            <a:r>
              <a:rPr lang="en-US" dirty="0">
                <a:solidFill>
                  <a:schemeClr val="tx1"/>
                </a:solidFill>
              </a:rPr>
              <a:t>First, define each type of Operant Conditioning.</a:t>
            </a:r>
          </a:p>
          <a:p>
            <a:pPr marL="482600" indent="-457200" algn="l">
              <a:buFont typeface="Arial" panose="020B0604020202020204" pitchFamily="34" charset="0"/>
              <a:buChar char="•"/>
            </a:pPr>
            <a:r>
              <a:rPr lang="en-US" dirty="0">
                <a:solidFill>
                  <a:schemeClr val="tx1"/>
                </a:solidFill>
              </a:rPr>
              <a:t>Then, provide an example of how you will use both types of Operant Conditioning daily and weekly. </a:t>
            </a:r>
          </a:p>
        </p:txBody>
      </p:sp>
    </p:spTree>
    <p:extLst>
      <p:ext uri="{BB962C8B-B14F-4D97-AF65-F5344CB8AC3E}">
        <p14:creationId xmlns:p14="http://schemas.microsoft.com/office/powerpoint/2010/main" val="15485964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4D74B-A822-5FFD-7962-A8D53706E065}"/>
              </a:ext>
            </a:extLst>
          </p:cNvPr>
          <p:cNvSpPr>
            <a:spLocks noGrp="1"/>
          </p:cNvSpPr>
          <p:nvPr>
            <p:ph type="ctrTitle"/>
          </p:nvPr>
        </p:nvSpPr>
        <p:spPr>
          <a:xfrm>
            <a:off x="0" y="854028"/>
            <a:ext cx="9144000" cy="1141454"/>
          </a:xfrm>
        </p:spPr>
        <p:txBody>
          <a:bodyPr/>
          <a:lstStyle/>
          <a:p>
            <a:pPr algn="ctr"/>
            <a:r>
              <a:rPr lang="en-US" dirty="0"/>
              <a:t>Why Daily &amp; Weekly Goals?</a:t>
            </a:r>
          </a:p>
        </p:txBody>
      </p:sp>
      <p:sp>
        <p:nvSpPr>
          <p:cNvPr id="3" name="Subtitle 2">
            <a:extLst>
              <a:ext uri="{FF2B5EF4-FFF2-40B4-BE49-F238E27FC236}">
                <a16:creationId xmlns:a16="http://schemas.microsoft.com/office/drawing/2014/main" id="{008F0B28-8649-48A6-D729-6336E0BB9AE4}"/>
              </a:ext>
            </a:extLst>
          </p:cNvPr>
          <p:cNvSpPr>
            <a:spLocks noGrp="1"/>
          </p:cNvSpPr>
          <p:nvPr>
            <p:ph type="subTitle" idx="1"/>
          </p:nvPr>
        </p:nvSpPr>
        <p:spPr>
          <a:xfrm>
            <a:off x="271849" y="1870503"/>
            <a:ext cx="7896791" cy="4542654"/>
          </a:xfrm>
        </p:spPr>
        <p:txBody>
          <a:bodyPr>
            <a:normAutofit fontScale="92500" lnSpcReduction="20000"/>
          </a:bodyPr>
          <a:lstStyle/>
          <a:p>
            <a:pPr marL="482600" indent="-457200" algn="l">
              <a:buFont typeface="Arial" panose="020B0604020202020204" pitchFamily="34" charset="0"/>
              <a:buChar char="•"/>
            </a:pPr>
            <a:r>
              <a:rPr lang="en-US" dirty="0">
                <a:solidFill>
                  <a:schemeClr val="tx1"/>
                </a:solidFill>
              </a:rPr>
              <a:t>In order to successfully change a behavior with Operant Conditioning, it is important to set </a:t>
            </a:r>
            <a:r>
              <a:rPr lang="en-US" u="sng" dirty="0">
                <a:solidFill>
                  <a:schemeClr val="tx1"/>
                </a:solidFill>
              </a:rPr>
              <a:t>both</a:t>
            </a:r>
            <a:r>
              <a:rPr lang="en-US" dirty="0">
                <a:solidFill>
                  <a:schemeClr val="tx1"/>
                </a:solidFill>
              </a:rPr>
              <a:t> a daily AND a weekly goal (e.g., daily = at least 32 oz of water; weekly = at least 160 oz of water).</a:t>
            </a:r>
          </a:p>
          <a:p>
            <a:pPr marL="25400" indent="0" algn="l"/>
            <a:endParaRPr lang="en-US" dirty="0">
              <a:solidFill>
                <a:schemeClr val="tx1"/>
              </a:solidFill>
            </a:endParaRPr>
          </a:p>
          <a:p>
            <a:pPr marL="482600" indent="-457200" algn="l">
              <a:buFont typeface="Arial" panose="020B0604020202020204" pitchFamily="34" charset="0"/>
              <a:buChar char="•"/>
            </a:pPr>
            <a:r>
              <a:rPr lang="en-US" dirty="0">
                <a:solidFill>
                  <a:schemeClr val="tx1"/>
                </a:solidFill>
              </a:rPr>
              <a:t>Reaching your daily goal encourages short-term, day-to-day behavioral change; reaching your weekly goal encourages you to maintain consistent change.</a:t>
            </a:r>
          </a:p>
        </p:txBody>
      </p:sp>
    </p:spTree>
    <p:extLst>
      <p:ext uri="{BB962C8B-B14F-4D97-AF65-F5344CB8AC3E}">
        <p14:creationId xmlns:p14="http://schemas.microsoft.com/office/powerpoint/2010/main" val="41938331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90;p67">
            <a:extLst>
              <a:ext uri="{FF2B5EF4-FFF2-40B4-BE49-F238E27FC236}">
                <a16:creationId xmlns:a16="http://schemas.microsoft.com/office/drawing/2014/main" id="{921F28B6-89AE-C725-3D06-3C23A662BE39}"/>
              </a:ext>
            </a:extLst>
          </p:cNvPr>
          <p:cNvSpPr txBox="1">
            <a:spLocks/>
          </p:cNvSpPr>
          <p:nvPr/>
        </p:nvSpPr>
        <p:spPr>
          <a:xfrm>
            <a:off x="0" y="1315895"/>
            <a:ext cx="8853618" cy="46766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chemeClr val="dk1"/>
              </a:buClr>
              <a:buSzPts val="3200"/>
              <a:buFont typeface="Arial"/>
              <a:buNone/>
              <a:defRPr sz="3200" b="0" i="0" u="none" strike="noStrike" cap="none">
                <a:solidFill>
                  <a:srgbClr val="888888"/>
                </a:solidFill>
                <a:latin typeface="Trebuchet MS"/>
                <a:ea typeface="Trebuchet MS"/>
                <a:cs typeface="Trebuchet MS"/>
                <a:sym typeface="Trebuchet MS"/>
              </a:defRPr>
            </a:lvl1pPr>
            <a:lvl2pPr marL="914400" marR="0" lvl="1" indent="-406400" algn="ctr" rtl="0">
              <a:lnSpc>
                <a:spcPct val="100000"/>
              </a:lnSpc>
              <a:spcBef>
                <a:spcPts val="560"/>
              </a:spcBef>
              <a:spcAft>
                <a:spcPts val="0"/>
              </a:spcAft>
              <a:buClr>
                <a:schemeClr val="dk1"/>
              </a:buClr>
              <a:buSzPts val="2800"/>
              <a:buFont typeface="Arial"/>
              <a:buNone/>
              <a:defRPr sz="2800" b="0" i="0" u="none" strike="noStrike" cap="none">
                <a:solidFill>
                  <a:srgbClr val="888888"/>
                </a:solidFill>
                <a:latin typeface="Trebuchet MS"/>
                <a:ea typeface="Trebuchet MS"/>
                <a:cs typeface="Trebuchet MS"/>
                <a:sym typeface="Trebuchet MS"/>
              </a:defRPr>
            </a:lvl2pPr>
            <a:lvl3pPr marL="1371600" marR="0" lvl="2" indent="-381000" algn="ctr" rtl="0">
              <a:lnSpc>
                <a:spcPct val="100000"/>
              </a:lnSpc>
              <a:spcBef>
                <a:spcPts val="480"/>
              </a:spcBef>
              <a:spcAft>
                <a:spcPts val="0"/>
              </a:spcAft>
              <a:buClr>
                <a:schemeClr val="dk1"/>
              </a:buClr>
              <a:buSzPts val="2400"/>
              <a:buFont typeface="Arial"/>
              <a:buNone/>
              <a:defRPr sz="2400" b="0" i="0" u="none" strike="noStrike" cap="none">
                <a:solidFill>
                  <a:srgbClr val="888888"/>
                </a:solidFill>
                <a:latin typeface="Trebuchet MS"/>
                <a:ea typeface="Trebuchet MS"/>
                <a:cs typeface="Trebuchet MS"/>
                <a:sym typeface="Trebuchet MS"/>
              </a:defRPr>
            </a:lvl3pPr>
            <a:lvl4pPr marL="1828800" marR="0" lvl="3"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4pPr>
            <a:lvl5pPr marL="2286000" marR="0" lvl="4"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5pPr>
            <a:lvl6pPr marL="2743200" marR="0" lvl="5"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6pPr>
            <a:lvl7pPr marL="3200400" marR="0" lvl="6"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7pPr>
            <a:lvl8pPr marL="3657600" marR="0" lvl="7"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8pPr>
            <a:lvl9pPr marL="4114800" marR="0" lvl="8" indent="-355600" algn="ctr" rtl="0">
              <a:lnSpc>
                <a:spcPct val="100000"/>
              </a:lnSpc>
              <a:spcBef>
                <a:spcPts val="400"/>
              </a:spcBef>
              <a:spcAft>
                <a:spcPts val="0"/>
              </a:spcAft>
              <a:buClr>
                <a:schemeClr val="dk1"/>
              </a:buClr>
              <a:buSzPts val="2000"/>
              <a:buFont typeface="Arial"/>
              <a:buNone/>
              <a:defRPr sz="2000" b="0" i="0" u="none" strike="noStrike" cap="none">
                <a:solidFill>
                  <a:srgbClr val="888888"/>
                </a:solidFill>
                <a:latin typeface="Trebuchet MS"/>
                <a:ea typeface="Trebuchet MS"/>
                <a:cs typeface="Trebuchet MS"/>
                <a:sym typeface="Trebuchet MS"/>
              </a:defRPr>
            </a:lvl9pPr>
          </a:lstStyle>
          <a:p>
            <a:pPr marL="765810" indent="-457200" algn="l">
              <a:lnSpc>
                <a:spcPct val="170000"/>
              </a:lnSpc>
              <a:buSzPts val="2960"/>
              <a:buFont typeface="Arial" panose="020B0604020202020204" pitchFamily="34" charset="0"/>
              <a:buChar char="•"/>
            </a:pPr>
            <a:r>
              <a:rPr lang="en-US" sz="2200" b="1" dirty="0">
                <a:solidFill>
                  <a:schemeClr val="tx1"/>
                </a:solidFill>
              </a:rPr>
              <a:t>Operant Conditioning Type</a:t>
            </a:r>
            <a:r>
              <a:rPr lang="en-US" sz="2200" dirty="0">
                <a:solidFill>
                  <a:schemeClr val="tx1"/>
                </a:solidFill>
              </a:rPr>
              <a:t>: Positive Reinforcement</a:t>
            </a:r>
          </a:p>
          <a:p>
            <a:pPr marL="1223010" lvl="1" indent="-457200" algn="l">
              <a:lnSpc>
                <a:spcPct val="170000"/>
              </a:lnSpc>
              <a:buSzPts val="2960"/>
              <a:buFont typeface="Arial" panose="020B0604020202020204" pitchFamily="34" charset="0"/>
              <a:buChar char="•"/>
            </a:pPr>
            <a:r>
              <a:rPr lang="en-US" sz="2200" b="1" dirty="0">
                <a:solidFill>
                  <a:schemeClr val="tx1"/>
                </a:solidFill>
              </a:rPr>
              <a:t>Definition</a:t>
            </a:r>
            <a:r>
              <a:rPr lang="en-US" sz="2200" dirty="0">
                <a:solidFill>
                  <a:schemeClr val="tx1"/>
                </a:solidFill>
              </a:rPr>
              <a:t>: </a:t>
            </a:r>
            <a:r>
              <a:rPr lang="en-US" sz="2200" u="sng" dirty="0">
                <a:solidFill>
                  <a:schemeClr val="tx1"/>
                </a:solidFill>
              </a:rPr>
              <a:t>Positive Reinforcement</a:t>
            </a:r>
            <a:r>
              <a:rPr lang="en-US" sz="2200" dirty="0">
                <a:solidFill>
                  <a:schemeClr val="tx1"/>
                </a:solidFill>
              </a:rPr>
              <a:t> = adding something desirable to increase wanted goal behavior (drinking at least 32 oz of water per day) </a:t>
            </a:r>
          </a:p>
          <a:p>
            <a:pPr marL="765810" indent="-457200" algn="l">
              <a:lnSpc>
                <a:spcPct val="170000"/>
              </a:lnSpc>
              <a:buSzPts val="2960"/>
              <a:buFont typeface="Arial" panose="020B0604020202020204" pitchFamily="34" charset="0"/>
              <a:buChar char="•"/>
            </a:pPr>
            <a:r>
              <a:rPr lang="en-US" sz="2200" b="1" dirty="0">
                <a:solidFill>
                  <a:schemeClr val="tx1"/>
                </a:solidFill>
              </a:rPr>
              <a:t>Daily Example</a:t>
            </a:r>
            <a:r>
              <a:rPr lang="en-US" sz="2200" dirty="0">
                <a:solidFill>
                  <a:schemeClr val="tx1"/>
                </a:solidFill>
              </a:rPr>
              <a:t>: If I drink at least 32 oz of water that day, then I will let myself drink one soda with dinner.</a:t>
            </a:r>
          </a:p>
          <a:p>
            <a:pPr marL="765810" indent="-457200" algn="l">
              <a:lnSpc>
                <a:spcPct val="170000"/>
              </a:lnSpc>
              <a:buSzPts val="2960"/>
              <a:buFont typeface="Arial" panose="020B0604020202020204" pitchFamily="34" charset="0"/>
              <a:buChar char="•"/>
            </a:pPr>
            <a:r>
              <a:rPr lang="en-US" sz="2200" b="1" dirty="0">
                <a:solidFill>
                  <a:schemeClr val="tx1"/>
                </a:solidFill>
              </a:rPr>
              <a:t>Weekly Example: </a:t>
            </a:r>
            <a:r>
              <a:rPr lang="en-US" sz="2200" dirty="0">
                <a:solidFill>
                  <a:schemeClr val="tx1"/>
                </a:solidFill>
              </a:rPr>
              <a:t>If I drink at least 160 oz of water that week, then I will go hang out with my friends that weekend.</a:t>
            </a:r>
          </a:p>
        </p:txBody>
      </p:sp>
      <p:sp>
        <p:nvSpPr>
          <p:cNvPr id="5" name="Title 1">
            <a:extLst>
              <a:ext uri="{FF2B5EF4-FFF2-40B4-BE49-F238E27FC236}">
                <a16:creationId xmlns:a16="http://schemas.microsoft.com/office/drawing/2014/main" id="{86A10D54-DEBC-8A28-CFBF-A66D29B026AD}"/>
              </a:ext>
            </a:extLst>
          </p:cNvPr>
          <p:cNvSpPr>
            <a:spLocks noGrp="1"/>
          </p:cNvSpPr>
          <p:nvPr>
            <p:ph type="ctrTitle"/>
          </p:nvPr>
        </p:nvSpPr>
        <p:spPr>
          <a:xfrm>
            <a:off x="685800" y="822154"/>
            <a:ext cx="7772400" cy="642121"/>
          </a:xfrm>
        </p:spPr>
        <p:txBody>
          <a:bodyPr/>
          <a:lstStyle/>
          <a:p>
            <a:pPr algn="ctr"/>
            <a:r>
              <a:rPr lang="en-US" sz="4800" dirty="0"/>
              <a:t>Example</a:t>
            </a:r>
            <a:endParaRPr lang="en-US" sz="6000" dirty="0"/>
          </a:p>
        </p:txBody>
      </p:sp>
    </p:spTree>
    <p:extLst>
      <p:ext uri="{BB962C8B-B14F-4D97-AF65-F5344CB8AC3E}">
        <p14:creationId xmlns:p14="http://schemas.microsoft.com/office/powerpoint/2010/main" val="10934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BC5C-8AB6-B640-C415-2936D8D28E45}"/>
              </a:ext>
            </a:extLst>
          </p:cNvPr>
          <p:cNvSpPr>
            <a:spLocks noGrp="1"/>
          </p:cNvSpPr>
          <p:nvPr>
            <p:ph type="title"/>
          </p:nvPr>
        </p:nvSpPr>
        <p:spPr>
          <a:xfrm>
            <a:off x="0" y="726930"/>
            <a:ext cx="9144000" cy="805307"/>
          </a:xfrm>
          <a:solidFill>
            <a:schemeClr val="lt1"/>
          </a:solidFill>
        </p:spPr>
        <p:txBody>
          <a:bodyPr/>
          <a:lstStyle/>
          <a:p>
            <a:pPr algn="ctr"/>
            <a:r>
              <a:rPr lang="en-US" sz="4000" b="1" dirty="0">
                <a:solidFill>
                  <a:schemeClr val="tx1"/>
                </a:solidFill>
              </a:rPr>
              <a:t>Submit This Handout to Canvas</a:t>
            </a:r>
          </a:p>
        </p:txBody>
      </p:sp>
      <p:sp>
        <p:nvSpPr>
          <p:cNvPr id="4" name="TextBox 3">
            <a:extLst>
              <a:ext uri="{FF2B5EF4-FFF2-40B4-BE49-F238E27FC236}">
                <a16:creationId xmlns:a16="http://schemas.microsoft.com/office/drawing/2014/main" id="{1772624F-2F84-9B08-F871-5B52EDD16F43}"/>
              </a:ext>
            </a:extLst>
          </p:cNvPr>
          <p:cNvSpPr txBox="1"/>
          <p:nvPr/>
        </p:nvSpPr>
        <p:spPr>
          <a:xfrm>
            <a:off x="0" y="1437858"/>
            <a:ext cx="9144000" cy="5139869"/>
          </a:xfrm>
          <a:prstGeom prst="rect">
            <a:avLst/>
          </a:prstGeom>
          <a:solidFill>
            <a:schemeClr val="lt1"/>
          </a:solidFill>
        </p:spPr>
        <p:txBody>
          <a:bodyPr wrap="square" rtlCol="0">
            <a:spAutoFit/>
          </a:bodyPr>
          <a:lstStyle/>
          <a:p>
            <a:r>
              <a:rPr lang="en-US" sz="2000" b="1" u="sng" dirty="0"/>
              <a:t>Before you leave Small Group TODAY:</a:t>
            </a:r>
          </a:p>
          <a:p>
            <a:pPr marL="285750" indent="-285750">
              <a:buFont typeface="Arial" panose="020B0604020202020204" pitchFamily="34" charset="0"/>
              <a:buChar char="•"/>
            </a:pPr>
            <a:r>
              <a:rPr lang="en-US" sz="2000" dirty="0"/>
              <a:t>Take photos of or scan your current, handwritten draft of your Handout responses.</a:t>
            </a:r>
          </a:p>
          <a:p>
            <a:pPr marL="285750" indent="-285750">
              <a:buFont typeface="Arial" panose="020B0604020202020204" pitchFamily="34" charset="0"/>
              <a:buChar char="•"/>
            </a:pPr>
            <a:r>
              <a:rPr lang="en-US" sz="2000" dirty="0"/>
              <a:t>Then, upload your photos or your scan to the Canvas submission folder entitled “Behavior Modification Handout #2: Learning Operant Conditioning and Applying It to Behavior Change.”</a:t>
            </a:r>
          </a:p>
          <a:p>
            <a:endParaRPr lang="en-US" sz="2000" dirty="0"/>
          </a:p>
          <a:p>
            <a:r>
              <a:rPr lang="en-US" sz="2000" b="1" u="sng" dirty="0"/>
              <a:t>Before Sunday night, February 15</a:t>
            </a:r>
            <a:r>
              <a:rPr lang="en-US" sz="2000" b="1" u="sng" baseline="30000" dirty="0"/>
              <a:t>th</a:t>
            </a:r>
            <a:r>
              <a:rPr lang="en-US" sz="2000" b="1" u="sng" dirty="0"/>
              <a:t> at 11:59pm:</a:t>
            </a:r>
          </a:p>
          <a:p>
            <a:pPr marL="285750" lvl="4" indent="-285750">
              <a:buFont typeface="Arial" panose="020B0604020202020204" pitchFamily="34" charset="0"/>
              <a:buChar char="•"/>
            </a:pPr>
            <a:r>
              <a:rPr lang="en-US" sz="2000" dirty="0"/>
              <a:t>Finish completing the Handout, if you did not complete it today. </a:t>
            </a:r>
          </a:p>
          <a:p>
            <a:pPr marL="285750" lvl="6" indent="-285750">
              <a:buFont typeface="Arial" panose="020B0604020202020204" pitchFamily="34" charset="0"/>
              <a:buChar char="•"/>
            </a:pPr>
            <a:r>
              <a:rPr lang="en-US" sz="2000" dirty="0"/>
              <a:t>Then, type out your handwritten responses into a Microsoft Word document.</a:t>
            </a:r>
          </a:p>
          <a:p>
            <a:pPr marL="285750" indent="-285750">
              <a:buFont typeface="Arial" panose="020B0604020202020204" pitchFamily="34" charset="0"/>
              <a:buChar char="•"/>
            </a:pPr>
            <a:r>
              <a:rPr lang="en-US" sz="2000" dirty="0"/>
              <a:t>You are welcome to use AI to proofread and to edit your typed responses. AI can also be used to help you to brainstorm. We’ll talk about specifics in a minute.</a:t>
            </a:r>
          </a:p>
          <a:p>
            <a:pPr marL="285750" lvl="1" indent="-285750">
              <a:buFont typeface="Arial" panose="020B0604020202020204" pitchFamily="34" charset="0"/>
              <a:buChar char="•"/>
            </a:pPr>
            <a:r>
              <a:rPr lang="en-US" sz="2000" dirty="0"/>
              <a:t>In the Canvas submission folder, every student should have at least two submissions for this Handout: an upload of photos or a scan of their handwritten draft </a:t>
            </a:r>
            <a:r>
              <a:rPr lang="en-US" sz="2000" u="sng" dirty="0"/>
              <a:t>and</a:t>
            </a:r>
            <a:r>
              <a:rPr lang="en-US" sz="2000" dirty="0"/>
              <a:t> an upload of their finalized Microsoft Word document. </a:t>
            </a:r>
          </a:p>
        </p:txBody>
      </p:sp>
    </p:spTree>
    <p:extLst>
      <p:ext uri="{BB962C8B-B14F-4D97-AF65-F5344CB8AC3E}">
        <p14:creationId xmlns:p14="http://schemas.microsoft.com/office/powerpoint/2010/main" val="42135990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1DDE4960-50C8-3C03-1591-9E460549B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C1CBB-96AA-0E57-5520-682D1CAD3434}"/>
              </a:ext>
            </a:extLst>
          </p:cNvPr>
          <p:cNvSpPr>
            <a:spLocks noGrp="1"/>
          </p:cNvSpPr>
          <p:nvPr>
            <p:ph type="title"/>
          </p:nvPr>
        </p:nvSpPr>
        <p:spPr>
          <a:xfrm>
            <a:off x="0" y="835628"/>
            <a:ext cx="9144000" cy="993172"/>
          </a:xfrm>
          <a:solidFill>
            <a:schemeClr val="lt1"/>
          </a:solidFill>
        </p:spPr>
        <p:txBody>
          <a:bodyPr/>
          <a:lstStyle/>
          <a:p>
            <a:pPr algn="ctr"/>
            <a:r>
              <a:rPr lang="en-US" sz="4000" b="1" dirty="0">
                <a:solidFill>
                  <a:schemeClr val="tx1"/>
                </a:solidFill>
              </a:rPr>
              <a:t>If You Decide to Use AI to Help You</a:t>
            </a:r>
          </a:p>
        </p:txBody>
      </p:sp>
      <p:sp>
        <p:nvSpPr>
          <p:cNvPr id="4" name="TextBox 3">
            <a:extLst>
              <a:ext uri="{FF2B5EF4-FFF2-40B4-BE49-F238E27FC236}">
                <a16:creationId xmlns:a16="http://schemas.microsoft.com/office/drawing/2014/main" id="{950C1DD9-86D1-01FB-7E54-59E4A2F3EBD8}"/>
              </a:ext>
            </a:extLst>
          </p:cNvPr>
          <p:cNvSpPr txBox="1"/>
          <p:nvPr/>
        </p:nvSpPr>
        <p:spPr>
          <a:xfrm>
            <a:off x="1" y="1727344"/>
            <a:ext cx="9051403" cy="4832092"/>
          </a:xfrm>
          <a:prstGeom prst="rect">
            <a:avLst/>
          </a:prstGeom>
          <a:solidFill>
            <a:schemeClr val="lt1"/>
          </a:solidFill>
        </p:spPr>
        <p:txBody>
          <a:bodyPr wrap="square" rtlCol="0">
            <a:spAutoFit/>
          </a:bodyPr>
          <a:lstStyle/>
          <a:p>
            <a:pPr marL="285750" indent="-285750">
              <a:buFont typeface="Arial" panose="020B0604020202020204" pitchFamily="34" charset="0"/>
              <a:buChar char="•"/>
            </a:pPr>
            <a:r>
              <a:rPr lang="en-US" sz="2200" dirty="0"/>
              <a:t>If you decide to use AI to provide you with feedback on your responses, please include the following additional information in your Handout document:  </a:t>
            </a:r>
          </a:p>
          <a:p>
            <a:pPr marL="636587" lvl="4" indent="-285750">
              <a:buFont typeface="Courier New" panose="02070309020205020404" pitchFamily="49" charset="0"/>
              <a:buChar char="o"/>
            </a:pPr>
            <a:r>
              <a:rPr lang="en-US" sz="2200" dirty="0"/>
              <a:t>Which AI platform(s) did you use?</a:t>
            </a:r>
          </a:p>
          <a:p>
            <a:pPr marL="636587" lvl="4" indent="-285750">
              <a:buFont typeface="Courier New" panose="02070309020205020404" pitchFamily="49" charset="0"/>
              <a:buChar char="o"/>
            </a:pPr>
            <a:r>
              <a:rPr lang="en-US" sz="2200" dirty="0"/>
              <a:t>What prompt(s) did you use to provide yourself with feedback on your Handout responses or to make edits to them?</a:t>
            </a:r>
          </a:p>
          <a:p>
            <a:pPr marL="636587" lvl="4" indent="-285750">
              <a:buFont typeface="Courier New" panose="02070309020205020404" pitchFamily="49" charset="0"/>
              <a:buChar char="o"/>
            </a:pPr>
            <a:r>
              <a:rPr lang="en-US" sz="2200" dirty="0"/>
              <a:t>How did you change your responses based on the AI feedback?</a:t>
            </a:r>
          </a:p>
          <a:p>
            <a:pPr marL="636587" lvl="4" indent="-285750">
              <a:buFont typeface="Courier New" panose="02070309020205020404" pitchFamily="49" charset="0"/>
              <a:buChar char="o"/>
            </a:pPr>
            <a:r>
              <a:rPr lang="en-US" sz="2200" dirty="0"/>
              <a:t>Please upload your output from AI with your revised Handout responses. </a:t>
            </a:r>
          </a:p>
          <a:p>
            <a:pPr marL="636587" lvl="2" indent="-285750">
              <a:buFont typeface="Courier New" panose="02070309020205020404" pitchFamily="49" charset="0"/>
              <a:buChar char="o"/>
            </a:pPr>
            <a:r>
              <a:rPr lang="en-US" sz="2200" dirty="0"/>
              <a:t>Once your Handout responses are finalized, you need to upload your Microsoft Word typed document to the Canvas submission folder.</a:t>
            </a:r>
          </a:p>
          <a:p>
            <a:pPr marL="285750" lvl="1" indent="-285750">
              <a:buFont typeface="Arial" panose="020B0604020202020204" pitchFamily="34" charset="0"/>
              <a:buChar char="•"/>
            </a:pPr>
            <a:r>
              <a:rPr lang="en-US" sz="2200" u="sng" dirty="0"/>
              <a:t>Note</a:t>
            </a:r>
            <a:r>
              <a:rPr lang="en-US" sz="2200" dirty="0"/>
              <a:t>: You must turn in handwritten responses to the Handout so that we can make sure that you are not offloading your thinking to AI. </a:t>
            </a:r>
          </a:p>
        </p:txBody>
      </p:sp>
    </p:spTree>
    <p:extLst>
      <p:ext uri="{BB962C8B-B14F-4D97-AF65-F5344CB8AC3E}">
        <p14:creationId xmlns:p14="http://schemas.microsoft.com/office/powerpoint/2010/main" val="191438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48830-B16A-7671-254E-F73CA2802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49451-A5F0-A8A9-08D4-93E7E700D2C2}"/>
              </a:ext>
            </a:extLst>
          </p:cNvPr>
          <p:cNvSpPr>
            <a:spLocks noGrp="1"/>
          </p:cNvSpPr>
          <p:nvPr>
            <p:ph type="title"/>
          </p:nvPr>
        </p:nvSpPr>
        <p:spPr/>
        <p:txBody>
          <a:bodyPr/>
          <a:lstStyle/>
          <a:p>
            <a:pPr algn="ctr"/>
            <a:r>
              <a:rPr lang="en-US"/>
              <a:t>FIVE-MINUTE MEETINGS</a:t>
            </a:r>
          </a:p>
        </p:txBody>
      </p:sp>
      <p:sp>
        <p:nvSpPr>
          <p:cNvPr id="3" name="Text Placeholder 2">
            <a:extLst>
              <a:ext uri="{FF2B5EF4-FFF2-40B4-BE49-F238E27FC236}">
                <a16:creationId xmlns:a16="http://schemas.microsoft.com/office/drawing/2014/main" id="{D9608FFC-8693-5CAB-DCCB-CBEE68DD4B88}"/>
              </a:ext>
            </a:extLst>
          </p:cNvPr>
          <p:cNvSpPr>
            <a:spLocks noGrp="1"/>
          </p:cNvSpPr>
          <p:nvPr>
            <p:ph type="body" idx="1"/>
          </p:nvPr>
        </p:nvSpPr>
        <p:spPr>
          <a:xfrm>
            <a:off x="0" y="1569720"/>
            <a:ext cx="8042564" cy="5105400"/>
          </a:xfrm>
        </p:spPr>
        <p:txBody>
          <a:bodyPr>
            <a:normAutofit/>
          </a:bodyPr>
          <a:lstStyle/>
          <a:p>
            <a:r>
              <a:rPr lang="en-US" dirty="0"/>
              <a:t>Starting </a:t>
            </a:r>
            <a:r>
              <a:rPr lang="en-US" u="sng" dirty="0"/>
              <a:t>Monday, February 16</a:t>
            </a:r>
            <a:r>
              <a:rPr lang="en-US" u="sng" baseline="30000" dirty="0"/>
              <a:t>th</a:t>
            </a:r>
            <a:r>
              <a:rPr lang="en-US" dirty="0"/>
              <a:t> until </a:t>
            </a:r>
            <a:r>
              <a:rPr lang="en-US" u="sng" dirty="0"/>
              <a:t>Friday, September 27</a:t>
            </a:r>
            <a:r>
              <a:rPr lang="en-US" u="sng" baseline="30000" dirty="0"/>
              <a:t>th</a:t>
            </a:r>
            <a:r>
              <a:rPr lang="en-US" dirty="0"/>
              <a:t>, you will meet with one us to review your answers to today’s Handout and to discuss your Behavior Modification Assignment Project.</a:t>
            </a:r>
          </a:p>
          <a:p>
            <a:r>
              <a:rPr lang="en-US" dirty="0"/>
              <a:t>If you have not scheduled your Five-Minute Meeting yet, please do so </a:t>
            </a:r>
            <a:r>
              <a:rPr lang="en-US" u="sng" dirty="0"/>
              <a:t>today</a:t>
            </a:r>
            <a:r>
              <a:rPr lang="en-US" dirty="0"/>
              <a:t>. </a:t>
            </a:r>
          </a:p>
          <a:p>
            <a:pPr marL="114300" indent="0" algn="ctr">
              <a:buNone/>
            </a:pPr>
            <a:r>
              <a:rPr lang="en-US" dirty="0">
                <a:sym typeface="Wingdings" pitchFamily="2" charset="2"/>
              </a:rPr>
              <a:t></a:t>
            </a:r>
            <a:endParaRPr lang="en-US" dirty="0"/>
          </a:p>
        </p:txBody>
      </p:sp>
    </p:spTree>
    <p:extLst>
      <p:ext uri="{BB962C8B-B14F-4D97-AF65-F5344CB8AC3E}">
        <p14:creationId xmlns:p14="http://schemas.microsoft.com/office/powerpoint/2010/main" val="31289116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A22BE050-A742-2BFC-016C-8BF6B9F0D156}"/>
            </a:ext>
          </a:extLst>
        </p:cNvPr>
        <p:cNvGrpSpPr/>
        <p:nvPr/>
      </p:nvGrpSpPr>
      <p:grpSpPr>
        <a:xfrm>
          <a:off x="0" y="0"/>
          <a:ext cx="0" cy="0"/>
          <a:chOff x="0" y="0"/>
          <a:chExt cx="0" cy="0"/>
        </a:xfrm>
      </p:grpSpPr>
      <p:sp>
        <p:nvSpPr>
          <p:cNvPr id="71" name="Google Shape;71;p2">
            <a:extLst>
              <a:ext uri="{FF2B5EF4-FFF2-40B4-BE49-F238E27FC236}">
                <a16:creationId xmlns:a16="http://schemas.microsoft.com/office/drawing/2014/main" id="{C73CF51F-9E73-B2C9-340E-1AC205338F99}"/>
              </a:ext>
            </a:extLst>
          </p:cNvPr>
          <p:cNvSpPr txBox="1">
            <a:spLocks noGrp="1"/>
          </p:cNvSpPr>
          <p:nvPr>
            <p:ph type="title"/>
          </p:nvPr>
        </p:nvSpPr>
        <p:spPr>
          <a:xfrm>
            <a:off x="235131" y="649383"/>
            <a:ext cx="9144000" cy="914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2"/>
              </a:buClr>
              <a:buSzPts val="4400"/>
              <a:buFont typeface="Trebuchet MS"/>
              <a:buNone/>
            </a:pPr>
            <a:r>
              <a:rPr lang="en-US" dirty="0"/>
              <a:t>Reminders and Due Dates</a:t>
            </a:r>
            <a:endParaRPr dirty="0"/>
          </a:p>
        </p:txBody>
      </p:sp>
      <p:sp>
        <p:nvSpPr>
          <p:cNvPr id="72" name="Google Shape;72;p2">
            <a:extLst>
              <a:ext uri="{FF2B5EF4-FFF2-40B4-BE49-F238E27FC236}">
                <a16:creationId xmlns:a16="http://schemas.microsoft.com/office/drawing/2014/main" id="{0862B46A-E99A-7110-1549-A5EFA279E657}"/>
              </a:ext>
            </a:extLst>
          </p:cNvPr>
          <p:cNvSpPr txBox="1">
            <a:spLocks noGrp="1"/>
          </p:cNvSpPr>
          <p:nvPr>
            <p:ph type="body" idx="1"/>
          </p:nvPr>
        </p:nvSpPr>
        <p:spPr>
          <a:xfrm>
            <a:off x="0" y="1459738"/>
            <a:ext cx="8017329" cy="4495799"/>
          </a:xfrm>
          <a:prstGeom prst="rect">
            <a:avLst/>
          </a:prstGeom>
          <a:noFill/>
          <a:ln>
            <a:noFill/>
          </a:ln>
        </p:spPr>
        <p:txBody>
          <a:bodyPr spcFirstLastPara="1" wrap="square" lIns="91425" tIns="91425" rIns="91425" bIns="91425" anchor="t" anchorCtr="0">
            <a:noAutofit/>
          </a:bodyPr>
          <a:lstStyle/>
          <a:p>
            <a:pPr marL="120650" lvl="0" indent="0">
              <a:spcBef>
                <a:spcPts val="0"/>
              </a:spcBef>
              <a:buSzPts val="3200"/>
              <a:buNone/>
            </a:pPr>
            <a:r>
              <a:rPr lang="en-US" b="1" u="sng" dirty="0"/>
              <a:t>Friday, 02/13</a:t>
            </a:r>
          </a:p>
          <a:p>
            <a:pPr marL="690563" lvl="0" indent="-225425">
              <a:spcBef>
                <a:spcPts val="0"/>
              </a:spcBef>
              <a:buSzPts val="3200"/>
            </a:pPr>
            <a:r>
              <a:rPr lang="en-US" dirty="0"/>
              <a:t>SBA Part Two OPENS</a:t>
            </a:r>
          </a:p>
          <a:p>
            <a:pPr marL="120650" lvl="0" indent="0">
              <a:spcBef>
                <a:spcPts val="0"/>
              </a:spcBef>
              <a:buSzPts val="3200"/>
              <a:buNone/>
            </a:pPr>
            <a:r>
              <a:rPr lang="en-US" b="1" u="sng" dirty="0"/>
              <a:t>Sunday, 02/15</a:t>
            </a:r>
          </a:p>
          <a:p>
            <a:pPr marL="642938" lvl="0" indent="-225425">
              <a:spcBef>
                <a:spcPts val="0"/>
              </a:spcBef>
              <a:buSzPts val="3200"/>
            </a:pPr>
            <a:r>
              <a:rPr lang="en-US" dirty="0"/>
              <a:t>Behavior Modification Handout #2: Learning Operant Conditioning and Applying It to Behavior Change</a:t>
            </a:r>
          </a:p>
          <a:p>
            <a:pPr marL="120650" lvl="0" indent="0">
              <a:spcBef>
                <a:spcPts val="0"/>
              </a:spcBef>
              <a:buSzPts val="3200"/>
              <a:buNone/>
            </a:pPr>
            <a:r>
              <a:rPr lang="en-US" b="1" u="sng" dirty="0"/>
              <a:t>Monday, 02/16 due at 11:59pm</a:t>
            </a:r>
          </a:p>
          <a:p>
            <a:pPr marL="642938" lvl="0" indent="-225425">
              <a:spcBef>
                <a:spcPts val="0"/>
              </a:spcBef>
              <a:buSzPts val="3200"/>
            </a:pPr>
            <a:r>
              <a:rPr lang="en-US" dirty="0"/>
              <a:t>5 Chapter Seven Assignments</a:t>
            </a:r>
          </a:p>
          <a:p>
            <a:pPr marL="642938" lvl="0" indent="-225425">
              <a:spcBef>
                <a:spcPts val="0"/>
              </a:spcBef>
              <a:buSzPts val="3200"/>
            </a:pPr>
            <a:r>
              <a:rPr lang="en-US" dirty="0"/>
              <a:t>Five-Minute Meetings Start</a:t>
            </a:r>
            <a:endParaRPr dirty="0"/>
          </a:p>
        </p:txBody>
      </p:sp>
    </p:spTree>
    <p:extLst>
      <p:ext uri="{BB962C8B-B14F-4D97-AF65-F5344CB8AC3E}">
        <p14:creationId xmlns:p14="http://schemas.microsoft.com/office/powerpoint/2010/main" val="1338453752"/>
      </p:ext>
    </p:extLst>
  </p:cSld>
  <p:clrMapOvr>
    <a:masterClrMapping/>
  </p:clrMapOvr>
</p:sld>
</file>

<file path=ppt/theme/theme1.xml><?xml version="1.0" encoding="utf-8"?>
<a:theme xmlns:a="http://schemas.openxmlformats.org/drawingml/2006/main" name="The University of Memphis Slide Background">
  <a:themeElements>
    <a:clrScheme name="student_temp 1">
      <a:dk1>
        <a:srgbClr val="000000"/>
      </a:dk1>
      <a:lt1>
        <a:srgbClr val="FFFFFF"/>
      </a:lt1>
      <a:dk2>
        <a:srgbClr val="000000"/>
      </a:dk2>
      <a:lt2>
        <a:srgbClr val="808080"/>
      </a:lt2>
      <a:accent1>
        <a:srgbClr val="8EAEEE"/>
      </a:accent1>
      <a:accent2>
        <a:srgbClr val="FFFFCC"/>
      </a:accent2>
      <a:accent3>
        <a:srgbClr val="FFFFFF"/>
      </a:accent3>
      <a:accent4>
        <a:srgbClr val="8EAEEE"/>
      </a:accent4>
      <a:accent5>
        <a:srgbClr val="FFFFCC"/>
      </a:accent5>
      <a:accent6>
        <a:srgbClr val="FFFFFF"/>
      </a:accent6>
      <a:hlink>
        <a:srgbClr val="000099"/>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12946</TotalTime>
  <Words>5638</Words>
  <Application>Microsoft Macintosh PowerPoint</Application>
  <PresentationFormat>On-screen Show (4:3)</PresentationFormat>
  <Paragraphs>617</Paragraphs>
  <Slides>64</Slides>
  <Notes>64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Trebuchet MS</vt:lpstr>
      <vt:lpstr>Courier New</vt:lpstr>
      <vt:lpstr>Noto Sans Symbols</vt:lpstr>
      <vt:lpstr>Wingdings</vt:lpstr>
      <vt:lpstr>Alexandria Medium</vt:lpstr>
      <vt:lpstr>Arial</vt:lpstr>
      <vt:lpstr>Calibri</vt:lpstr>
      <vt:lpstr>The University of Memphis Slide Background</vt:lpstr>
      <vt:lpstr>Reminders and Due Dates</vt:lpstr>
      <vt:lpstr>FIVE-MINUTE MEETINGS</vt:lpstr>
      <vt:lpstr>Conditioning (It’s not about hair!) It’s about behavior!!</vt:lpstr>
      <vt:lpstr>Two Types of Conditioning</vt:lpstr>
      <vt:lpstr>Let’s actively learn  Operant Conditioning!</vt:lpstr>
      <vt:lpstr>Operant Conditioning  Definition of Behavior </vt:lpstr>
      <vt:lpstr>PowerPoint Presentation</vt:lpstr>
      <vt:lpstr>How Do You Change a Behavior  with Operant Conditioning?</vt:lpstr>
      <vt:lpstr>PowerPoint Presentation</vt:lpstr>
      <vt:lpstr>Operant Conditioning Definition</vt:lpstr>
      <vt:lpstr>Question 1</vt:lpstr>
      <vt:lpstr>Question 1—ANSWER</vt:lpstr>
      <vt:lpstr>Question 2</vt:lpstr>
      <vt:lpstr>Question 2—ANSWER </vt:lpstr>
      <vt:lpstr>Question 3</vt:lpstr>
      <vt:lpstr>Question 3—ANSWER </vt:lpstr>
      <vt:lpstr>Types of Operant Conditioning</vt:lpstr>
      <vt:lpstr>Reinforcement</vt:lpstr>
      <vt:lpstr>Positive and Negative </vt:lpstr>
      <vt:lpstr>Reinforcement</vt:lpstr>
      <vt:lpstr>Reinforcement</vt:lpstr>
      <vt:lpstr>Question 4</vt:lpstr>
      <vt:lpstr>Question 4—ANSWER </vt:lpstr>
      <vt:lpstr>Punishment</vt:lpstr>
      <vt:lpstr>Punishment</vt:lpstr>
      <vt:lpstr>Punishment</vt:lpstr>
      <vt:lpstr>Punishment</vt:lpstr>
      <vt:lpstr>Question 5</vt:lpstr>
      <vt:lpstr>Question 5—ANSWER </vt:lpstr>
      <vt:lpstr>PowerPoint Presentation</vt:lpstr>
      <vt:lpstr>Three Question Method</vt:lpstr>
      <vt:lpstr>In-Class Worksheet  on Operant Conditioning </vt:lpstr>
      <vt:lpstr>Johnny scores a goal, and his friends congratulate him. </vt:lpstr>
      <vt:lpstr>Johnny scores a goal, and his friends congratulate him. </vt:lpstr>
      <vt:lpstr>Johnny scores a goal, and his friends congratulate him.</vt:lpstr>
      <vt:lpstr>Johnny scores a goal, and his friends congratulate him.</vt:lpstr>
      <vt:lpstr>Johnny scores a goal, and his friends congratulate him.</vt:lpstr>
      <vt:lpstr>Johnny scores a goal, and his friends congratulate him.</vt:lpstr>
      <vt:lpstr>Let’s Practice the Next Few Together – Follow along on your worksheet!</vt:lpstr>
      <vt:lpstr>I put on sunscreen to avoid a sunburn.</vt:lpstr>
      <vt:lpstr>I put on sunscreen to avoid a sunburn.</vt:lpstr>
      <vt:lpstr>I put on sunscreen to avoid a sunburn.</vt:lpstr>
      <vt:lpstr>I put on sunscreen to avoid a sunburn.</vt:lpstr>
      <vt:lpstr>I put on sunscreen to avoid a sunburn.</vt:lpstr>
      <vt:lpstr>I put on sunscreen to avoid a sunburn.</vt:lpstr>
      <vt:lpstr>PowerPoint Presentation</vt:lpstr>
      <vt:lpstr>PowerPoint Presentation</vt:lpstr>
      <vt:lpstr>PowerPoint Presentation</vt:lpstr>
      <vt:lpstr>Choice of Unwanted Target Behaviors</vt:lpstr>
      <vt:lpstr>Important Note:   </vt:lpstr>
      <vt:lpstr>Example of using  Operant Conditioning  to Change Behavior </vt:lpstr>
      <vt:lpstr>Positive Reinforcement(+   ):   I want to drink more water.</vt:lpstr>
      <vt:lpstr>Negative Reinforcement (-   ):  I want to drink more water.</vt:lpstr>
      <vt:lpstr>Positive Punishment (+   ):  I want to drink more water.</vt:lpstr>
      <vt:lpstr>Negative Punishment (-   ):  I want to drink more water.</vt:lpstr>
      <vt:lpstr>Example of using Operant Conditioning to Change an Unwanted Target Behavior</vt:lpstr>
      <vt:lpstr>Apply What You Have Learned</vt:lpstr>
      <vt:lpstr>Designing Your Behavior Modification Intervention</vt:lpstr>
      <vt:lpstr>Why Daily &amp; Weekly Goals?</vt:lpstr>
      <vt:lpstr>Example</vt:lpstr>
      <vt:lpstr>Submit This Handout to Canvas</vt:lpstr>
      <vt:lpstr>If You Decide to Use AI to Help You</vt:lpstr>
      <vt:lpstr>FIVE-MINUTE MEETINGS</vt:lpstr>
      <vt:lpstr>Reminders and Due Dates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Reminders and Due Dates!</dc:title>
  <dc:creator>University of Memphis PSYC 1030</dc:creator>
  <cp:lastModifiedBy>University of Memphis PSYC 1030</cp:lastModifiedBy>
  <cp:revision>222</cp:revision>
  <cp:lastPrinted>2025-09-21T18:13:55Z</cp:lastPrinted>
  <dcterms:created xsi:type="dcterms:W3CDTF">2016-09-27T23:49:47Z</dcterms:created>
  <dcterms:modified xsi:type="dcterms:W3CDTF">2026-06-24T22:47:05Z</dcterms:modified>
</cp:coreProperties>
</file>