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Lst>
  <p:notesMasterIdLst>
    <p:notesMasterId r:id="rId21"/>
  </p:notesMasterIdLst>
  <p:sldIdLst>
    <p:sldId id="256" r:id="rId2"/>
    <p:sldId id="399" r:id="rId3"/>
    <p:sldId id="393" r:id="rId4"/>
    <p:sldId id="396" r:id="rId5"/>
    <p:sldId id="397" r:id="rId6"/>
    <p:sldId id="388" r:id="rId7"/>
    <p:sldId id="367" r:id="rId8"/>
    <p:sldId id="368" r:id="rId9"/>
    <p:sldId id="369" r:id="rId10"/>
    <p:sldId id="370" r:id="rId11"/>
    <p:sldId id="373" r:id="rId12"/>
    <p:sldId id="372" r:id="rId13"/>
    <p:sldId id="371" r:id="rId14"/>
    <p:sldId id="374" r:id="rId15"/>
    <p:sldId id="378" r:id="rId16"/>
    <p:sldId id="391" r:id="rId17"/>
    <p:sldId id="392" r:id="rId18"/>
    <p:sldId id="379" r:id="rId19"/>
    <p:sldId id="398" r:id="rId20"/>
  </p:sldIdLst>
  <p:sldSz cx="9144000" cy="5143500" type="screen16x9"/>
  <p:notesSz cx="6858000" cy="9144000"/>
  <p:embeddedFontLst>
    <p:embeddedFont>
      <p:font typeface="Bell MT" panose="02020503060305020303" pitchFamily="18" charset="77"/>
      <p:regular r:id="rId22"/>
      <p:bold r:id="rId23"/>
      <p:italic r:id="rId24"/>
    </p:embeddedFont>
    <p:embeddedFont>
      <p:font typeface="Calisto MT" panose="02040603050505030304" pitchFamily="18" charset="77"/>
      <p:regular r:id="rId25"/>
      <p:bold r:id="rId26"/>
      <p:italic r:id="rId27"/>
      <p:boldItalic r:id="rId28"/>
    </p:embeddedFont>
    <p:embeddedFont>
      <p:font typeface="Cambria" panose="02040503050406030204" pitchFamily="18" charset="0"/>
      <p:regular r:id="rId29"/>
      <p:bold r:id="rId30"/>
      <p:italic r:id="rId31"/>
      <p:boldItalic r:id="rId32"/>
    </p:embeddedFont>
    <p:embeddedFont>
      <p:font typeface="Montserrat" pitchFamily="2" charset="77"/>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2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3FF4B3-12BF-7CC3-15BF-766310F29456}" v="9" dt="2026-04-18T17:25:29.574"/>
    <p1510:client id="{962254FA-DD01-D7E6-E083-CB5C4E15B8D4}" v="350" dt="2026-04-17T13:11:18.724"/>
    <p1510:client id="{C0519749-AF8E-DEB3-ECC1-54EFFB94AF23}" v="1169" dt="2026-04-17T04:14:18.683"/>
    <p1510:client id="{E8E2B1CF-7806-5206-947F-965D5468F9E8}" v="36" dt="2026-04-17T15:03:16.146"/>
  </p1510:revLst>
</p1510:revInfo>
</file>

<file path=ppt/tableStyles.xml><?xml version="1.0" encoding="utf-8"?>
<a:tblStyleLst xmlns:a="http://schemas.openxmlformats.org/drawingml/2006/main" def="{88983BDC-2EDD-47BF-8030-28BD18B7EC0D}">
  <a:tblStyle styleId="{88983BDC-2EDD-47BF-8030-28BD18B7EC0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684"/>
  </p:normalViewPr>
  <p:slideViewPr>
    <p:cSldViewPr snapToGrid="0">
      <p:cViewPr varScale="1">
        <p:scale>
          <a:sx n="157" d="100"/>
          <a:sy n="157" d="100"/>
        </p:scale>
        <p:origin x="2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theme" Target="theme/theme1.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PRINT NOTES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a:t>Professional contexts:</a:t>
            </a:r>
          </a:p>
          <a:p>
            <a:r>
              <a:rPr lang="en-US"/>
              <a:t>Working as a manager, managing a company/group of ppl – if the team performs well, they get a bonus. Or if an employee consistently arrives late to work, their pay is docked or they lose certain privileges </a:t>
            </a:r>
          </a:p>
          <a:p>
            <a:r>
              <a:rPr lang="en-US"/>
              <a:t>**Operant conditioning in the workplace can increase accountability and improve morale</a:t>
            </a:r>
          </a:p>
          <a:p>
            <a:pPr marL="158750" indent="0">
              <a:buNone/>
            </a:pPr>
            <a:endParaRPr lang="en-US"/>
          </a:p>
          <a:p>
            <a:pPr marL="158750" indent="0">
              <a:buNone/>
            </a:pPr>
            <a:r>
              <a:rPr lang="en-US"/>
              <a:t>Personal contexts:</a:t>
            </a:r>
          </a:p>
          <a:p>
            <a:r>
              <a:rPr lang="en-US"/>
              <a:t>As a parent – if your child consistently does their chores, they get a sticker on the sticker chart, which ultimately leads up to a bigger reward. Or if they don’t do their homework, then their video game gets taken away.</a:t>
            </a:r>
          </a:p>
          <a:p>
            <a:pPr lvl="1"/>
            <a:r>
              <a:rPr lang="en-US"/>
              <a:t>Remember the SBA – a parent trying to get their child to go to sleep more consistently</a:t>
            </a:r>
          </a:p>
          <a:p>
            <a:r>
              <a:rPr lang="en-US"/>
              <a:t>Operant conditioning is also helpful for habit formation/modification -- such as strengthening the good habit of drinking more water, which has been our example for this project</a:t>
            </a:r>
          </a:p>
        </p:txBody>
      </p:sp>
    </p:spTree>
    <p:extLst>
      <p:ext uri="{BB962C8B-B14F-4D97-AF65-F5344CB8AC3E}">
        <p14:creationId xmlns:p14="http://schemas.microsoft.com/office/powerpoint/2010/main" val="109890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ANIMATE THIS</a:t>
            </a:r>
          </a:p>
          <a:p>
            <a:pPr marL="0" indent="0">
              <a:buNone/>
            </a:pPr>
            <a:endParaRPr lang="en-US"/>
          </a:p>
          <a:p>
            <a:pPr marL="0" lvl="0" indent="0" algn="l">
              <a:spcBef>
                <a:spcPts val="0"/>
              </a:spcBef>
              <a:spcAft>
                <a:spcPts val="0"/>
              </a:spcAft>
              <a:buNone/>
            </a:pPr>
            <a:r>
              <a:rPr lang="en-US"/>
              <a:t>Read slide. </a:t>
            </a:r>
          </a:p>
          <a:p>
            <a:pPr marL="0" lvl="0" indent="0" algn="l" rtl="0">
              <a:spcBef>
                <a:spcPts val="0"/>
              </a:spcBef>
              <a:spcAft>
                <a:spcPts val="0"/>
              </a:spcAft>
              <a:buNone/>
            </a:pPr>
            <a:endParaRPr lang="en-US"/>
          </a:p>
          <a:p>
            <a:pPr marL="0" lvl="0" indent="0" algn="l" rtl="0">
              <a:spcBef>
                <a:spcPts val="0"/>
              </a:spcBef>
              <a:spcAft>
                <a:spcPts val="0"/>
              </a:spcAft>
              <a:buNone/>
            </a:pPr>
            <a:r>
              <a:rPr lang="en-US"/>
              <a:t>Ask and make sure everyone picked up the handout when they came in. </a:t>
            </a:r>
          </a:p>
          <a:p>
            <a:pPr marL="0" lvl="0" indent="0" algn="l" rtl="0">
              <a:spcBef>
                <a:spcPts val="0"/>
              </a:spcBef>
              <a:spcAft>
                <a:spcPts val="0"/>
              </a:spcAft>
              <a:buNone/>
            </a:pPr>
            <a:endParaRPr lang="en-US"/>
          </a:p>
          <a:p>
            <a:pPr marL="0" lvl="0" indent="0" algn="l" rtl="0">
              <a:spcBef>
                <a:spcPts val="0"/>
              </a:spcBef>
              <a:spcAft>
                <a:spcPts val="0"/>
              </a:spcAft>
              <a:buNone/>
            </a:pPr>
            <a:r>
              <a:rPr lang="en-US"/>
              <a:t>Tell them that you will be walking them through each question on the handout, and they will handwrite their answers in class.</a:t>
            </a:r>
            <a:endParaRPr/>
          </a:p>
        </p:txBody>
      </p:sp>
    </p:spTree>
    <p:extLst>
      <p:ext uri="{BB962C8B-B14F-4D97-AF65-F5344CB8AC3E}">
        <p14:creationId xmlns:p14="http://schemas.microsoft.com/office/powerpoint/2010/main" val="4137392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Read slide. </a:t>
            </a:r>
            <a:endParaRPr/>
          </a:p>
        </p:txBody>
      </p:sp>
    </p:spTree>
    <p:extLst>
      <p:ext uri="{BB962C8B-B14F-4D97-AF65-F5344CB8AC3E}">
        <p14:creationId xmlns:p14="http://schemas.microsoft.com/office/powerpoint/2010/main" val="3989368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Read slide. Remind them that we are using the same example of drinking water that we have been using for the first two handouts. Ask if anyone has any questions. Tell them they have 5 minutes to write their answer to this question, and it is okay if they do not finish each question during class, because they do not have to submit it until Sunday night. </a:t>
            </a:r>
          </a:p>
          <a:p>
            <a:pPr marL="0" lvl="0" indent="0" algn="l" rtl="0">
              <a:spcBef>
                <a:spcPts val="0"/>
              </a:spcBef>
              <a:spcAft>
                <a:spcPts val="0"/>
              </a:spcAft>
              <a:buNone/>
            </a:pPr>
            <a:endParaRPr lang="en-US"/>
          </a:p>
          <a:p>
            <a:pPr marL="0" lvl="0" indent="0" algn="l" rtl="0">
              <a:spcBef>
                <a:spcPts val="0"/>
              </a:spcBef>
              <a:spcAft>
                <a:spcPts val="0"/>
              </a:spcAft>
              <a:buNone/>
            </a:pPr>
            <a:r>
              <a:rPr lang="en-US"/>
              <a:t>Start a timer and allow them 5 minutes to complete this question. </a:t>
            </a:r>
            <a:endParaRPr/>
          </a:p>
        </p:txBody>
      </p:sp>
    </p:spTree>
    <p:extLst>
      <p:ext uri="{BB962C8B-B14F-4D97-AF65-F5344CB8AC3E}">
        <p14:creationId xmlns:p14="http://schemas.microsoft.com/office/powerpoint/2010/main" val="35174805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Read the slide. Then, tell the students to flip to the example of 1b. toward the end of the handout (you should do this as well), and explain to them that they should present their data that they have been tracking for the past 4 weeks, just like the example. They will not need to handwrite their data onto the handout in class, but they will need to type it onto the handout for their typed submission. There is a blank page labeled 1b in the handout for them to know where to put the data. </a:t>
            </a:r>
          </a:p>
          <a:p>
            <a:pPr marL="0" lvl="0" indent="0" algn="l" rtl="0">
              <a:spcBef>
                <a:spcPts val="0"/>
              </a:spcBef>
              <a:spcAft>
                <a:spcPts val="0"/>
              </a:spcAft>
              <a:buNone/>
            </a:pPr>
            <a:endParaRPr lang="en-US"/>
          </a:p>
          <a:p>
            <a:pPr marL="0" lvl="0" indent="0" algn="l" rtl="0">
              <a:spcBef>
                <a:spcPts val="0"/>
              </a:spcBef>
              <a:spcAft>
                <a:spcPts val="0"/>
              </a:spcAft>
              <a:buNone/>
            </a:pPr>
            <a:r>
              <a:rPr lang="en-US"/>
              <a:t>Ask them if they have any questions or if they are confused. </a:t>
            </a:r>
            <a:endParaRPr/>
          </a:p>
        </p:txBody>
      </p:sp>
    </p:spTree>
    <p:extLst>
      <p:ext uri="{BB962C8B-B14F-4D97-AF65-F5344CB8AC3E}">
        <p14:creationId xmlns:p14="http://schemas.microsoft.com/office/powerpoint/2010/main" val="3905891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ANIMATE A AND B</a:t>
            </a:r>
          </a:p>
          <a:p>
            <a:pPr marL="0" indent="0">
              <a:buNone/>
            </a:pPr>
            <a:endParaRPr lang="en-US"/>
          </a:p>
          <a:p>
            <a:pPr marL="0" lvl="0" indent="0" algn="l">
              <a:spcBef>
                <a:spcPts val="0"/>
              </a:spcBef>
              <a:spcAft>
                <a:spcPts val="0"/>
              </a:spcAft>
              <a:buNone/>
            </a:pPr>
            <a:r>
              <a:rPr lang="en-US"/>
              <a:t>Read the slide. Then, tell the students to flip to the example of 1c toward the end of the handout (you should do this as well), and explain to them that they should present their data that they have been tracking the for past 4 weeks in a graph similar to the example one. They will not need to handwrite the graph onto the handout in class, but they will need to include it on the handout for their typed submission. There is a blank page labeled 1c. in the handout for them to know where to put the graph. Then, say, </a:t>
            </a:r>
          </a:p>
          <a:p>
            <a:pPr marL="0" lvl="0" indent="0" algn="l" rtl="0">
              <a:spcBef>
                <a:spcPts val="0"/>
              </a:spcBef>
              <a:spcAft>
                <a:spcPts val="0"/>
              </a:spcAft>
              <a:buNone/>
            </a:pPr>
            <a:endParaRPr lang="en-US"/>
          </a:p>
          <a:p>
            <a:pPr marL="0" lvl="0" indent="0" algn="l" rtl="0">
              <a:spcBef>
                <a:spcPts val="0"/>
              </a:spcBef>
              <a:spcAft>
                <a:spcPts val="0"/>
              </a:spcAft>
              <a:buNone/>
            </a:pPr>
            <a:r>
              <a:rPr lang="en-US"/>
              <a:t>“Once we have gone through the rest of the handout, we are going to show you how to create a graph using excel, and you will create your graph in class as we show you how.”</a:t>
            </a:r>
          </a:p>
          <a:p>
            <a:pPr marL="0" lvl="0" indent="0" algn="l" rtl="0">
              <a:spcBef>
                <a:spcPts val="0"/>
              </a:spcBef>
              <a:spcAft>
                <a:spcPts val="0"/>
              </a:spcAft>
              <a:buNone/>
            </a:pPr>
            <a:endParaRPr lang="en-US"/>
          </a:p>
          <a:p>
            <a:pPr marL="0" lvl="0" indent="0" algn="l" rtl="0">
              <a:spcBef>
                <a:spcPts val="0"/>
              </a:spcBef>
              <a:spcAft>
                <a:spcPts val="0"/>
              </a:spcAft>
              <a:buNone/>
            </a:pPr>
            <a:r>
              <a:rPr lang="en-US"/>
              <a:t>Then ask if anyone has any questions. </a:t>
            </a:r>
          </a:p>
        </p:txBody>
      </p:sp>
    </p:spTree>
    <p:extLst>
      <p:ext uri="{BB962C8B-B14F-4D97-AF65-F5344CB8AC3E}">
        <p14:creationId xmlns:p14="http://schemas.microsoft.com/office/powerpoint/2010/main" val="3885035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8283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Read slide. Ask if anyone has any questions. Tell them they have 5 minutes to write their answer to this question.</a:t>
            </a:r>
          </a:p>
          <a:p>
            <a:pPr marL="0" lvl="0" indent="0" algn="l" rtl="0">
              <a:spcBef>
                <a:spcPts val="0"/>
              </a:spcBef>
              <a:spcAft>
                <a:spcPts val="0"/>
              </a:spcAft>
              <a:buNone/>
            </a:pPr>
            <a:endParaRPr lang="en-US"/>
          </a:p>
          <a:p>
            <a:pPr marL="0" lvl="0" indent="0" algn="l" rtl="0">
              <a:spcBef>
                <a:spcPts val="0"/>
              </a:spcBef>
              <a:spcAft>
                <a:spcPts val="0"/>
              </a:spcAft>
              <a:buNone/>
            </a:pPr>
            <a:r>
              <a:rPr lang="en-US"/>
              <a:t>Start a timer and allow them 5 minutes to complete this question. </a:t>
            </a:r>
          </a:p>
          <a:p>
            <a:pPr marL="0" lvl="0" indent="0" algn="l" rtl="0">
              <a:spcBef>
                <a:spcPts val="0"/>
              </a:spcBef>
              <a:spcAft>
                <a:spcPts val="0"/>
              </a:spcAft>
              <a:buNone/>
            </a:pPr>
            <a:endParaRPr/>
          </a:p>
        </p:txBody>
      </p:sp>
    </p:spTree>
    <p:extLst>
      <p:ext uri="{BB962C8B-B14F-4D97-AF65-F5344CB8AC3E}">
        <p14:creationId xmlns:p14="http://schemas.microsoft.com/office/powerpoint/2010/main" val="1978276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Read slide. Ask if anyone has any questions. Tell them they have 5 minutes to write their answer to this question.</a:t>
            </a:r>
          </a:p>
          <a:p>
            <a:pPr marL="0" lvl="0" indent="0" algn="l" rtl="0">
              <a:spcBef>
                <a:spcPts val="0"/>
              </a:spcBef>
              <a:spcAft>
                <a:spcPts val="0"/>
              </a:spcAft>
              <a:buNone/>
            </a:pPr>
            <a:endParaRPr lang="en-US"/>
          </a:p>
          <a:p>
            <a:pPr marL="0" lvl="0" indent="0" algn="l" rtl="0">
              <a:spcBef>
                <a:spcPts val="0"/>
              </a:spcBef>
              <a:spcAft>
                <a:spcPts val="0"/>
              </a:spcAft>
              <a:buNone/>
            </a:pPr>
            <a:r>
              <a:rPr lang="en-US"/>
              <a:t>Start a timer and allow them 5 minutes to complete this question. </a:t>
            </a:r>
          </a:p>
          <a:p>
            <a:pPr marL="0" lvl="0" indent="0" algn="l" rtl="0">
              <a:spcBef>
                <a:spcPts val="0"/>
              </a:spcBef>
              <a:spcAft>
                <a:spcPts val="0"/>
              </a:spcAft>
              <a:buNone/>
            </a:pPr>
            <a:endParaRPr lang="en-US"/>
          </a:p>
          <a:p>
            <a:pPr marL="0" lvl="0" indent="0" algn="l" rtl="0">
              <a:spcBef>
                <a:spcPts val="0"/>
              </a:spcBef>
              <a:spcAft>
                <a:spcPts val="0"/>
              </a:spcAft>
              <a:buNone/>
            </a:pPr>
            <a:endParaRPr/>
          </a:p>
        </p:txBody>
      </p:sp>
    </p:spTree>
    <p:extLst>
      <p:ext uri="{BB962C8B-B14F-4D97-AF65-F5344CB8AC3E}">
        <p14:creationId xmlns:p14="http://schemas.microsoft.com/office/powerpoint/2010/main" val="797077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Read slide. </a:t>
            </a:r>
          </a:p>
          <a:p>
            <a:pPr marL="0" lvl="0" indent="0" algn="l" rtl="0">
              <a:spcBef>
                <a:spcPts val="0"/>
              </a:spcBef>
              <a:spcAft>
                <a:spcPts val="0"/>
              </a:spcAft>
              <a:buNone/>
            </a:pPr>
            <a:endParaRPr/>
          </a:p>
        </p:txBody>
      </p:sp>
    </p:spTree>
    <p:extLst>
      <p:ext uri="{BB962C8B-B14F-4D97-AF65-F5344CB8AC3E}">
        <p14:creationId xmlns:p14="http://schemas.microsoft.com/office/powerpoint/2010/main" val="2364319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Read slide. Ask if anyone has any questions. Tell them they have 5 minutes to write their answer to this question.</a:t>
            </a:r>
          </a:p>
          <a:p>
            <a:pPr marL="0" lvl="0" indent="0" algn="l" rtl="0">
              <a:spcBef>
                <a:spcPts val="0"/>
              </a:spcBef>
              <a:spcAft>
                <a:spcPts val="0"/>
              </a:spcAft>
              <a:buNone/>
            </a:pPr>
            <a:endParaRPr lang="en-US"/>
          </a:p>
          <a:p>
            <a:pPr marL="0" lvl="0" indent="0" algn="l" rtl="0">
              <a:spcBef>
                <a:spcPts val="0"/>
              </a:spcBef>
              <a:spcAft>
                <a:spcPts val="0"/>
              </a:spcAft>
              <a:buNone/>
            </a:pPr>
            <a:r>
              <a:rPr lang="en-US"/>
              <a:t>Start a timer and allow them 5 minutes to complete this question. </a:t>
            </a:r>
          </a:p>
          <a:p>
            <a:pPr marL="0" lvl="0" indent="0" algn="l" rtl="0">
              <a:spcBef>
                <a:spcPts val="0"/>
              </a:spcBef>
              <a:spcAft>
                <a:spcPts val="0"/>
              </a:spcAft>
              <a:buNone/>
            </a:pPr>
            <a:endParaRPr/>
          </a:p>
        </p:txBody>
      </p:sp>
    </p:spTree>
    <p:extLst>
      <p:ext uri="{BB962C8B-B14F-4D97-AF65-F5344CB8AC3E}">
        <p14:creationId xmlns:p14="http://schemas.microsoft.com/office/powerpoint/2010/main" val="972301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C6548372-CD53-5D44-43E5-4F94B8A30EE8}"/>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E45F7EF9-41EB-625B-52C4-2F251389E2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4E195D30-802B-BDDF-63C9-253C8AF083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Now you will walk through how to create a graph in Excel by actually creating a graph on Excel while the students watch. Tell them to pull out their laptops or tablets if they want to go ahead and create theirs with you. (Tell them they should do this unless they don’t have a laptop with them – I’m unsure how to do this on a tablet) </a:t>
            </a:r>
          </a:p>
          <a:p>
            <a:pPr marL="0" lvl="0" indent="0" algn="l" rtl="0">
              <a:spcBef>
                <a:spcPts val="0"/>
              </a:spcBef>
              <a:spcAft>
                <a:spcPts val="0"/>
              </a:spcAft>
              <a:buNone/>
            </a:pPr>
            <a:endParaRPr lang="en-US"/>
          </a:p>
          <a:p>
            <a:pPr marL="0" lvl="0" indent="0" algn="l" rtl="0">
              <a:spcBef>
                <a:spcPts val="0"/>
              </a:spcBef>
              <a:spcAft>
                <a:spcPts val="0"/>
              </a:spcAft>
              <a:buNone/>
            </a:pPr>
            <a:r>
              <a:rPr lang="en-US"/>
              <a:t>Tell them that the written instructions for both versions are here in the slides if they need to refer back to them. They can also watch the small group recording. Tell them the difference between desktop and browser version and remind them they have free access to Excel. </a:t>
            </a:r>
          </a:p>
          <a:p>
            <a:pPr marL="0" lvl="0" indent="0" algn="l" rtl="0">
              <a:spcBef>
                <a:spcPts val="0"/>
              </a:spcBef>
              <a:spcAft>
                <a:spcPts val="0"/>
              </a:spcAft>
              <a:buNone/>
            </a:pPr>
            <a:endParaRPr lang="en-US"/>
          </a:p>
          <a:p>
            <a:pPr marL="0" lvl="0" indent="0" algn="l" rtl="0">
              <a:spcBef>
                <a:spcPts val="0"/>
              </a:spcBef>
              <a:spcAft>
                <a:spcPts val="0"/>
              </a:spcAft>
              <a:buNone/>
            </a:pPr>
            <a:r>
              <a:rPr lang="en-US"/>
              <a:t>When you walk them through it, you will be using the Browser version since it is on the school computer. Make sure you are showing them every single step to get to Excel as well, so show them how you find Excel through your Memphis email. </a:t>
            </a:r>
            <a:endParaRPr/>
          </a:p>
        </p:txBody>
      </p:sp>
    </p:spTree>
    <p:extLst>
      <p:ext uri="{BB962C8B-B14F-4D97-AF65-F5344CB8AC3E}">
        <p14:creationId xmlns:p14="http://schemas.microsoft.com/office/powerpoint/2010/main" val="32938536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CF4A82FF-45AE-2001-69B8-A5AFD1DE17BB}"/>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993337BB-E7B7-6E4C-0BB3-F863F92B6E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a:extLst>
              <a:ext uri="{FF2B5EF4-FFF2-40B4-BE49-F238E27FC236}">
                <a16:creationId xmlns:a16="http://schemas.microsoft.com/office/drawing/2014/main" id="{8C25D589-928D-10AC-413D-2A5A518B90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178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4130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63" r:id="rId2"/>
    <p:sldLayoutId id="2147483696" r:id="rId3"/>
    <p:sldLayoutId id="2147483697" r:id="rId4"/>
    <p:sldLayoutId id="2147483698" r:id="rId5"/>
    <p:sldLayoutId id="214748369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9"/>
          <p:cNvSpPr txBox="1">
            <a:spLocks noGrp="1"/>
          </p:cNvSpPr>
          <p:nvPr>
            <p:ph type="ctrTitle"/>
          </p:nvPr>
        </p:nvSpPr>
        <p:spPr>
          <a:xfrm>
            <a:off x="722746" y="2696314"/>
            <a:ext cx="7698508" cy="2052600"/>
          </a:xfrm>
          <a:prstGeom prst="rect">
            <a:avLst/>
          </a:prstGeom>
        </p:spPr>
        <p:txBody>
          <a:bodyPr spcFirstLastPara="1" wrap="square" lIns="91425" tIns="91425" rIns="91425" bIns="91425" anchor="b" anchorCtr="0">
            <a:noAutofit/>
          </a:bodyPr>
          <a:lstStyle/>
          <a:p>
            <a:r>
              <a:rPr lang="en" sz="5400" u="sng">
                <a:latin typeface="Calisto MT"/>
                <a:cs typeface="Times New Roman"/>
              </a:rPr>
              <a:t>Behavior Modification Handout #3:</a:t>
            </a:r>
            <a:r>
              <a:rPr lang="en" sz="5400">
                <a:latin typeface="Calisto MT"/>
                <a:cs typeface="Times New Roman"/>
              </a:rPr>
              <a:t> </a:t>
            </a:r>
            <a:br>
              <a:rPr lang="en" sz="5400">
                <a:latin typeface="Calisto MT"/>
                <a:cs typeface="Times New Roman"/>
              </a:rPr>
            </a:br>
            <a:r>
              <a:rPr lang="en" sz="5400">
                <a:latin typeface="Calisto MT"/>
                <a:cs typeface="Times New Roman"/>
              </a:rPr>
              <a:t>Presenting Data, Graphing Data, &amp; Analyzing Intervention</a:t>
            </a:r>
            <a:endParaRPr lang="en-US" sz="5400">
              <a:latin typeface="Calisto MT"/>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46DAF-FA3B-8DB5-CFEF-43509A5F722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81AF58E-9976-69A7-5ABD-D441716475FF}"/>
              </a:ext>
            </a:extLst>
          </p:cNvPr>
          <p:cNvSpPr txBox="1"/>
          <p:nvPr/>
        </p:nvSpPr>
        <p:spPr>
          <a:xfrm>
            <a:off x="1129733" y="856874"/>
            <a:ext cx="8013376" cy="4190891"/>
          </a:xfrm>
          <a:prstGeom prst="rect">
            <a:avLst/>
          </a:prstGeom>
          <a:noFill/>
        </p:spPr>
        <p:txBody>
          <a:bodyPr wrap="square" lIns="91440" tIns="45720" rIns="91440" bIns="45720" rtlCol="0" anchor="t">
            <a:spAutoFit/>
          </a:bodyPr>
          <a:lstStyle/>
          <a:p>
            <a:r>
              <a:rPr lang="en-US" sz="2400" b="1" u="sng">
                <a:latin typeface="Calisto MT"/>
                <a:cs typeface="Times New Roman"/>
              </a:rPr>
              <a:t>Sunday, April 19 at 11:59pm:</a:t>
            </a:r>
          </a:p>
          <a:p>
            <a:pPr marL="457200" indent="-457200">
              <a:buFont typeface="Arial" panose="020B0604020202020204" pitchFamily="34" charset="0"/>
              <a:buChar char="•"/>
            </a:pPr>
            <a:r>
              <a:rPr lang="en-US" sz="2400">
                <a:latin typeface="Calisto MT"/>
                <a:cs typeface="Times New Roman"/>
              </a:rPr>
              <a:t>Behavior Modification Handout #3</a:t>
            </a:r>
          </a:p>
          <a:p>
            <a:pPr marL="914400" lvl="6" indent="-457200">
              <a:buFont typeface="Arial" panose="020B0604020202020204" pitchFamily="34" charset="0"/>
              <a:buChar char="•"/>
            </a:pPr>
            <a:r>
              <a:rPr lang="en-US" sz="2400">
                <a:latin typeface="Calisto MT"/>
                <a:cs typeface="Times New Roman"/>
              </a:rPr>
              <a:t>Upload a picture of your </a:t>
            </a:r>
            <a:r>
              <a:rPr lang="en-US" sz="2400" i="1">
                <a:latin typeface="Calisto MT"/>
                <a:cs typeface="Times New Roman"/>
              </a:rPr>
              <a:t>handwritten</a:t>
            </a:r>
            <a:r>
              <a:rPr lang="en-US" sz="2400">
                <a:latin typeface="Calisto MT"/>
                <a:cs typeface="Times New Roman"/>
              </a:rPr>
              <a:t> responses (without data &amp; graph) </a:t>
            </a:r>
            <a:r>
              <a:rPr lang="en-US" sz="2400" b="1" u="sng">
                <a:latin typeface="Calisto MT"/>
                <a:cs typeface="Times New Roman"/>
              </a:rPr>
              <a:t>AND</a:t>
            </a:r>
            <a:r>
              <a:rPr lang="en-US" sz="2400">
                <a:latin typeface="Calisto MT"/>
                <a:cs typeface="Times New Roman"/>
              </a:rPr>
              <a:t> upload your </a:t>
            </a:r>
            <a:r>
              <a:rPr lang="en-US" sz="2400" i="1">
                <a:latin typeface="Calisto MT"/>
                <a:cs typeface="Times New Roman"/>
              </a:rPr>
              <a:t>typed</a:t>
            </a:r>
            <a:r>
              <a:rPr lang="en-US" sz="2400">
                <a:latin typeface="Calisto MT"/>
                <a:cs typeface="Times New Roman"/>
              </a:rPr>
              <a:t> responses with your </a:t>
            </a:r>
            <a:r>
              <a:rPr lang="en-US" sz="2400" u="sng">
                <a:latin typeface="Calisto MT"/>
                <a:cs typeface="Times New Roman"/>
              </a:rPr>
              <a:t>data &amp; graph included</a:t>
            </a:r>
            <a:r>
              <a:rPr lang="en-US" sz="2400" i="1">
                <a:latin typeface="Calisto MT"/>
                <a:cs typeface="Times New Roman"/>
              </a:rPr>
              <a:t> </a:t>
            </a:r>
            <a:r>
              <a:rPr lang="en-US" sz="2400">
                <a:latin typeface="Calisto MT"/>
                <a:cs typeface="Times New Roman"/>
              </a:rPr>
              <a:t>on the handout for full credit</a:t>
            </a:r>
            <a:endParaRPr lang="en-US" sz="2400">
              <a:latin typeface="Calisto MT"/>
              <a:cs typeface="Times New Roman" panose="02020603050405020304" pitchFamily="18" charset="0"/>
            </a:endParaRPr>
          </a:p>
          <a:p>
            <a:pPr marL="1371600" lvl="7" indent="-457200">
              <a:buFont typeface="Courier New" panose="020B0604020202020204" pitchFamily="34" charset="0"/>
              <a:buChar char="o"/>
            </a:pPr>
            <a:r>
              <a:rPr lang="en-US" sz="2400">
                <a:latin typeface="Calisto MT"/>
                <a:cs typeface="Times New Roman"/>
              </a:rPr>
              <a:t>5 points for handwritten version</a:t>
            </a:r>
            <a:endParaRPr lang="en-US" sz="2400">
              <a:latin typeface="Calisto MT"/>
              <a:cs typeface="Times New Roman" panose="02020603050405020304" pitchFamily="18" charset="0"/>
            </a:endParaRPr>
          </a:p>
          <a:p>
            <a:pPr marL="1371600" lvl="7" indent="-457200">
              <a:buFont typeface="Courier New" panose="020B0604020202020204" pitchFamily="34" charset="0"/>
              <a:buChar char="o"/>
            </a:pPr>
            <a:r>
              <a:rPr lang="en-US" sz="2400">
                <a:latin typeface="Calisto MT"/>
                <a:cs typeface="Times New Roman"/>
              </a:rPr>
              <a:t>5 points for typed version</a:t>
            </a:r>
            <a:endParaRPr lang="en-US" sz="2400">
              <a:latin typeface="Calisto MT"/>
              <a:cs typeface="Times New Roman" panose="02020603050405020304" pitchFamily="18" charset="0"/>
            </a:endParaRPr>
          </a:p>
          <a:p>
            <a:pPr marL="457200" lvl="5" indent="-457200">
              <a:lnSpc>
                <a:spcPts val="2200"/>
              </a:lnSpc>
              <a:buFont typeface="Arial" panose="020B0604020202020204" pitchFamily="34" charset="0"/>
              <a:buChar char="•"/>
            </a:pPr>
            <a:endParaRPr lang="en-US" sz="2400">
              <a:latin typeface="Calisto MT"/>
              <a:cs typeface="Times New Roman" panose="02020603050405020304" pitchFamily="18" charset="0"/>
            </a:endParaRPr>
          </a:p>
          <a:p>
            <a:pPr lvl="5"/>
            <a:r>
              <a:rPr lang="en-US" sz="2400" b="1" u="sng">
                <a:latin typeface="Calisto MT"/>
                <a:cs typeface="Times New Roman"/>
              </a:rPr>
              <a:t>Wednesday, April 22 at 11:59pm:</a:t>
            </a:r>
          </a:p>
          <a:p>
            <a:pPr marL="342900" lvl="5" indent="-342900">
              <a:buFont typeface="Arial"/>
              <a:buChar char="•"/>
            </a:pPr>
            <a:r>
              <a:rPr lang="en-US" sz="2400">
                <a:latin typeface="Calisto MT"/>
                <a:cs typeface="Times New Roman"/>
              </a:rPr>
              <a:t> Achieve Chapter 12 Assignments	</a:t>
            </a:r>
            <a:endParaRPr lang="en-US" sz="2400" b="1">
              <a:latin typeface="Calisto MT"/>
              <a:cs typeface="Times New Roman"/>
            </a:endParaRPr>
          </a:p>
        </p:txBody>
      </p:sp>
      <p:sp>
        <p:nvSpPr>
          <p:cNvPr id="9" name="Google Shape;482;p59">
            <a:extLst>
              <a:ext uri="{FF2B5EF4-FFF2-40B4-BE49-F238E27FC236}">
                <a16:creationId xmlns:a16="http://schemas.microsoft.com/office/drawing/2014/main" id="{F7BBB0E2-02B4-43F9-0EDA-BD817BFF1C7F}"/>
              </a:ext>
            </a:extLst>
          </p:cNvPr>
          <p:cNvSpPr txBox="1">
            <a:spLocks noGrp="1"/>
          </p:cNvSpPr>
          <p:nvPr>
            <p:ph type="ctrTitle"/>
          </p:nvPr>
        </p:nvSpPr>
        <p:spPr>
          <a:xfrm>
            <a:off x="2822530" y="268577"/>
            <a:ext cx="3498940" cy="77956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a:latin typeface="Calisto MT"/>
              </a:rPr>
              <a:t>Reminders</a:t>
            </a:r>
            <a:endParaRPr lang="en-US" sz="4800">
              <a:latin typeface="Calisto MT"/>
            </a:endParaRPr>
          </a:p>
        </p:txBody>
      </p:sp>
    </p:spTree>
    <p:extLst>
      <p:ext uri="{BB962C8B-B14F-4D97-AF65-F5344CB8AC3E}">
        <p14:creationId xmlns:p14="http://schemas.microsoft.com/office/powerpoint/2010/main" val="3074624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19E30F0-2E53-29EB-230A-160D70E38E3B}"/>
              </a:ext>
            </a:extLst>
          </p:cNvPr>
          <p:cNvSpPr>
            <a:spLocks noGrp="1"/>
          </p:cNvSpPr>
          <p:nvPr>
            <p:ph type="subTitle" idx="1"/>
          </p:nvPr>
        </p:nvSpPr>
        <p:spPr>
          <a:xfrm>
            <a:off x="238935" y="1010160"/>
            <a:ext cx="8497622" cy="2379900"/>
          </a:xfrm>
        </p:spPr>
        <p:txBody>
          <a:bodyPr/>
          <a:lstStyle/>
          <a:p>
            <a:r>
              <a:rPr lang="en-US" sz="2000">
                <a:latin typeface="Calisto MT"/>
                <a:cs typeface="Times New Roman"/>
              </a:rPr>
              <a:t>Practically, Behavior Modification and Operant Conditioning is important for addressing problematic behaviors and rewarding desirable ones, both in our professional and personal lives. </a:t>
            </a:r>
          </a:p>
          <a:p>
            <a:pPr marL="114300" indent="0">
              <a:buNone/>
            </a:pPr>
            <a:endParaRPr lang="en-US" sz="2000">
              <a:latin typeface="Calisto MT"/>
              <a:cs typeface="Times New Roman"/>
            </a:endParaRPr>
          </a:p>
          <a:p>
            <a:r>
              <a:rPr lang="en-US" sz="2000">
                <a:latin typeface="Calisto MT"/>
                <a:cs typeface="Times New Roman"/>
              </a:rPr>
              <a:t>In professional contexts:</a:t>
            </a:r>
          </a:p>
          <a:p>
            <a:pPr lvl="1" algn="l">
              <a:lnSpc>
                <a:spcPct val="114999"/>
              </a:lnSpc>
            </a:pPr>
            <a:r>
              <a:rPr lang="en-US" sz="2000">
                <a:latin typeface="Calisto MT"/>
                <a:cs typeface="Times New Roman"/>
              </a:rPr>
              <a:t>Managerial work (e.g., earning bonuses, docking pay, etc.)</a:t>
            </a:r>
          </a:p>
          <a:p>
            <a:pPr marL="596900" lvl="1" indent="0">
              <a:lnSpc>
                <a:spcPct val="114999"/>
              </a:lnSpc>
              <a:buClr>
                <a:srgbClr val="000000"/>
              </a:buClr>
              <a:buNone/>
            </a:pPr>
            <a:endParaRPr lang="en-US" sz="2000">
              <a:latin typeface="Calisto MT"/>
              <a:cs typeface="Times New Roman"/>
            </a:endParaRPr>
          </a:p>
          <a:p>
            <a:pPr>
              <a:lnSpc>
                <a:spcPct val="114999"/>
              </a:lnSpc>
              <a:buClr>
                <a:srgbClr val="3F3533"/>
              </a:buClr>
            </a:pPr>
            <a:r>
              <a:rPr lang="en-US" sz="2000">
                <a:latin typeface="Calisto MT"/>
                <a:cs typeface="Times New Roman"/>
              </a:rPr>
              <a:t>In personal contexts:</a:t>
            </a:r>
          </a:p>
          <a:p>
            <a:pPr lvl="1" algn="l">
              <a:lnSpc>
                <a:spcPct val="114999"/>
              </a:lnSpc>
            </a:pPr>
            <a:r>
              <a:rPr lang="en-US" sz="2000">
                <a:latin typeface="Calisto MT"/>
                <a:cs typeface="Times New Roman"/>
              </a:rPr>
              <a:t>Parenting (e.g., sticker charts, grounding, etc.)</a:t>
            </a:r>
          </a:p>
          <a:p>
            <a:pPr lvl="1" algn="l">
              <a:lnSpc>
                <a:spcPct val="114999"/>
              </a:lnSpc>
            </a:pPr>
            <a:r>
              <a:rPr lang="en-US" sz="2000">
                <a:latin typeface="Calisto MT"/>
                <a:cs typeface="Times New Roman"/>
              </a:rPr>
              <a:t>Habit formation/modification (e.g., drinking more water – we will be returning to this today!)</a:t>
            </a:r>
          </a:p>
        </p:txBody>
      </p:sp>
      <p:sp>
        <p:nvSpPr>
          <p:cNvPr id="2" name="Title 1">
            <a:extLst>
              <a:ext uri="{FF2B5EF4-FFF2-40B4-BE49-F238E27FC236}">
                <a16:creationId xmlns:a16="http://schemas.microsoft.com/office/drawing/2014/main" id="{6CA52EAB-3641-B8AD-F0AE-24ECE747AF02}"/>
              </a:ext>
            </a:extLst>
          </p:cNvPr>
          <p:cNvSpPr>
            <a:spLocks noGrp="1"/>
          </p:cNvSpPr>
          <p:nvPr>
            <p:ph type="title"/>
          </p:nvPr>
        </p:nvSpPr>
        <p:spPr>
          <a:xfrm>
            <a:off x="982997" y="355401"/>
            <a:ext cx="7178006" cy="572700"/>
          </a:xfrm>
        </p:spPr>
        <p:txBody>
          <a:bodyPr/>
          <a:lstStyle/>
          <a:p>
            <a:r>
              <a:rPr lang="en-US" sz="3600" b="1">
                <a:latin typeface="Calisto MT"/>
              </a:rPr>
              <a:t>Why</a:t>
            </a:r>
            <a:r>
              <a:rPr lang="en-US" sz="3600" b="1">
                <a:latin typeface="Bell MT"/>
              </a:rPr>
              <a:t> Modify Our Behavior?</a:t>
            </a:r>
          </a:p>
        </p:txBody>
      </p:sp>
    </p:spTree>
    <p:extLst>
      <p:ext uri="{BB962C8B-B14F-4D97-AF65-F5344CB8AC3E}">
        <p14:creationId xmlns:p14="http://schemas.microsoft.com/office/powerpoint/2010/main" val="859922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9D1E65-CBF5-C668-3863-B533CCC93203}"/>
              </a:ext>
            </a:extLst>
          </p:cNvPr>
          <p:cNvSpPr>
            <a:spLocks noGrp="1"/>
          </p:cNvSpPr>
          <p:nvPr>
            <p:ph type="title"/>
          </p:nvPr>
        </p:nvSpPr>
        <p:spPr/>
        <p:txBody>
          <a:bodyPr/>
          <a:lstStyle/>
          <a:p>
            <a:r>
              <a:rPr lang="en-US" sz="3200" b="1">
                <a:latin typeface="Calisto MT"/>
              </a:rPr>
              <a:t>So Far, You Have...</a:t>
            </a:r>
          </a:p>
        </p:txBody>
      </p:sp>
      <p:sp>
        <p:nvSpPr>
          <p:cNvPr id="5" name="TextBox 4">
            <a:extLst>
              <a:ext uri="{FF2B5EF4-FFF2-40B4-BE49-F238E27FC236}">
                <a16:creationId xmlns:a16="http://schemas.microsoft.com/office/drawing/2014/main" id="{C523CBE9-EF19-E481-4591-4673116D7BFC}"/>
              </a:ext>
            </a:extLst>
          </p:cNvPr>
          <p:cNvSpPr txBox="1"/>
          <p:nvPr/>
        </p:nvSpPr>
        <p:spPr>
          <a:xfrm>
            <a:off x="301948" y="1100821"/>
            <a:ext cx="8506813" cy="5293757"/>
          </a:xfrm>
          <a:prstGeom prst="rect">
            <a:avLst/>
          </a:prstGeom>
          <a:noFill/>
        </p:spPr>
        <p:txBody>
          <a:bodyPr wrap="square" lIns="91440" tIns="45720" rIns="91440" bIns="45720" rtlCol="0" anchor="t">
            <a:spAutoFit/>
          </a:bodyPr>
          <a:lstStyle/>
          <a:p>
            <a:pPr marL="285750" indent="-285750">
              <a:lnSpc>
                <a:spcPct val="150000"/>
              </a:lnSpc>
              <a:buChar char="•"/>
            </a:pPr>
            <a:r>
              <a:rPr lang="en-US" sz="1800" u="sng">
                <a:latin typeface="Calisto MT"/>
                <a:ea typeface="Cambria"/>
                <a:cs typeface="Times New Roman"/>
              </a:rPr>
              <a:t>Handout #1:</a:t>
            </a:r>
          </a:p>
          <a:p>
            <a:pPr marL="742950" lvl="1" indent="-285750">
              <a:lnSpc>
                <a:spcPct val="150000"/>
              </a:lnSpc>
              <a:buFont typeface="Courier New"/>
              <a:buChar char="o"/>
            </a:pPr>
            <a:r>
              <a:rPr lang="en-US" sz="1800">
                <a:latin typeface="Calisto MT"/>
                <a:ea typeface="Cambria"/>
                <a:cs typeface="Times New Roman"/>
              </a:rPr>
              <a:t>Chosen an Unwanted Target Behavior and defined a Wanted Goal Behavior</a:t>
            </a:r>
            <a:endParaRPr lang="en-US">
              <a:latin typeface="Calisto MT"/>
              <a:ea typeface="Cambria" panose="02040503050406030204" pitchFamily="18" charset="0"/>
            </a:endParaRPr>
          </a:p>
          <a:p>
            <a:pPr marL="742950" lvl="1" indent="-285750">
              <a:lnSpc>
                <a:spcPct val="150000"/>
              </a:lnSpc>
              <a:buFont typeface="Courier New"/>
              <a:buChar char="o"/>
            </a:pPr>
            <a:r>
              <a:rPr lang="en-US" sz="1800">
                <a:latin typeface="Calisto MT"/>
                <a:ea typeface="Cambria"/>
                <a:cs typeface="Times New Roman"/>
              </a:rPr>
              <a:t>Performed a Functional Behavioral Analysis – Detailed the ABCs of the Unwanted Target Behavior</a:t>
            </a:r>
          </a:p>
          <a:p>
            <a:pPr marL="742950" lvl="1" indent="-285750">
              <a:lnSpc>
                <a:spcPct val="150000"/>
              </a:lnSpc>
              <a:buFont typeface="Courier New"/>
              <a:buChar char="o"/>
            </a:pPr>
            <a:r>
              <a:rPr lang="en-US" sz="1800">
                <a:latin typeface="Calisto MT"/>
                <a:ea typeface="Cambria"/>
                <a:cs typeface="Times New Roman"/>
              </a:rPr>
              <a:t>Created an Intervention Plan</a:t>
            </a:r>
          </a:p>
          <a:p>
            <a:pPr marL="1200150" lvl="2" indent="-285750">
              <a:lnSpc>
                <a:spcPct val="150000"/>
              </a:lnSpc>
              <a:buFont typeface="Wingdings"/>
              <a:buChar char="§"/>
            </a:pPr>
            <a:r>
              <a:rPr lang="en-US" sz="1800">
                <a:latin typeface="Calisto MT"/>
                <a:ea typeface="Cambria"/>
                <a:cs typeface="Times New Roman"/>
              </a:rPr>
              <a:t>Made Wanted Goal Behavior a SMART goal</a:t>
            </a:r>
          </a:p>
          <a:p>
            <a:pPr marL="1200150" lvl="2" indent="-285750">
              <a:lnSpc>
                <a:spcPct val="150000"/>
              </a:lnSpc>
              <a:buFont typeface="Wingdings"/>
              <a:buChar char="§"/>
            </a:pPr>
            <a:r>
              <a:rPr lang="en-US" sz="1800">
                <a:latin typeface="Calisto MT"/>
                <a:ea typeface="Cambria"/>
                <a:cs typeface="Times New Roman"/>
              </a:rPr>
              <a:t>Developed a plan to change antecedents and how this would impact consequences</a:t>
            </a:r>
          </a:p>
          <a:p>
            <a:pPr marL="1200150" lvl="2" indent="-285750">
              <a:lnSpc>
                <a:spcPct val="150000"/>
              </a:lnSpc>
              <a:buFont typeface="Wingdings"/>
              <a:buChar char="§"/>
            </a:pPr>
            <a:endParaRPr lang="en-US" sz="1800">
              <a:latin typeface="Calisto MT"/>
              <a:ea typeface="Cambria"/>
              <a:cs typeface="Times New Roman"/>
            </a:endParaRPr>
          </a:p>
          <a:p>
            <a:pPr marL="1200150" lvl="2" indent="-285750">
              <a:lnSpc>
                <a:spcPct val="150000"/>
              </a:lnSpc>
              <a:buFont typeface="Wingdings"/>
              <a:buChar char="§"/>
            </a:pPr>
            <a:endParaRPr lang="en-US" sz="1800">
              <a:latin typeface="Calisto MT"/>
              <a:ea typeface="Cambria"/>
              <a:cs typeface="Times New Roman"/>
            </a:endParaRPr>
          </a:p>
          <a:p>
            <a:pPr marL="1200150" lvl="2" indent="-285750">
              <a:lnSpc>
                <a:spcPct val="150000"/>
              </a:lnSpc>
              <a:buFont typeface="Wingdings"/>
              <a:buChar char="§"/>
            </a:pPr>
            <a:endParaRPr lang="en-US" sz="1800">
              <a:latin typeface="Calisto MT"/>
              <a:ea typeface="Cambria"/>
              <a:cs typeface="Times New Roman"/>
            </a:endParaRPr>
          </a:p>
          <a:p>
            <a:pPr marL="742950" lvl="1" indent="-285750">
              <a:lnSpc>
                <a:spcPct val="150000"/>
              </a:lnSpc>
              <a:buFont typeface="Courier New"/>
              <a:buChar char="o"/>
            </a:pPr>
            <a:endParaRPr lang="en-US" sz="1800">
              <a:latin typeface="Calisto MT"/>
              <a:ea typeface="Cambria"/>
              <a:cs typeface="Times New Roman"/>
            </a:endParaRPr>
          </a:p>
          <a:p>
            <a:endParaRPr lang="en-US">
              <a:latin typeface="Calisto MT"/>
              <a:ea typeface="Cambria"/>
            </a:endParaRPr>
          </a:p>
        </p:txBody>
      </p:sp>
    </p:spTree>
    <p:extLst>
      <p:ext uri="{BB962C8B-B14F-4D97-AF65-F5344CB8AC3E}">
        <p14:creationId xmlns:p14="http://schemas.microsoft.com/office/powerpoint/2010/main" val="524749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1832B373-9E27-99A9-30E3-790CD8B86693}"/>
              </a:ext>
            </a:extLst>
          </p:cNvPr>
          <p:cNvSpPr>
            <a:spLocks noGrp="1"/>
          </p:cNvSpPr>
          <p:nvPr>
            <p:ph type="title"/>
          </p:nvPr>
        </p:nvSpPr>
        <p:spPr>
          <a:xfrm>
            <a:off x="1732050" y="445025"/>
            <a:ext cx="5679900" cy="572700"/>
          </a:xfrm>
        </p:spPr>
        <p:txBody>
          <a:bodyPr/>
          <a:lstStyle/>
          <a:p>
            <a:r>
              <a:rPr lang="en-US" sz="3200" b="1">
                <a:latin typeface="Calisto MT"/>
              </a:rPr>
              <a:t>So Far, You Have...</a:t>
            </a:r>
          </a:p>
        </p:txBody>
      </p:sp>
      <p:sp>
        <p:nvSpPr>
          <p:cNvPr id="7" name="TextBox 6">
            <a:extLst>
              <a:ext uri="{FF2B5EF4-FFF2-40B4-BE49-F238E27FC236}">
                <a16:creationId xmlns:a16="http://schemas.microsoft.com/office/drawing/2014/main" id="{85E246BA-7625-B0B7-0660-710CD3ABEB4C}"/>
              </a:ext>
            </a:extLst>
          </p:cNvPr>
          <p:cNvSpPr txBox="1"/>
          <p:nvPr/>
        </p:nvSpPr>
        <p:spPr>
          <a:xfrm>
            <a:off x="301948" y="1100821"/>
            <a:ext cx="8506813" cy="4878259"/>
          </a:xfrm>
          <a:prstGeom prst="rect">
            <a:avLst/>
          </a:prstGeom>
          <a:noFill/>
        </p:spPr>
        <p:txBody>
          <a:bodyPr wrap="square" lIns="91440" tIns="45720" rIns="91440" bIns="45720" rtlCol="0" anchor="t">
            <a:spAutoFit/>
          </a:bodyPr>
          <a:lstStyle/>
          <a:p>
            <a:pPr marL="285750" indent="-285750">
              <a:lnSpc>
                <a:spcPct val="150000"/>
              </a:lnSpc>
              <a:buChar char="•"/>
            </a:pPr>
            <a:r>
              <a:rPr lang="en-US" sz="1800" b="1" u="sng">
                <a:latin typeface="Calisto MT"/>
                <a:ea typeface="Cambria"/>
                <a:cs typeface="Times New Roman"/>
              </a:rPr>
              <a:t>Handout #2:</a:t>
            </a:r>
          </a:p>
          <a:p>
            <a:pPr marL="742950" lvl="1" indent="-285750">
              <a:lnSpc>
                <a:spcPct val="150000"/>
              </a:lnSpc>
              <a:buFont typeface="Courier New"/>
              <a:buChar char="o"/>
            </a:pPr>
            <a:r>
              <a:rPr lang="en-US" sz="1800">
                <a:latin typeface="Calisto MT"/>
                <a:ea typeface="Cambria"/>
                <a:cs typeface="Times New Roman"/>
              </a:rPr>
              <a:t>Chosen and defined two Operant Conditioning techniques to modify your behavior</a:t>
            </a:r>
            <a:endParaRPr lang="en-US">
              <a:latin typeface="Calisto MT"/>
              <a:ea typeface="Cambria" panose="02040503050406030204" pitchFamily="18" charset="0"/>
            </a:endParaRPr>
          </a:p>
          <a:p>
            <a:pPr marL="742950" lvl="1" indent="-285750">
              <a:lnSpc>
                <a:spcPct val="150000"/>
              </a:lnSpc>
              <a:buFont typeface="Courier New"/>
              <a:buChar char="o"/>
            </a:pPr>
            <a:r>
              <a:rPr lang="en-US" sz="1800">
                <a:latin typeface="Calisto MT"/>
                <a:ea typeface="Cambria"/>
                <a:cs typeface="Times New Roman"/>
              </a:rPr>
              <a:t>Tracked your engagement in the Unwanted Target Behavior/Wanted Goal Behavior</a:t>
            </a:r>
          </a:p>
          <a:p>
            <a:pPr marL="742950" lvl="1" indent="-285750">
              <a:lnSpc>
                <a:spcPct val="150000"/>
              </a:lnSpc>
              <a:buFont typeface="Courier New"/>
              <a:buChar char="o"/>
            </a:pPr>
            <a:r>
              <a:rPr lang="en-US" sz="1800">
                <a:latin typeface="Calisto MT"/>
                <a:ea typeface="Cambria"/>
                <a:cs typeface="Times New Roman"/>
              </a:rPr>
              <a:t>Used Intervention Plan and Operant Conditioning to weaken your Unwanted Target Behavior and to strengthen your Wanted Goal Behavior</a:t>
            </a:r>
          </a:p>
          <a:p>
            <a:pPr marL="1200150" lvl="2" indent="-285750">
              <a:lnSpc>
                <a:spcPct val="150000"/>
              </a:lnSpc>
              <a:buFont typeface="Wingdings"/>
              <a:buChar char="§"/>
            </a:pPr>
            <a:endParaRPr lang="en-US" sz="1800">
              <a:latin typeface="Calisto MT"/>
              <a:ea typeface="Cambria"/>
              <a:cs typeface="Times New Roman"/>
            </a:endParaRPr>
          </a:p>
          <a:p>
            <a:pPr marL="1200150" lvl="2" indent="-285750">
              <a:lnSpc>
                <a:spcPct val="150000"/>
              </a:lnSpc>
              <a:buFont typeface="Wingdings"/>
              <a:buChar char="§"/>
            </a:pPr>
            <a:endParaRPr lang="en-US" sz="1800">
              <a:latin typeface="Calisto MT"/>
              <a:ea typeface="Cambria"/>
              <a:cs typeface="Times New Roman"/>
            </a:endParaRPr>
          </a:p>
          <a:p>
            <a:pPr marL="1200150" lvl="2" indent="-285750">
              <a:lnSpc>
                <a:spcPct val="150000"/>
              </a:lnSpc>
              <a:buFont typeface="Wingdings"/>
              <a:buChar char="§"/>
            </a:pPr>
            <a:endParaRPr lang="en-US" sz="1800">
              <a:latin typeface="Calisto MT"/>
              <a:ea typeface="Cambria"/>
              <a:cs typeface="Times New Roman"/>
            </a:endParaRPr>
          </a:p>
          <a:p>
            <a:pPr marL="742950" lvl="1" indent="-285750">
              <a:lnSpc>
                <a:spcPct val="150000"/>
              </a:lnSpc>
              <a:buFont typeface="Courier New"/>
              <a:buChar char="o"/>
            </a:pPr>
            <a:endParaRPr lang="en-US" sz="1800">
              <a:latin typeface="Calisto MT"/>
              <a:ea typeface="Cambria"/>
              <a:cs typeface="Times New Roman"/>
            </a:endParaRPr>
          </a:p>
          <a:p>
            <a:endParaRPr lang="en-US">
              <a:latin typeface="Calisto MT"/>
              <a:ea typeface="Cambria"/>
            </a:endParaRPr>
          </a:p>
        </p:txBody>
      </p:sp>
    </p:spTree>
    <p:extLst>
      <p:ext uri="{BB962C8B-B14F-4D97-AF65-F5344CB8AC3E}">
        <p14:creationId xmlns:p14="http://schemas.microsoft.com/office/powerpoint/2010/main" val="3326291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866692" y="381017"/>
            <a:ext cx="7410616"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a:latin typeface="Calisto MT"/>
              </a:rPr>
              <a:t>Today, You Will...</a:t>
            </a:r>
          </a:p>
        </p:txBody>
      </p:sp>
      <p:sp>
        <p:nvSpPr>
          <p:cNvPr id="2" name="TextBox 1">
            <a:extLst>
              <a:ext uri="{FF2B5EF4-FFF2-40B4-BE49-F238E27FC236}">
                <a16:creationId xmlns:a16="http://schemas.microsoft.com/office/drawing/2014/main" id="{90E585E7-803B-7E90-7B61-4861F57279B0}"/>
              </a:ext>
            </a:extLst>
          </p:cNvPr>
          <p:cNvSpPr txBox="1"/>
          <p:nvPr/>
        </p:nvSpPr>
        <p:spPr>
          <a:xfrm>
            <a:off x="237877" y="1198107"/>
            <a:ext cx="8670837" cy="3434786"/>
          </a:xfrm>
          <a:prstGeom prst="rect">
            <a:avLst/>
          </a:prstGeom>
          <a:noFill/>
        </p:spPr>
        <p:txBody>
          <a:bodyPr wrap="square" lIns="91440" tIns="45720" rIns="91440" bIns="45720" rtlCol="0" anchor="t">
            <a:spAutoFit/>
          </a:bodyPr>
          <a:lstStyle/>
          <a:p>
            <a:pPr marL="264160" lvl="0" algn="l" rtl="0">
              <a:lnSpc>
                <a:spcPct val="115000"/>
              </a:lnSpc>
              <a:spcBef>
                <a:spcPts val="0"/>
              </a:spcBef>
              <a:spcAft>
                <a:spcPts val="0"/>
              </a:spcAft>
              <a:buClr>
                <a:schemeClr val="dk2"/>
              </a:buClr>
              <a:buSzPts val="2000"/>
            </a:pPr>
            <a:r>
              <a:rPr lang="en-US" sz="2400" b="1" dirty="0">
                <a:solidFill>
                  <a:schemeClr val="dk2"/>
                </a:solidFill>
                <a:latin typeface="Calisto MT"/>
                <a:ea typeface="Coming Soon"/>
                <a:cs typeface="Times New Roman" panose="02020603050405020304" pitchFamily="18" charset="0"/>
                <a:sym typeface="Coming Soon"/>
              </a:rPr>
              <a:t>1. </a:t>
            </a:r>
            <a:r>
              <a:rPr lang="en-US" sz="2400" dirty="0">
                <a:solidFill>
                  <a:schemeClr val="dk2"/>
                </a:solidFill>
                <a:latin typeface="Calisto MT"/>
                <a:ea typeface="Coming Soon"/>
                <a:cs typeface="Times New Roman" panose="02020603050405020304" pitchFamily="18" charset="0"/>
                <a:sym typeface="Coming Soon"/>
              </a:rPr>
              <a:t>Present data from the Baseline Phase and the 3-week Intervention Phase.</a:t>
            </a:r>
            <a:endParaRPr lang="en-US" sz="2400" dirty="0">
              <a:solidFill>
                <a:schemeClr val="dk2"/>
              </a:solidFill>
              <a:latin typeface="Calisto MT"/>
              <a:ea typeface="Coming Soon"/>
              <a:cs typeface="Times New Roman" panose="02020603050405020304" pitchFamily="18" charset="0"/>
            </a:endParaRPr>
          </a:p>
          <a:p>
            <a:pPr marL="264160" lvl="0" algn="l" rtl="0">
              <a:lnSpc>
                <a:spcPct val="115000"/>
              </a:lnSpc>
              <a:spcBef>
                <a:spcPts val="0"/>
              </a:spcBef>
              <a:spcAft>
                <a:spcPts val="0"/>
              </a:spcAft>
              <a:buClr>
                <a:schemeClr val="dk2"/>
              </a:buClr>
              <a:buSzPts val="2000"/>
            </a:pPr>
            <a:endParaRPr lang="en-US" sz="2400" dirty="0">
              <a:solidFill>
                <a:schemeClr val="dk2"/>
              </a:solidFill>
              <a:latin typeface="Calisto MT"/>
              <a:ea typeface="Coming Soon"/>
              <a:cs typeface="Times New Roman" panose="02020603050405020304" pitchFamily="18" charset="0"/>
            </a:endParaRPr>
          </a:p>
          <a:p>
            <a:pPr marL="264160" lvl="0" algn="l" rtl="0">
              <a:lnSpc>
                <a:spcPct val="115000"/>
              </a:lnSpc>
              <a:spcBef>
                <a:spcPts val="0"/>
              </a:spcBef>
              <a:spcAft>
                <a:spcPts val="0"/>
              </a:spcAft>
              <a:buClr>
                <a:schemeClr val="dk2"/>
              </a:buClr>
              <a:buSzPts val="2000"/>
            </a:pPr>
            <a:r>
              <a:rPr lang="en-US" sz="2400" b="1" dirty="0">
                <a:solidFill>
                  <a:schemeClr val="dk2"/>
                </a:solidFill>
                <a:latin typeface="Calisto MT"/>
                <a:ea typeface="Coming Soon"/>
                <a:cs typeface="Times New Roman"/>
                <a:sym typeface="Coming Soon"/>
              </a:rPr>
              <a:t>2. </a:t>
            </a:r>
            <a:r>
              <a:rPr lang="en-US" sz="2400" dirty="0">
                <a:solidFill>
                  <a:schemeClr val="dk2"/>
                </a:solidFill>
                <a:latin typeface="Calisto MT"/>
                <a:ea typeface="Coming Soon"/>
                <a:cs typeface="Times New Roman"/>
                <a:sym typeface="Coming Soon"/>
              </a:rPr>
              <a:t>Answer if your behavior was successfully modified.</a:t>
            </a:r>
            <a:endParaRPr lang="en-US" sz="2400" dirty="0">
              <a:solidFill>
                <a:schemeClr val="dk2"/>
              </a:solidFill>
              <a:latin typeface="Calisto MT"/>
              <a:ea typeface="Coming Soon"/>
              <a:cs typeface="Times New Roman"/>
            </a:endParaRPr>
          </a:p>
          <a:p>
            <a:pPr marL="264160" lvl="0" algn="l" rtl="0">
              <a:lnSpc>
                <a:spcPct val="115000"/>
              </a:lnSpc>
              <a:spcBef>
                <a:spcPts val="0"/>
              </a:spcBef>
              <a:spcAft>
                <a:spcPts val="0"/>
              </a:spcAft>
              <a:buClr>
                <a:schemeClr val="dk2"/>
              </a:buClr>
              <a:buSzPts val="2000"/>
            </a:pPr>
            <a:endParaRPr lang="en-US" sz="2400" dirty="0">
              <a:solidFill>
                <a:schemeClr val="dk2"/>
              </a:solidFill>
              <a:latin typeface="Calisto MT"/>
              <a:ea typeface="Coming Soon"/>
              <a:cs typeface="Times New Roman" panose="02020603050405020304" pitchFamily="18" charset="0"/>
            </a:endParaRPr>
          </a:p>
          <a:p>
            <a:pPr marL="264160" lvl="0" algn="l" rtl="0">
              <a:lnSpc>
                <a:spcPct val="115000"/>
              </a:lnSpc>
              <a:spcBef>
                <a:spcPts val="0"/>
              </a:spcBef>
              <a:spcAft>
                <a:spcPts val="0"/>
              </a:spcAft>
              <a:buClr>
                <a:schemeClr val="dk2"/>
              </a:buClr>
              <a:buSzPts val="2000"/>
            </a:pPr>
            <a:r>
              <a:rPr lang="en-US" sz="2400" b="1" dirty="0">
                <a:solidFill>
                  <a:schemeClr val="dk2"/>
                </a:solidFill>
                <a:latin typeface="Calisto MT"/>
                <a:ea typeface="Coming Soon"/>
                <a:cs typeface="Times New Roman" panose="02020603050405020304" pitchFamily="18" charset="0"/>
                <a:sym typeface="Coming Soon"/>
              </a:rPr>
              <a:t>3. </a:t>
            </a:r>
            <a:r>
              <a:rPr lang="en-US" sz="2400" dirty="0">
                <a:solidFill>
                  <a:schemeClr val="dk2"/>
                </a:solidFill>
                <a:latin typeface="Calisto MT"/>
                <a:ea typeface="Coming Soon"/>
                <a:cs typeface="Times New Roman" panose="02020603050405020304" pitchFamily="18" charset="0"/>
                <a:sym typeface="Coming Soon"/>
              </a:rPr>
              <a:t>Discuss what changes you would make to improve your intervention plan.</a:t>
            </a:r>
            <a:endParaRPr lang="en-US" sz="2400" dirty="0">
              <a:solidFill>
                <a:schemeClr val="dk2"/>
              </a:solidFill>
              <a:latin typeface="Calisto MT"/>
              <a:ea typeface="Coming Soon"/>
              <a:cs typeface="Times New Roman" panose="02020603050405020304" pitchFamily="18" charset="0"/>
            </a:endParaRPr>
          </a:p>
          <a:p>
            <a:pPr marL="0" lvl="0" indent="0" algn="l" rtl="0">
              <a:spcBef>
                <a:spcPts val="0"/>
              </a:spcBef>
              <a:spcAft>
                <a:spcPts val="0"/>
              </a:spcAft>
              <a:buNone/>
            </a:pPr>
            <a:endParaRPr lang="en-US" sz="2400" dirty="0">
              <a:latin typeface="Calisto MT"/>
              <a:cs typeface="Times New Roman" panose="02020603050405020304" pitchFamily="18" charset="0"/>
            </a:endParaRPr>
          </a:p>
        </p:txBody>
      </p:sp>
    </p:spTree>
    <p:extLst>
      <p:ext uri="{BB962C8B-B14F-4D97-AF65-F5344CB8AC3E}">
        <p14:creationId xmlns:p14="http://schemas.microsoft.com/office/powerpoint/2010/main" val="318463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938254" y="445025"/>
            <a:ext cx="7410616"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a:latin typeface="Calisto MT"/>
              </a:rPr>
              <a:t>Question 1 </a:t>
            </a:r>
            <a:br>
              <a:rPr lang="en-US">
                <a:latin typeface="Calisto MT"/>
              </a:rPr>
            </a:br>
            <a:endParaRPr lang="en-US">
              <a:latin typeface="Calisto MT"/>
            </a:endParaRPr>
          </a:p>
        </p:txBody>
      </p:sp>
      <p:sp>
        <p:nvSpPr>
          <p:cNvPr id="2" name="TextBox 1">
            <a:extLst>
              <a:ext uri="{FF2B5EF4-FFF2-40B4-BE49-F238E27FC236}">
                <a16:creationId xmlns:a16="http://schemas.microsoft.com/office/drawing/2014/main" id="{90E585E7-803B-7E90-7B61-4861F57279B0}"/>
              </a:ext>
            </a:extLst>
          </p:cNvPr>
          <p:cNvSpPr txBox="1"/>
          <p:nvPr/>
        </p:nvSpPr>
        <p:spPr>
          <a:xfrm>
            <a:off x="301948" y="1100821"/>
            <a:ext cx="8540104" cy="3077766"/>
          </a:xfrm>
          <a:prstGeom prst="rect">
            <a:avLst/>
          </a:prstGeom>
          <a:noFill/>
        </p:spPr>
        <p:txBody>
          <a:bodyPr wrap="square" lIns="91440" tIns="45720" rIns="91440" bIns="45720" rtlCol="0" anchor="t">
            <a:spAutoFit/>
          </a:bodyPr>
          <a:lstStyle/>
          <a:p>
            <a:pPr>
              <a:lnSpc>
                <a:spcPct val="150000"/>
              </a:lnSpc>
            </a:pPr>
            <a:r>
              <a:rPr lang="en-US" sz="2400">
                <a:latin typeface="Calisto MT"/>
                <a:ea typeface="Times New Roman" panose="02020603050405020304" pitchFamily="18" charset="0"/>
                <a:cs typeface="Times New Roman"/>
              </a:rPr>
              <a:t>Present data from the baseline phase and from the three-week behavior modification intervention phase. (You can also include post intervention data, if desired). </a:t>
            </a:r>
          </a:p>
          <a:p>
            <a:pPr>
              <a:lnSpc>
                <a:spcPct val="150000"/>
              </a:lnSpc>
            </a:pPr>
            <a:endParaRPr lang="en-US" sz="2400">
              <a:latin typeface="Calisto MT"/>
              <a:ea typeface="Cambria" panose="02040503050406030204" pitchFamily="18" charset="0"/>
              <a:cs typeface="Times New Roman" panose="02020603050405020304" pitchFamily="18" charset="0"/>
            </a:endParaRPr>
          </a:p>
          <a:p>
            <a:pPr>
              <a:lnSpc>
                <a:spcPct val="150000"/>
              </a:lnSpc>
            </a:pPr>
            <a:r>
              <a:rPr lang="en-US" sz="2400">
                <a:latin typeface="Calisto MT"/>
                <a:ea typeface="Cambria"/>
                <a:cs typeface="Times New Roman"/>
              </a:rPr>
              <a:t>There are 3 sections within Question 1.</a:t>
            </a:r>
          </a:p>
          <a:p>
            <a:endParaRPr lang="en-US">
              <a:latin typeface="Calisto MT"/>
            </a:endParaRPr>
          </a:p>
        </p:txBody>
      </p:sp>
    </p:spTree>
    <p:extLst>
      <p:ext uri="{BB962C8B-B14F-4D97-AF65-F5344CB8AC3E}">
        <p14:creationId xmlns:p14="http://schemas.microsoft.com/office/powerpoint/2010/main" val="1552613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938254" y="445025"/>
            <a:ext cx="7410616"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a:latin typeface="Calisto MT"/>
              </a:rPr>
              <a:t>Question 1a</a:t>
            </a:r>
            <a:br>
              <a:rPr lang="en-US">
                <a:latin typeface="Calisto MT"/>
              </a:rPr>
            </a:br>
            <a:endParaRPr lang="en-US">
              <a:latin typeface="Calisto MT"/>
            </a:endParaRPr>
          </a:p>
        </p:txBody>
      </p:sp>
      <p:sp>
        <p:nvSpPr>
          <p:cNvPr id="2" name="TextBox 1">
            <a:extLst>
              <a:ext uri="{FF2B5EF4-FFF2-40B4-BE49-F238E27FC236}">
                <a16:creationId xmlns:a16="http://schemas.microsoft.com/office/drawing/2014/main" id="{90E585E7-803B-7E90-7B61-4861F57279B0}"/>
              </a:ext>
            </a:extLst>
          </p:cNvPr>
          <p:cNvSpPr txBox="1"/>
          <p:nvPr/>
        </p:nvSpPr>
        <p:spPr>
          <a:xfrm>
            <a:off x="-169921" y="1093326"/>
            <a:ext cx="8971020" cy="2431435"/>
          </a:xfrm>
          <a:prstGeom prst="rect">
            <a:avLst/>
          </a:prstGeom>
          <a:noFill/>
        </p:spPr>
        <p:txBody>
          <a:bodyPr wrap="square" lIns="91440" tIns="45720" rIns="91440" bIns="45720" rtlCol="0" anchor="t">
            <a:spAutoFit/>
          </a:bodyPr>
          <a:lstStyle/>
          <a:p>
            <a:pPr marL="457200" lvl="1">
              <a:lnSpc>
                <a:spcPct val="150000"/>
              </a:lnSpc>
              <a:buSzPts val="1200"/>
            </a:pPr>
            <a:r>
              <a:rPr lang="en-US" sz="2000">
                <a:latin typeface="Calisto MT"/>
                <a:ea typeface="Times New Roman" panose="02020603050405020304" pitchFamily="18" charset="0"/>
                <a:cs typeface="Times New Roman"/>
              </a:rPr>
              <a:t>Give a brief overview of the data you collected in </a:t>
            </a:r>
            <a:r>
              <a:rPr lang="en-US" sz="2000" i="1">
                <a:latin typeface="Calisto MT"/>
                <a:ea typeface="Times New Roman" panose="02020603050405020304" pitchFamily="18" charset="0"/>
                <a:cs typeface="Times New Roman"/>
              </a:rPr>
              <a:t>at least </a:t>
            </a:r>
            <a:r>
              <a:rPr lang="en-US" sz="2000" b="1">
                <a:latin typeface="Calisto MT"/>
                <a:ea typeface="Times New Roman" panose="02020603050405020304" pitchFamily="18" charset="0"/>
                <a:cs typeface="Times New Roman"/>
              </a:rPr>
              <a:t>four</a:t>
            </a:r>
            <a:r>
              <a:rPr lang="en-US" sz="2000">
                <a:latin typeface="Calisto MT"/>
                <a:ea typeface="Times New Roman" panose="02020603050405020304" pitchFamily="18" charset="0"/>
                <a:cs typeface="Times New Roman"/>
              </a:rPr>
              <a:t> sentences. How did your behavior change over time? (You do not need to discuss data for every day, just an overall discussion of the trends over each week shown in your chart - i.e., one sentence per week!). </a:t>
            </a:r>
            <a:endParaRPr lang="en-US" sz="2000">
              <a:latin typeface="Calisto MT"/>
              <a:ea typeface="Cambria" panose="02040503050406030204" pitchFamily="18" charset="0"/>
              <a:cs typeface="Times New Roman"/>
            </a:endParaRPr>
          </a:p>
          <a:p>
            <a:pPr lvl="1"/>
            <a:endParaRPr lang="en-US" sz="1800"/>
          </a:p>
          <a:p>
            <a:endParaRPr lang="en-US"/>
          </a:p>
        </p:txBody>
      </p:sp>
      <p:sp>
        <p:nvSpPr>
          <p:cNvPr id="4" name="TextBox 3">
            <a:extLst>
              <a:ext uri="{FF2B5EF4-FFF2-40B4-BE49-F238E27FC236}">
                <a16:creationId xmlns:a16="http://schemas.microsoft.com/office/drawing/2014/main" id="{582B05FB-31FE-DA00-E7E4-77F8636A6302}"/>
              </a:ext>
            </a:extLst>
          </p:cNvPr>
          <p:cNvSpPr txBox="1"/>
          <p:nvPr/>
        </p:nvSpPr>
        <p:spPr>
          <a:xfrm>
            <a:off x="1065978" y="3013182"/>
            <a:ext cx="7286333" cy="1754326"/>
          </a:xfrm>
          <a:prstGeom prst="rect">
            <a:avLst/>
          </a:prstGeom>
          <a:noFill/>
        </p:spPr>
        <p:txBody>
          <a:bodyPr wrap="square" lIns="91440" tIns="45720" rIns="91440" bIns="45720" rtlCol="0" anchor="t">
            <a:spAutoFit/>
          </a:bodyPr>
          <a:lstStyle/>
          <a:p>
            <a:r>
              <a:rPr lang="en-US" sz="1800">
                <a:solidFill>
                  <a:srgbClr val="0070C0"/>
                </a:solidFill>
                <a:latin typeface="Calisto MT"/>
                <a:cs typeface="Times New Roman" panose="02020603050405020304" pitchFamily="18" charset="0"/>
              </a:rPr>
              <a:t>The data I collected over the four-week period shows an overall increase. Before I began to implement the intervention, I noticed that my average weekly water consumption was about 8 ounces per day. After I began my intervention, my water consumption increased. For the first and second week, my water consumption was 32 ounces only twice. During week three, it was 32 ounces three times. </a:t>
            </a:r>
          </a:p>
        </p:txBody>
      </p:sp>
    </p:spTree>
    <p:extLst>
      <p:ext uri="{BB962C8B-B14F-4D97-AF65-F5344CB8AC3E}">
        <p14:creationId xmlns:p14="http://schemas.microsoft.com/office/powerpoint/2010/main" val="143329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938254" y="445025"/>
            <a:ext cx="7410616"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a:latin typeface="Calisto MT"/>
              </a:rPr>
              <a:t>Question 1b</a:t>
            </a:r>
            <a:br>
              <a:rPr lang="en-US">
                <a:latin typeface="Calisto MT"/>
              </a:rPr>
            </a:br>
            <a:endParaRPr lang="en-US">
              <a:latin typeface="Calisto MT"/>
            </a:endParaRPr>
          </a:p>
        </p:txBody>
      </p:sp>
      <p:sp>
        <p:nvSpPr>
          <p:cNvPr id="2" name="TextBox 1">
            <a:extLst>
              <a:ext uri="{FF2B5EF4-FFF2-40B4-BE49-F238E27FC236}">
                <a16:creationId xmlns:a16="http://schemas.microsoft.com/office/drawing/2014/main" id="{90E585E7-803B-7E90-7B61-4861F57279B0}"/>
              </a:ext>
            </a:extLst>
          </p:cNvPr>
          <p:cNvSpPr txBox="1"/>
          <p:nvPr/>
        </p:nvSpPr>
        <p:spPr>
          <a:xfrm>
            <a:off x="-82446" y="1124004"/>
            <a:ext cx="8964118" cy="1754326"/>
          </a:xfrm>
          <a:prstGeom prst="rect">
            <a:avLst/>
          </a:prstGeom>
          <a:noFill/>
        </p:spPr>
        <p:txBody>
          <a:bodyPr wrap="square" lIns="91440" tIns="45720" rIns="91440" bIns="45720" rtlCol="0" anchor="t">
            <a:spAutoFit/>
          </a:bodyPr>
          <a:lstStyle/>
          <a:p>
            <a:pPr marL="457200" lvl="1">
              <a:lnSpc>
                <a:spcPct val="150000"/>
              </a:lnSpc>
              <a:buSzPts val="1200"/>
            </a:pPr>
            <a:r>
              <a:rPr lang="en-US" sz="2000">
                <a:latin typeface="Calisto MT"/>
                <a:cs typeface="Times New Roman"/>
              </a:rPr>
              <a:t>Include the data you collected during the baseline and intervention period on its own page at the end of this handout. Refer to the example at the end of this handout. </a:t>
            </a:r>
          </a:p>
          <a:p>
            <a:endParaRPr lang="en-US" sz="1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3075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938254" y="445025"/>
            <a:ext cx="7410616"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a:latin typeface="Calisto MT"/>
              </a:rPr>
              <a:t>Question 1c</a:t>
            </a:r>
            <a:br>
              <a:rPr lang="en-US">
                <a:latin typeface="Calisto MT"/>
              </a:rPr>
            </a:br>
            <a:endParaRPr lang="en-US">
              <a:latin typeface="Calisto MT"/>
            </a:endParaRPr>
          </a:p>
        </p:txBody>
      </p:sp>
      <p:sp>
        <p:nvSpPr>
          <p:cNvPr id="2" name="TextBox 1">
            <a:extLst>
              <a:ext uri="{FF2B5EF4-FFF2-40B4-BE49-F238E27FC236}">
                <a16:creationId xmlns:a16="http://schemas.microsoft.com/office/drawing/2014/main" id="{90E585E7-803B-7E90-7B61-4861F57279B0}"/>
              </a:ext>
            </a:extLst>
          </p:cNvPr>
          <p:cNvSpPr txBox="1"/>
          <p:nvPr/>
        </p:nvSpPr>
        <p:spPr>
          <a:xfrm>
            <a:off x="220787" y="1120782"/>
            <a:ext cx="8571263" cy="4521687"/>
          </a:xfrm>
          <a:prstGeom prst="rect">
            <a:avLst/>
          </a:prstGeom>
          <a:noFill/>
        </p:spPr>
        <p:txBody>
          <a:bodyPr wrap="square" lIns="91440" tIns="45720" rIns="91440" bIns="45720" rtlCol="0" anchor="t">
            <a:spAutoFit/>
          </a:bodyPr>
          <a:lstStyle/>
          <a:p>
            <a:pPr>
              <a:lnSpc>
                <a:spcPct val="150000"/>
              </a:lnSpc>
            </a:pPr>
            <a:r>
              <a:rPr lang="en-US" sz="2000">
                <a:latin typeface="Calisto MT"/>
                <a:cs typeface="Times New Roman"/>
              </a:rPr>
              <a:t>Present data in a figure/graph. Place your graph at the end of this handout on a separate page after the data from 1b. This should be the final page of this handout. Refer to the example at the end of this handout.</a:t>
            </a:r>
            <a:endParaRPr lang="en-US" sz="2000"/>
          </a:p>
          <a:p>
            <a:pPr marL="800100" lvl="1" indent="-342900">
              <a:lnSpc>
                <a:spcPct val="150000"/>
              </a:lnSpc>
              <a:buAutoNum type="alphaLcParenR"/>
            </a:pPr>
            <a:r>
              <a:rPr lang="en-US" sz="2000">
                <a:latin typeface="Calisto MT"/>
                <a:cs typeface="Times New Roman"/>
              </a:rPr>
              <a:t>Determine the best way to depict your gathered data (e.g., bar graph, x-y scatterplot with trend lines, pie chart, etc.).</a:t>
            </a:r>
            <a:endParaRPr lang="en-US" sz="2000"/>
          </a:p>
          <a:p>
            <a:pPr marL="800100" lvl="1" indent="-342900">
              <a:lnSpc>
                <a:spcPct val="150000"/>
              </a:lnSpc>
              <a:buAutoNum type="alphaLcParenR"/>
            </a:pPr>
            <a:r>
              <a:rPr lang="en-US" sz="2000">
                <a:latin typeface="Calisto MT"/>
                <a:cs typeface="Times New Roman"/>
              </a:rPr>
              <a:t>Ensure the graph title, both axes’ labels, and the legend (the box that labels what is being measured in your graph) are labeled appropriately.</a:t>
            </a:r>
            <a:endParaRPr lang="en-US" sz="2000"/>
          </a:p>
          <a:p>
            <a:pPr marL="342900" indent="-342900">
              <a:lnSpc>
                <a:spcPct val="150000"/>
              </a:lnSpc>
              <a:buAutoNum type="alphaLcParenR"/>
            </a:pPr>
            <a:endParaRPr lang="en-US" sz="1800">
              <a:latin typeface="Calisto MT"/>
              <a:ea typeface="Cambria" panose="02040503050406030204" pitchFamily="18" charset="0"/>
              <a:cs typeface="Times New Roman" panose="02020603050405020304" pitchFamily="18" charset="0"/>
            </a:endParaRPr>
          </a:p>
          <a:p>
            <a:pPr marL="342900" lvl="1" indent="-342900">
              <a:lnSpc>
                <a:spcPct val="150000"/>
              </a:lnSpc>
              <a:buAutoNum type="alphaLcParenR"/>
            </a:pPr>
            <a:endParaRPr lang="en-US" sz="1800">
              <a:latin typeface="Calisto MT"/>
              <a:cs typeface="Times New Roman" panose="02020603050405020304" pitchFamily="18" charset="0"/>
            </a:endParaRPr>
          </a:p>
          <a:p>
            <a:pPr>
              <a:lnSpc>
                <a:spcPct val="150000"/>
              </a:lnSpc>
            </a:pPr>
            <a:endParaRPr lang="en-US" sz="1800">
              <a:latin typeface="Calisto MT"/>
              <a:cs typeface="Times New Roman" panose="02020603050405020304" pitchFamily="18" charset="0"/>
            </a:endParaRPr>
          </a:p>
        </p:txBody>
      </p:sp>
    </p:spTree>
    <p:extLst>
      <p:ext uri="{BB962C8B-B14F-4D97-AF65-F5344CB8AC3E}">
        <p14:creationId xmlns:p14="http://schemas.microsoft.com/office/powerpoint/2010/main" val="2340062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938254" y="445025"/>
            <a:ext cx="7410616"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a:latin typeface="Calisto MT"/>
              </a:rPr>
              <a:t>Question 2</a:t>
            </a:r>
            <a:br>
              <a:rPr lang="en-US">
                <a:latin typeface="Calisto MT"/>
              </a:rPr>
            </a:br>
            <a:endParaRPr lang="en-US">
              <a:latin typeface="Calisto MT"/>
            </a:endParaRPr>
          </a:p>
        </p:txBody>
      </p:sp>
      <p:sp>
        <p:nvSpPr>
          <p:cNvPr id="2" name="TextBox 1">
            <a:extLst>
              <a:ext uri="{FF2B5EF4-FFF2-40B4-BE49-F238E27FC236}">
                <a16:creationId xmlns:a16="http://schemas.microsoft.com/office/drawing/2014/main" id="{90E585E7-803B-7E90-7B61-4861F57279B0}"/>
              </a:ext>
            </a:extLst>
          </p:cNvPr>
          <p:cNvSpPr txBox="1"/>
          <p:nvPr/>
        </p:nvSpPr>
        <p:spPr>
          <a:xfrm>
            <a:off x="301948" y="1417588"/>
            <a:ext cx="8540104" cy="3139321"/>
          </a:xfrm>
          <a:prstGeom prst="rect">
            <a:avLst/>
          </a:prstGeom>
          <a:noFill/>
        </p:spPr>
        <p:txBody>
          <a:bodyPr wrap="square" lIns="91440" tIns="45720" rIns="91440" bIns="45720" rtlCol="0" anchor="t">
            <a:spAutoFit/>
          </a:bodyPr>
          <a:lstStyle/>
          <a:p>
            <a:pPr>
              <a:lnSpc>
                <a:spcPct val="150000"/>
              </a:lnSpc>
            </a:pPr>
            <a:r>
              <a:rPr lang="en-US" sz="2800" dirty="0">
                <a:latin typeface="Calisto MT"/>
                <a:ea typeface="Times New Roman" panose="02020603050405020304" pitchFamily="18" charset="0"/>
                <a:cs typeface="Times New Roman"/>
              </a:rPr>
              <a:t>Was the behavior successfully modified? </a:t>
            </a:r>
          </a:p>
          <a:p>
            <a:pPr>
              <a:lnSpc>
                <a:spcPct val="150000"/>
              </a:lnSpc>
            </a:pPr>
            <a:endParaRPr lang="en-US" sz="2800" dirty="0">
              <a:latin typeface="Calisto MT"/>
              <a:ea typeface="Cambria" panose="02040503050406030204" pitchFamily="18" charset="0"/>
              <a:cs typeface="Times New Roman" panose="02020603050405020304" pitchFamily="18" charset="0"/>
            </a:endParaRPr>
          </a:p>
          <a:p>
            <a:pPr>
              <a:lnSpc>
                <a:spcPct val="150000"/>
              </a:lnSpc>
            </a:pPr>
            <a:r>
              <a:rPr lang="en-US" sz="2800">
                <a:latin typeface="Calisto MT"/>
                <a:ea typeface="Cambria"/>
                <a:cs typeface="Times New Roman"/>
              </a:rPr>
              <a:t>There are 2 sections within Question 2.</a:t>
            </a:r>
          </a:p>
          <a:p>
            <a:pPr>
              <a:lnSpc>
                <a:spcPct val="150000"/>
              </a:lnSpc>
            </a:pPr>
            <a:endParaRPr lang="en-US" sz="2400" dirty="0">
              <a:latin typeface="Calisto MT"/>
              <a:ea typeface="Cambria" panose="02040503050406030204" pitchFamily="18" charset="0"/>
              <a:cs typeface="Times New Roman" panose="02020603050405020304" pitchFamily="18" charset="0"/>
            </a:endParaRPr>
          </a:p>
          <a:p>
            <a:pPr lvl="1"/>
            <a:endParaRPr lang="en-US" sz="1800">
              <a:latin typeface="Calisto MT"/>
            </a:endParaRPr>
          </a:p>
          <a:p>
            <a:endParaRPr lang="en-US" sz="1800">
              <a:latin typeface="Calisto MT"/>
            </a:endParaRPr>
          </a:p>
        </p:txBody>
      </p:sp>
    </p:spTree>
    <p:extLst>
      <p:ext uri="{BB962C8B-B14F-4D97-AF65-F5344CB8AC3E}">
        <p14:creationId xmlns:p14="http://schemas.microsoft.com/office/powerpoint/2010/main" val="2861744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866691" y="267017"/>
            <a:ext cx="7410616" cy="572700"/>
          </a:xfrm>
          <a:prstGeom prst="rect">
            <a:avLst/>
          </a:prstGeom>
        </p:spPr>
        <p:txBody>
          <a:bodyPr spcFirstLastPara="1" wrap="square" lIns="91425" tIns="91425" rIns="91425" bIns="91425" anchor="t" anchorCtr="0">
            <a:noAutofit/>
          </a:bodyPr>
          <a:lstStyle/>
          <a:p>
            <a:pPr lvl="0"/>
            <a:r>
              <a:rPr lang="en-US" b="1">
                <a:latin typeface="Calisto MT"/>
              </a:rPr>
              <a:t>Question 2a</a:t>
            </a:r>
            <a:br>
              <a:rPr lang="en-US">
                <a:latin typeface="Calisto MT"/>
              </a:rPr>
            </a:br>
            <a:endParaRPr lang="en-US">
              <a:latin typeface="Calisto MT"/>
            </a:endParaRPr>
          </a:p>
        </p:txBody>
      </p:sp>
      <p:sp>
        <p:nvSpPr>
          <p:cNvPr id="2" name="TextBox 1">
            <a:extLst>
              <a:ext uri="{FF2B5EF4-FFF2-40B4-BE49-F238E27FC236}">
                <a16:creationId xmlns:a16="http://schemas.microsoft.com/office/drawing/2014/main" id="{90E585E7-803B-7E90-7B61-4861F57279B0}"/>
              </a:ext>
            </a:extLst>
          </p:cNvPr>
          <p:cNvSpPr txBox="1"/>
          <p:nvPr/>
        </p:nvSpPr>
        <p:spPr>
          <a:xfrm>
            <a:off x="1872" y="680446"/>
            <a:ext cx="9042151" cy="4201150"/>
          </a:xfrm>
          <a:prstGeom prst="rect">
            <a:avLst/>
          </a:prstGeom>
          <a:noFill/>
        </p:spPr>
        <p:txBody>
          <a:bodyPr wrap="square" lIns="91440" tIns="45720" rIns="91440" bIns="45720" rtlCol="0" anchor="t">
            <a:spAutoFit/>
          </a:bodyPr>
          <a:lstStyle/>
          <a:p>
            <a:pPr marL="457200" lvl="1">
              <a:lnSpc>
                <a:spcPct val="150000"/>
              </a:lnSpc>
              <a:buSzPts val="1200"/>
            </a:pPr>
            <a:r>
              <a:rPr lang="en-US" sz="2000">
                <a:latin typeface="Calisto MT"/>
                <a:ea typeface="Times New Roman" panose="02020603050405020304" pitchFamily="18" charset="0"/>
                <a:cs typeface="Times New Roman"/>
              </a:rPr>
              <a:t>Did the implementation of your behavior modification plan successfully modify your behavior? </a:t>
            </a:r>
            <a:r>
              <a:rPr lang="en-US" sz="2000" i="1" u="sng">
                <a:latin typeface="Calisto MT"/>
                <a:ea typeface="Times New Roman" panose="02020603050405020304" pitchFamily="18" charset="0"/>
                <a:cs typeface="Times New Roman"/>
              </a:rPr>
              <a:t>Answer in </a:t>
            </a:r>
            <a:r>
              <a:rPr lang="en-US" sz="2000" b="1" u="sng">
                <a:latin typeface="Calisto MT"/>
                <a:ea typeface="Times New Roman" panose="02020603050405020304" pitchFamily="18" charset="0"/>
                <a:cs typeface="Times New Roman"/>
              </a:rPr>
              <a:t>one</a:t>
            </a:r>
            <a:r>
              <a:rPr lang="en-US" sz="2000" i="1" u="sng">
                <a:latin typeface="Calisto MT"/>
                <a:ea typeface="Times New Roman" panose="02020603050405020304" pitchFamily="18" charset="0"/>
                <a:cs typeface="Times New Roman"/>
              </a:rPr>
              <a:t> sentence</a:t>
            </a:r>
            <a:r>
              <a:rPr lang="en-US" sz="2000">
                <a:latin typeface="Calisto MT"/>
                <a:ea typeface="Times New Roman" panose="02020603050405020304" pitchFamily="18" charset="0"/>
                <a:cs typeface="Times New Roman"/>
              </a:rPr>
              <a:t>. Describe how your behavior was successfully or unsuccessfully modified.</a:t>
            </a:r>
            <a:r>
              <a:rPr lang="en-US" sz="2000" i="1">
                <a:latin typeface="Calisto MT"/>
                <a:ea typeface="Times New Roman" panose="02020603050405020304" pitchFamily="18" charset="0"/>
                <a:cs typeface="Times New Roman"/>
              </a:rPr>
              <a:t> </a:t>
            </a:r>
            <a:r>
              <a:rPr lang="en-US" sz="2000" i="1" u="sng">
                <a:latin typeface="Calisto MT"/>
                <a:ea typeface="Times New Roman" panose="02020603050405020304" pitchFamily="18" charset="0"/>
                <a:cs typeface="Times New Roman"/>
              </a:rPr>
              <a:t>Describe in at least </a:t>
            </a:r>
            <a:r>
              <a:rPr lang="en-US" sz="2000" b="1" u="sng">
                <a:latin typeface="Calisto MT"/>
                <a:ea typeface="Times New Roman" panose="02020603050405020304" pitchFamily="18" charset="0"/>
                <a:cs typeface="Times New Roman"/>
              </a:rPr>
              <a:t>two </a:t>
            </a:r>
            <a:r>
              <a:rPr lang="en-US" sz="2000" i="1" u="sng">
                <a:latin typeface="Calisto MT"/>
                <a:ea typeface="Times New Roman" panose="02020603050405020304" pitchFamily="18" charset="0"/>
                <a:cs typeface="Times New Roman"/>
              </a:rPr>
              <a:t>sentences.</a:t>
            </a:r>
            <a:r>
              <a:rPr lang="en-US" sz="2000" i="1">
                <a:latin typeface="Calisto MT"/>
                <a:ea typeface="Times New Roman" panose="02020603050405020304" pitchFamily="18" charset="0"/>
                <a:cs typeface="Times New Roman"/>
              </a:rPr>
              <a:t> </a:t>
            </a:r>
            <a:r>
              <a:rPr lang="en-US" sz="2000">
                <a:latin typeface="Calisto MT"/>
                <a:ea typeface="Times New Roman" panose="02020603050405020304" pitchFamily="18" charset="0"/>
                <a:cs typeface="Times New Roman"/>
              </a:rPr>
              <a:t>(Note: The level of success of your modification plan will not impact your grade). Be sure to answer both questions to receive fu</a:t>
            </a:r>
            <a:r>
              <a:rPr lang="en-US" sz="1800">
                <a:latin typeface="Calisto MT"/>
                <a:ea typeface="Times New Roman" panose="02020603050405020304" pitchFamily="18" charset="0"/>
                <a:cs typeface="Times New Roman"/>
              </a:rPr>
              <a:t>ll points. </a:t>
            </a:r>
            <a:endParaRPr lang="en-US" sz="1800">
              <a:latin typeface="Calisto MT"/>
              <a:ea typeface="Cambria" panose="02040503050406030204" pitchFamily="18" charset="0"/>
              <a:cs typeface="Times New Roman"/>
            </a:endParaRPr>
          </a:p>
          <a:p>
            <a:pPr>
              <a:lnSpc>
                <a:spcPct val="150000"/>
              </a:lnSpc>
            </a:pPr>
            <a:endParaRPr lang="en-US" sz="1800">
              <a:latin typeface="Calisto MT"/>
              <a:ea typeface="Cambria" panose="02040503050406030204" pitchFamily="18" charset="0"/>
              <a:cs typeface="Times New Roman" panose="02020603050405020304" pitchFamily="18" charset="0"/>
            </a:endParaRPr>
          </a:p>
          <a:p>
            <a:pPr>
              <a:lnSpc>
                <a:spcPct val="150000"/>
              </a:lnSpc>
            </a:pPr>
            <a:endParaRPr lang="en-US" sz="1800">
              <a:latin typeface="Calisto MT"/>
              <a:ea typeface="Cambria" panose="02040503050406030204" pitchFamily="18" charset="0"/>
              <a:cs typeface="Times New Roman" panose="02020603050405020304" pitchFamily="18" charset="0"/>
            </a:endParaRPr>
          </a:p>
          <a:p>
            <a:pPr>
              <a:lnSpc>
                <a:spcPct val="150000"/>
              </a:lnSpc>
            </a:pPr>
            <a:endParaRPr lang="en-US" sz="1800">
              <a:latin typeface="Calisto MT"/>
              <a:ea typeface="Cambria" panose="02040503050406030204" pitchFamily="18" charset="0"/>
              <a:cs typeface="Times New Roman" panose="02020603050405020304" pitchFamily="18" charset="0"/>
            </a:endParaRPr>
          </a:p>
          <a:p>
            <a:pPr lvl="1"/>
            <a:endParaRPr lang="en-US" sz="1800">
              <a:latin typeface="Calisto MT"/>
            </a:endParaRPr>
          </a:p>
          <a:p>
            <a:endParaRPr lang="en-US" sz="1800">
              <a:latin typeface="Calisto MT"/>
            </a:endParaRPr>
          </a:p>
        </p:txBody>
      </p:sp>
      <p:sp>
        <p:nvSpPr>
          <p:cNvPr id="3" name="TextBox 2">
            <a:extLst>
              <a:ext uri="{FF2B5EF4-FFF2-40B4-BE49-F238E27FC236}">
                <a16:creationId xmlns:a16="http://schemas.microsoft.com/office/drawing/2014/main" id="{FBCB960E-A962-5D5C-18B7-CCD78A3A097F}"/>
              </a:ext>
            </a:extLst>
          </p:cNvPr>
          <p:cNvSpPr txBox="1"/>
          <p:nvPr/>
        </p:nvSpPr>
        <p:spPr>
          <a:xfrm>
            <a:off x="977237" y="3032958"/>
            <a:ext cx="7487604" cy="1754326"/>
          </a:xfrm>
          <a:prstGeom prst="rect">
            <a:avLst/>
          </a:prstGeom>
          <a:noFill/>
        </p:spPr>
        <p:txBody>
          <a:bodyPr wrap="square" lIns="91440" tIns="45720" rIns="91440" bIns="45720" rtlCol="0" anchor="t">
            <a:spAutoFit/>
          </a:bodyPr>
          <a:lstStyle/>
          <a:p>
            <a:r>
              <a:rPr lang="en-US" sz="1800">
                <a:solidFill>
                  <a:srgbClr val="0070C0"/>
                </a:solidFill>
                <a:effectLst/>
                <a:latin typeface="Calisto MT"/>
                <a:ea typeface="Times New Roman" panose="02020603050405020304" pitchFamily="18" charset="0"/>
              </a:rPr>
              <a:t>The behavior modification plan was successful. My water intake drastically increased, as shown by the data. It worked well when I woke up early and remembered to grab, fill up, and take my water bottle with me to class. On the other hand, it did not work as well when I succumbed to the sugar cravings and grabbed my favorite soda instead of water. Overall, the plan was successful, and I increased my water intake. </a:t>
            </a:r>
            <a:endParaRPr lang="en-US">
              <a:solidFill>
                <a:srgbClr val="0070C0"/>
              </a:solidFill>
              <a:latin typeface="Calisto MT"/>
            </a:endParaRPr>
          </a:p>
        </p:txBody>
      </p:sp>
    </p:spTree>
    <p:extLst>
      <p:ext uri="{BB962C8B-B14F-4D97-AF65-F5344CB8AC3E}">
        <p14:creationId xmlns:p14="http://schemas.microsoft.com/office/powerpoint/2010/main" val="11789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938254" y="445025"/>
            <a:ext cx="7410616" cy="572700"/>
          </a:xfrm>
          <a:prstGeom prst="rect">
            <a:avLst/>
          </a:prstGeom>
        </p:spPr>
        <p:txBody>
          <a:bodyPr spcFirstLastPara="1" wrap="square" lIns="91425" tIns="91425" rIns="91425" bIns="91425" anchor="t" anchorCtr="0">
            <a:noAutofit/>
          </a:bodyPr>
          <a:lstStyle/>
          <a:p>
            <a:pPr lvl="0"/>
            <a:r>
              <a:rPr lang="en-US" b="1">
                <a:latin typeface="Calisto MT"/>
              </a:rPr>
              <a:t>Question 2b</a:t>
            </a:r>
            <a:br>
              <a:rPr lang="en-US">
                <a:latin typeface="Calisto MT"/>
              </a:rPr>
            </a:br>
            <a:endParaRPr lang="en-US">
              <a:latin typeface="Calisto MT"/>
            </a:endParaRPr>
          </a:p>
        </p:txBody>
      </p:sp>
      <p:sp>
        <p:nvSpPr>
          <p:cNvPr id="2" name="TextBox 1">
            <a:extLst>
              <a:ext uri="{FF2B5EF4-FFF2-40B4-BE49-F238E27FC236}">
                <a16:creationId xmlns:a16="http://schemas.microsoft.com/office/drawing/2014/main" id="{90E585E7-803B-7E90-7B61-4861F57279B0}"/>
              </a:ext>
            </a:extLst>
          </p:cNvPr>
          <p:cNvSpPr txBox="1"/>
          <p:nvPr/>
        </p:nvSpPr>
        <p:spPr>
          <a:xfrm>
            <a:off x="-260183" y="1018375"/>
            <a:ext cx="9314242" cy="2923877"/>
          </a:xfrm>
          <a:prstGeom prst="rect">
            <a:avLst/>
          </a:prstGeom>
          <a:noFill/>
        </p:spPr>
        <p:txBody>
          <a:bodyPr wrap="square" lIns="91440" tIns="45720" rIns="91440" bIns="45720" rtlCol="0" anchor="t">
            <a:spAutoFit/>
          </a:bodyPr>
          <a:lstStyle/>
          <a:p>
            <a:pPr marL="457200" lvl="1">
              <a:lnSpc>
                <a:spcPct val="150000"/>
              </a:lnSpc>
              <a:buSzPts val="1200"/>
            </a:pPr>
            <a:r>
              <a:rPr lang="en-US" sz="2000">
                <a:latin typeface="Calisto MT"/>
                <a:ea typeface="Times New Roman" panose="02020603050405020304" pitchFamily="18" charset="0"/>
                <a:cs typeface="Times New Roman"/>
              </a:rPr>
              <a:t>Write an overall assessment of your intervention. Explain what aspects of the intervention were effective </a:t>
            </a:r>
            <a:r>
              <a:rPr lang="en-US" sz="2000" b="1" u="sng">
                <a:latin typeface="Calisto MT"/>
                <a:ea typeface="Times New Roman" panose="02020603050405020304" pitchFamily="18" charset="0"/>
                <a:cs typeface="Times New Roman"/>
              </a:rPr>
              <a:t>and</a:t>
            </a:r>
            <a:r>
              <a:rPr lang="en-US" sz="2000" b="1">
                <a:latin typeface="Calisto MT"/>
                <a:ea typeface="Times New Roman" panose="02020603050405020304" pitchFamily="18" charset="0"/>
                <a:cs typeface="Times New Roman"/>
              </a:rPr>
              <a:t> </a:t>
            </a:r>
            <a:r>
              <a:rPr lang="en-US" sz="2000">
                <a:latin typeface="Calisto MT"/>
                <a:ea typeface="Times New Roman" panose="02020603050405020304" pitchFamily="18" charset="0"/>
                <a:cs typeface="Times New Roman"/>
              </a:rPr>
              <a:t>not effective. Include</a:t>
            </a:r>
            <a:r>
              <a:rPr lang="en-US" sz="2000" b="1">
                <a:latin typeface="Calisto MT"/>
                <a:ea typeface="Times New Roman" panose="02020603050405020304" pitchFamily="18" charset="0"/>
                <a:cs typeface="Times New Roman"/>
              </a:rPr>
              <a:t> your personal observations</a:t>
            </a:r>
            <a:r>
              <a:rPr lang="en-US" sz="2000">
                <a:latin typeface="Calisto MT"/>
                <a:ea typeface="Times New Roman" panose="02020603050405020304" pitchFamily="18" charset="0"/>
                <a:cs typeface="Times New Roman"/>
              </a:rPr>
              <a:t> about your execution of this project. (For example, how were your reinforcements or punishments effective or not effective for changing your behavior?). </a:t>
            </a:r>
            <a:r>
              <a:rPr lang="en-US" sz="2000" i="1" u="sng">
                <a:latin typeface="Calisto MT"/>
                <a:ea typeface="Times New Roman" panose="02020603050405020304" pitchFamily="18" charset="0"/>
                <a:cs typeface="Times New Roman"/>
              </a:rPr>
              <a:t>Describe in at least </a:t>
            </a:r>
            <a:r>
              <a:rPr lang="en-US" sz="2000" b="1" u="sng">
                <a:latin typeface="Calisto MT"/>
                <a:ea typeface="Times New Roman" panose="02020603050405020304" pitchFamily="18" charset="0"/>
                <a:cs typeface="Times New Roman"/>
              </a:rPr>
              <a:t>three</a:t>
            </a:r>
            <a:r>
              <a:rPr lang="en-US" sz="2000" b="1" i="1" u="sng">
                <a:latin typeface="Calisto MT"/>
                <a:ea typeface="Times New Roman" panose="02020603050405020304" pitchFamily="18" charset="0"/>
                <a:cs typeface="Times New Roman"/>
              </a:rPr>
              <a:t> </a:t>
            </a:r>
            <a:r>
              <a:rPr lang="en-US" sz="2000" i="1" u="sng">
                <a:latin typeface="Calisto MT"/>
                <a:ea typeface="Times New Roman" panose="02020603050405020304" pitchFamily="18" charset="0"/>
                <a:cs typeface="Times New Roman"/>
              </a:rPr>
              <a:t>sentences</a:t>
            </a:r>
            <a:r>
              <a:rPr lang="en-US" sz="2000">
                <a:latin typeface="Calisto MT"/>
                <a:ea typeface="Times New Roman" panose="02020603050405020304" pitchFamily="18" charset="0"/>
                <a:cs typeface="Times New Roman"/>
              </a:rPr>
              <a:t>.</a:t>
            </a:r>
            <a:endParaRPr lang="en-US" sz="2000">
              <a:latin typeface="Calisto MT"/>
              <a:ea typeface="Cambria" panose="02040503050406030204" pitchFamily="18" charset="0"/>
              <a:cs typeface="Times New Roman"/>
            </a:endParaRPr>
          </a:p>
          <a:p>
            <a:pPr lvl="1"/>
            <a:endParaRPr lang="en-US" sz="1800">
              <a:latin typeface="Times New Roman" panose="02020603050405020304" pitchFamily="18" charset="0"/>
              <a:cs typeface="Times New Roman" panose="02020603050405020304" pitchFamily="18" charset="0"/>
            </a:endParaRPr>
          </a:p>
          <a:p>
            <a:endParaRPr lang="en-US" sz="1600"/>
          </a:p>
        </p:txBody>
      </p:sp>
      <p:sp>
        <p:nvSpPr>
          <p:cNvPr id="3" name="TextBox 2">
            <a:extLst>
              <a:ext uri="{FF2B5EF4-FFF2-40B4-BE49-F238E27FC236}">
                <a16:creationId xmlns:a16="http://schemas.microsoft.com/office/drawing/2014/main" id="{1421C84B-4ADB-D715-6224-DCD97B488708}"/>
              </a:ext>
            </a:extLst>
          </p:cNvPr>
          <p:cNvSpPr txBox="1"/>
          <p:nvPr/>
        </p:nvSpPr>
        <p:spPr>
          <a:xfrm>
            <a:off x="859393" y="3397419"/>
            <a:ext cx="8193513" cy="1477328"/>
          </a:xfrm>
          <a:prstGeom prst="rect">
            <a:avLst/>
          </a:prstGeom>
          <a:noFill/>
        </p:spPr>
        <p:txBody>
          <a:bodyPr wrap="square" lIns="91440" tIns="45720" rIns="91440" bIns="45720" rtlCol="0" anchor="t">
            <a:spAutoFit/>
          </a:bodyPr>
          <a:lstStyle/>
          <a:p>
            <a:r>
              <a:rPr lang="en-US" sz="1800">
                <a:solidFill>
                  <a:srgbClr val="0070C0"/>
                </a:solidFill>
                <a:latin typeface="Calisto MT"/>
                <a:cs typeface="Times New Roman"/>
              </a:rPr>
              <a:t>In terms of my reinforcements and punishments, my daily positive reinforcement was strong as I loved the fruit popsicles. My weekly negative punishment of not having friends over was not as powerful, since I enjoyed my roommate so much. On days when I slept in too late and had a sweet tooth, I consumed too many energy drinks. </a:t>
            </a:r>
          </a:p>
        </p:txBody>
      </p:sp>
    </p:spTree>
    <p:extLst>
      <p:ext uri="{BB962C8B-B14F-4D97-AF65-F5344CB8AC3E}">
        <p14:creationId xmlns:p14="http://schemas.microsoft.com/office/powerpoint/2010/main" val="37559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938254" y="445025"/>
            <a:ext cx="7410616" cy="572700"/>
          </a:xfrm>
          <a:prstGeom prst="rect">
            <a:avLst/>
          </a:prstGeom>
        </p:spPr>
        <p:txBody>
          <a:bodyPr spcFirstLastPara="1" wrap="square" lIns="91425" tIns="91425" rIns="91425" bIns="91425" anchor="t" anchorCtr="0">
            <a:noAutofit/>
          </a:bodyPr>
          <a:lstStyle/>
          <a:p>
            <a:pPr lvl="0"/>
            <a:r>
              <a:rPr lang="en-US" b="1">
                <a:latin typeface="Calisto MT"/>
              </a:rPr>
              <a:t>Question 3</a:t>
            </a:r>
            <a:br>
              <a:rPr lang="en-US">
                <a:latin typeface="Calisto MT"/>
              </a:rPr>
            </a:br>
            <a:endParaRPr lang="en-US">
              <a:latin typeface="Calisto MT"/>
            </a:endParaRPr>
          </a:p>
        </p:txBody>
      </p:sp>
      <p:sp>
        <p:nvSpPr>
          <p:cNvPr id="2" name="TextBox 1">
            <a:extLst>
              <a:ext uri="{FF2B5EF4-FFF2-40B4-BE49-F238E27FC236}">
                <a16:creationId xmlns:a16="http://schemas.microsoft.com/office/drawing/2014/main" id="{90E585E7-803B-7E90-7B61-4861F57279B0}"/>
              </a:ext>
            </a:extLst>
          </p:cNvPr>
          <p:cNvSpPr txBox="1"/>
          <p:nvPr/>
        </p:nvSpPr>
        <p:spPr>
          <a:xfrm>
            <a:off x="388212" y="895831"/>
            <a:ext cx="8518538" cy="3631763"/>
          </a:xfrm>
          <a:prstGeom prst="rect">
            <a:avLst/>
          </a:prstGeom>
          <a:noFill/>
        </p:spPr>
        <p:txBody>
          <a:bodyPr wrap="square" lIns="91440" tIns="45720" rIns="91440" bIns="45720" rtlCol="0" anchor="t">
            <a:spAutoFit/>
          </a:bodyPr>
          <a:lstStyle/>
          <a:p>
            <a:pPr lvl="0">
              <a:lnSpc>
                <a:spcPct val="150000"/>
              </a:lnSpc>
            </a:pPr>
            <a:r>
              <a:rPr lang="en-US" sz="2400" dirty="0">
                <a:latin typeface="Calisto MT"/>
                <a:ea typeface="Times New Roman" panose="02020603050405020304" pitchFamily="18" charset="0"/>
                <a:cs typeface="Times New Roman"/>
              </a:rPr>
              <a:t>What could be done differently next time to improve your behavior modification intervention plan? What changes would you make if you were to continue to attempt to change this behavior? </a:t>
            </a:r>
            <a:r>
              <a:rPr lang="en-US" sz="2400" i="1" u="sng" dirty="0">
                <a:latin typeface="Calisto MT"/>
                <a:ea typeface="Times New Roman" panose="02020603050405020304" pitchFamily="18" charset="0"/>
                <a:cs typeface="Times New Roman"/>
              </a:rPr>
              <a:t>Give at least </a:t>
            </a:r>
            <a:r>
              <a:rPr lang="en-US" sz="2400" b="1" u="sng" dirty="0">
                <a:latin typeface="Calisto MT"/>
                <a:ea typeface="Times New Roman" panose="02020603050405020304" pitchFamily="18" charset="0"/>
                <a:cs typeface="Times New Roman"/>
              </a:rPr>
              <a:t>two</a:t>
            </a:r>
            <a:r>
              <a:rPr lang="en-US" sz="2400" u="sng" dirty="0">
                <a:latin typeface="Calisto MT"/>
                <a:ea typeface="Times New Roman" panose="02020603050405020304" pitchFamily="18" charset="0"/>
                <a:cs typeface="Times New Roman"/>
              </a:rPr>
              <a:t> </a:t>
            </a:r>
            <a:r>
              <a:rPr lang="en-US" sz="2400" i="1" u="sng" dirty="0">
                <a:latin typeface="Calisto MT"/>
                <a:ea typeface="Times New Roman" panose="02020603050405020304" pitchFamily="18" charset="0"/>
                <a:cs typeface="Times New Roman"/>
              </a:rPr>
              <a:t>specific examples</a:t>
            </a:r>
            <a:r>
              <a:rPr lang="en-US" sz="2400" i="1" dirty="0">
                <a:latin typeface="Calisto MT"/>
                <a:ea typeface="Times New Roman" panose="02020603050405020304" pitchFamily="18" charset="0"/>
                <a:cs typeface="Times New Roman"/>
              </a:rPr>
              <a:t>.</a:t>
            </a:r>
            <a:r>
              <a:rPr lang="en-US" sz="2400" dirty="0">
                <a:latin typeface="Calisto MT"/>
                <a:ea typeface="Times New Roman" panose="02020603050405020304" pitchFamily="18" charset="0"/>
                <a:cs typeface="Times New Roman"/>
              </a:rPr>
              <a:t> (Every study or intervention can be improved, so you should </a:t>
            </a:r>
            <a:r>
              <a:rPr lang="en-US" sz="2400" u="sng" dirty="0">
                <a:latin typeface="Calisto MT"/>
                <a:ea typeface="Times New Roman" panose="02020603050405020304" pitchFamily="18" charset="0"/>
                <a:cs typeface="Times New Roman"/>
              </a:rPr>
              <a:t>not</a:t>
            </a:r>
            <a:r>
              <a:rPr lang="en-US" sz="2400" dirty="0">
                <a:latin typeface="Calisto MT"/>
                <a:ea typeface="Times New Roman" panose="02020603050405020304" pitchFamily="18" charset="0"/>
                <a:cs typeface="Times New Roman"/>
              </a:rPr>
              <a:t> say, “Nothing will be changed”).  </a:t>
            </a:r>
            <a:endParaRPr lang="en-US" sz="2400" dirty="0">
              <a:latin typeface="Calisto MT"/>
              <a:cs typeface="Times New Roman"/>
            </a:endParaRPr>
          </a:p>
          <a:p>
            <a:endParaRPr lang="en-US"/>
          </a:p>
        </p:txBody>
      </p:sp>
    </p:spTree>
    <p:extLst>
      <p:ext uri="{BB962C8B-B14F-4D97-AF65-F5344CB8AC3E}">
        <p14:creationId xmlns:p14="http://schemas.microsoft.com/office/powerpoint/2010/main" val="4169023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938254" y="445025"/>
            <a:ext cx="7410616"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1">
                <a:latin typeface="Calisto MT"/>
              </a:rPr>
              <a:t>Question 3</a:t>
            </a:r>
            <a:br>
              <a:rPr lang="en-US">
                <a:latin typeface="Calisto MT"/>
              </a:rPr>
            </a:br>
            <a:endParaRPr lang="en-US">
              <a:latin typeface="Calisto MT"/>
            </a:endParaRPr>
          </a:p>
        </p:txBody>
      </p:sp>
      <p:sp>
        <p:nvSpPr>
          <p:cNvPr id="3" name="TextBox 2">
            <a:extLst>
              <a:ext uri="{FF2B5EF4-FFF2-40B4-BE49-F238E27FC236}">
                <a16:creationId xmlns:a16="http://schemas.microsoft.com/office/drawing/2014/main" id="{FFF37057-408F-9AA4-9AFD-0E0E8C4BDFA3}"/>
              </a:ext>
            </a:extLst>
          </p:cNvPr>
          <p:cNvSpPr txBox="1"/>
          <p:nvPr/>
        </p:nvSpPr>
        <p:spPr>
          <a:xfrm>
            <a:off x="-15303" y="1030167"/>
            <a:ext cx="9163822" cy="4755148"/>
          </a:xfrm>
          <a:prstGeom prst="rect">
            <a:avLst/>
          </a:prstGeom>
          <a:solidFill>
            <a:srgbClr val="F5F2EE"/>
          </a:solidFill>
        </p:spPr>
        <p:txBody>
          <a:bodyPr wrap="square" lIns="91440" tIns="45720" rIns="91440" bIns="45720" rtlCol="0" anchor="t">
            <a:spAutoFit/>
          </a:bodyPr>
          <a:lstStyle/>
          <a:p>
            <a:r>
              <a:rPr lang="en-US" sz="2300">
                <a:solidFill>
                  <a:srgbClr val="0070C0"/>
                </a:solidFill>
                <a:latin typeface="Calisto MT"/>
                <a:ea typeface="Times New Roman" panose="02020603050405020304" pitchFamily="18" charset="0"/>
                <a:cs typeface="Times New Roman"/>
              </a:rPr>
              <a:t>There are a few changes I would make to improve my behavior modification plan. First, I might choose a different weekly operant conditioning type—positive punishment—that might be more effective. For instance, if I did not consume my daily water intake, I could make myself do 10 push-ups. I hate push-ups! I could also consider setting two daily alarms on my phone with different tones to try to help me get up early. Lastly, I noticed that I never withheld TikTok from myself, so next time, I would choose another example of negative punishment, one that I would be more likely to follow through with doing. An alternative punishment could be that if I did not drink my daily water, I would not allow myself to watch TV with my roommate that night. </a:t>
            </a:r>
            <a:endParaRPr lang="en-US" sz="2300">
              <a:solidFill>
                <a:srgbClr val="0070C0"/>
              </a:solidFill>
              <a:latin typeface="Calisto MT"/>
              <a:ea typeface="Cambria" panose="02040503050406030204" pitchFamily="18" charset="0"/>
              <a:cs typeface="Times New Roman"/>
            </a:endParaRPr>
          </a:p>
          <a:p>
            <a:pPr marL="0" marR="0">
              <a:spcBef>
                <a:spcPts val="0"/>
              </a:spcBef>
              <a:spcAft>
                <a:spcPts val="0"/>
              </a:spcAft>
            </a:pPr>
            <a:br>
              <a:rPr lang="en-US" sz="1800" dirty="0">
                <a:effectLst/>
                <a:latin typeface="Cambria" panose="02040503050406030204" pitchFamily="18" charset="0"/>
                <a:ea typeface="Cambria" panose="02040503050406030204" pitchFamily="18" charset="0"/>
                <a:cs typeface="Cambria" panose="02040503050406030204" pitchFamily="18" charset="0"/>
              </a:rPr>
            </a:br>
            <a:r>
              <a:rPr lang="en-US" sz="1800" dirty="0">
                <a:effectLst/>
                <a:latin typeface="Times New Roman"/>
                <a:ea typeface="Times New Roman" panose="02020603050405020304" pitchFamily="18" charset="0"/>
                <a:cs typeface="Cambria" panose="02040503050406030204" pitchFamily="18" charset="0"/>
              </a:rPr>
              <a:t> </a:t>
            </a:r>
            <a:endParaRPr lang="en-US" sz="1800" dirty="0">
              <a:effectLst/>
              <a:latin typeface="Times New Roman"/>
              <a:ea typeface="Cambria" panose="02040503050406030204" pitchFamily="18" charset="0"/>
              <a:cs typeface="Cambria" panose="02040503050406030204" pitchFamily="18" charset="0"/>
            </a:endParaRPr>
          </a:p>
          <a:p>
            <a:endParaRPr lang="en-US"/>
          </a:p>
        </p:txBody>
      </p:sp>
    </p:spTree>
    <p:extLst>
      <p:ext uri="{BB962C8B-B14F-4D97-AF65-F5344CB8AC3E}">
        <p14:creationId xmlns:p14="http://schemas.microsoft.com/office/powerpoint/2010/main" val="3680754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DB9DBA16-32A2-DF70-46A8-5871ECD6B41D}"/>
            </a:ext>
          </a:extLst>
        </p:cNvPr>
        <p:cNvGrpSpPr/>
        <p:nvPr/>
      </p:nvGrpSpPr>
      <p:grpSpPr>
        <a:xfrm>
          <a:off x="0" y="0"/>
          <a:ext cx="0" cy="0"/>
          <a:chOff x="0" y="0"/>
          <a:chExt cx="0" cy="0"/>
        </a:xfrm>
      </p:grpSpPr>
      <p:sp>
        <p:nvSpPr>
          <p:cNvPr id="554" name="Google Shape;554;p66">
            <a:extLst>
              <a:ext uri="{FF2B5EF4-FFF2-40B4-BE49-F238E27FC236}">
                <a16:creationId xmlns:a16="http://schemas.microsoft.com/office/drawing/2014/main" id="{A210EE14-076E-11E0-DF76-5EDF22B7A72B}"/>
              </a:ext>
            </a:extLst>
          </p:cNvPr>
          <p:cNvSpPr txBox="1">
            <a:spLocks noGrp="1"/>
          </p:cNvSpPr>
          <p:nvPr>
            <p:ph type="title"/>
          </p:nvPr>
        </p:nvSpPr>
        <p:spPr>
          <a:xfrm>
            <a:off x="-106460" y="317275"/>
            <a:ext cx="9061831" cy="572700"/>
          </a:xfrm>
          <a:prstGeom prst="rect">
            <a:avLst/>
          </a:prstGeom>
        </p:spPr>
        <p:txBody>
          <a:bodyPr spcFirstLastPara="1" wrap="square" lIns="91425" tIns="91425" rIns="91425" bIns="91425" anchor="t" anchorCtr="0">
            <a:noAutofit/>
          </a:bodyPr>
          <a:lstStyle/>
          <a:p>
            <a:r>
              <a:rPr lang="en-US" sz="2800" b="1">
                <a:latin typeface="Calisto MT"/>
              </a:rPr>
              <a:t>How to Create a Graph in Excel: Desktop Version</a:t>
            </a:r>
            <a:br>
              <a:rPr lang="en-US" sz="2800" b="1" dirty="0">
                <a:latin typeface="Calisto MT"/>
              </a:rPr>
            </a:br>
            <a:endParaRPr lang="en-US" sz="2800">
              <a:latin typeface="Calisto MT"/>
            </a:endParaRPr>
          </a:p>
        </p:txBody>
      </p:sp>
      <p:sp>
        <p:nvSpPr>
          <p:cNvPr id="2" name="TextBox 1">
            <a:extLst>
              <a:ext uri="{FF2B5EF4-FFF2-40B4-BE49-F238E27FC236}">
                <a16:creationId xmlns:a16="http://schemas.microsoft.com/office/drawing/2014/main" id="{EF3E08C7-1B80-9810-0F99-FA2684B9F12B}"/>
              </a:ext>
            </a:extLst>
          </p:cNvPr>
          <p:cNvSpPr txBox="1"/>
          <p:nvPr/>
        </p:nvSpPr>
        <p:spPr>
          <a:xfrm>
            <a:off x="739753" y="752554"/>
            <a:ext cx="8227965" cy="4196020"/>
          </a:xfrm>
          <a:prstGeom prst="rect">
            <a:avLst/>
          </a:prstGeom>
          <a:noFill/>
        </p:spPr>
        <p:txBody>
          <a:bodyPr wrap="square" lIns="91440" tIns="45720" rIns="91440" bIns="45720" rtlCol="0" anchor="t">
            <a:spAutoFit/>
          </a:bodyPr>
          <a:lstStyle/>
          <a:p>
            <a:pPr marL="0" marR="0">
              <a:lnSpc>
                <a:spcPct val="150000"/>
              </a:lnSpc>
              <a:spcBef>
                <a:spcPts val="0"/>
              </a:spcBef>
              <a:spcAft>
                <a:spcPts val="200"/>
              </a:spcAft>
            </a:pPr>
            <a:r>
              <a:rPr lang="en-US" sz="1800" b="1">
                <a:effectLst/>
                <a:latin typeface="Calisto MT"/>
                <a:ea typeface="Calibri"/>
              </a:rPr>
              <a:t>1. </a:t>
            </a:r>
            <a:r>
              <a:rPr lang="en-US" sz="1800">
                <a:effectLst/>
                <a:latin typeface="Calisto MT"/>
                <a:ea typeface="Calibri"/>
              </a:rPr>
              <a:t>Insert Data with Column and Row Labels.</a:t>
            </a:r>
            <a:endParaRPr lang="en-US"/>
          </a:p>
          <a:p>
            <a:pPr marL="0" marR="0">
              <a:lnSpc>
                <a:spcPct val="150000"/>
              </a:lnSpc>
              <a:spcBef>
                <a:spcPts val="0"/>
              </a:spcBef>
              <a:spcAft>
                <a:spcPts val="200"/>
              </a:spcAft>
            </a:pPr>
            <a:r>
              <a:rPr lang="en-US" sz="1800" b="1">
                <a:effectLst/>
                <a:latin typeface="Calisto MT"/>
                <a:ea typeface="Calibri"/>
              </a:rPr>
              <a:t>2.</a:t>
            </a:r>
            <a:r>
              <a:rPr lang="en-US" sz="1800">
                <a:effectLst/>
                <a:latin typeface="Calisto MT"/>
                <a:ea typeface="Calibri"/>
              </a:rPr>
              <a:t> Highlight the entire Spreadsheet. (</a:t>
            </a:r>
            <a:r>
              <a:rPr lang="en-US" sz="1800">
                <a:latin typeface="Calisto MT"/>
                <a:ea typeface="Calibri"/>
              </a:rPr>
              <a:t>S</a:t>
            </a:r>
            <a:r>
              <a:rPr lang="en-US" sz="1800">
                <a:effectLst/>
                <a:latin typeface="Calisto MT"/>
                <a:ea typeface="Calibri"/>
              </a:rPr>
              <a:t>elect the upside-down triangle in the top left corner).</a:t>
            </a:r>
          </a:p>
          <a:p>
            <a:pPr marL="0" marR="0">
              <a:lnSpc>
                <a:spcPct val="150000"/>
              </a:lnSpc>
              <a:spcBef>
                <a:spcPts val="0"/>
              </a:spcBef>
              <a:spcAft>
                <a:spcPts val="200"/>
              </a:spcAft>
            </a:pPr>
            <a:r>
              <a:rPr lang="en-US" sz="1800" b="1">
                <a:effectLst/>
                <a:latin typeface="Calisto MT"/>
                <a:ea typeface="Calibri"/>
              </a:rPr>
              <a:t>3.</a:t>
            </a:r>
            <a:r>
              <a:rPr lang="en-US" sz="1800">
                <a:effectLst/>
                <a:latin typeface="Calisto MT"/>
                <a:ea typeface="Calibri"/>
              </a:rPr>
              <a:t> Click on Insert tab at the top.</a:t>
            </a:r>
          </a:p>
          <a:p>
            <a:pPr marL="0" marR="0">
              <a:lnSpc>
                <a:spcPct val="150000"/>
              </a:lnSpc>
              <a:spcBef>
                <a:spcPts val="0"/>
              </a:spcBef>
              <a:spcAft>
                <a:spcPts val="200"/>
              </a:spcAft>
            </a:pPr>
            <a:r>
              <a:rPr lang="en-US" sz="1800" b="1">
                <a:effectLst/>
                <a:latin typeface="Calisto MT"/>
                <a:ea typeface="Calibri"/>
              </a:rPr>
              <a:t>4. </a:t>
            </a:r>
            <a:r>
              <a:rPr lang="en-US" sz="1800">
                <a:effectLst/>
                <a:latin typeface="Calisto MT"/>
                <a:ea typeface="Calibri"/>
              </a:rPr>
              <a:t>Select the chart that best represents your data (middle of the top section of Excel).</a:t>
            </a:r>
          </a:p>
          <a:p>
            <a:pPr marL="0" marR="0">
              <a:lnSpc>
                <a:spcPct val="150000"/>
              </a:lnSpc>
              <a:spcBef>
                <a:spcPts val="0"/>
              </a:spcBef>
              <a:spcAft>
                <a:spcPts val="200"/>
              </a:spcAft>
            </a:pPr>
            <a:r>
              <a:rPr lang="en-US" sz="1800" b="1">
                <a:effectLst/>
                <a:latin typeface="Calisto MT"/>
                <a:ea typeface="Calibri"/>
              </a:rPr>
              <a:t>5. </a:t>
            </a:r>
            <a:r>
              <a:rPr lang="en-US" sz="1800">
                <a:effectLst/>
                <a:latin typeface="Calisto MT"/>
                <a:ea typeface="Calibri"/>
              </a:rPr>
              <a:t>Click on “Plus” button next to chart and select Axis Titles.</a:t>
            </a:r>
          </a:p>
          <a:p>
            <a:pPr marL="0" marR="0">
              <a:lnSpc>
                <a:spcPct val="150000"/>
              </a:lnSpc>
              <a:spcBef>
                <a:spcPts val="0"/>
              </a:spcBef>
              <a:spcAft>
                <a:spcPts val="200"/>
              </a:spcAft>
            </a:pPr>
            <a:r>
              <a:rPr lang="en-US" sz="1800" b="1">
                <a:effectLst/>
                <a:latin typeface="Calisto MT"/>
                <a:ea typeface="Calibri"/>
              </a:rPr>
              <a:t>6. </a:t>
            </a:r>
            <a:r>
              <a:rPr lang="en-US" sz="1800">
                <a:effectLst/>
                <a:latin typeface="Calisto MT"/>
                <a:ea typeface="Calibri"/>
              </a:rPr>
              <a:t>Type in the titles for Chart and Axes. (Legend will automatically show up</a:t>
            </a:r>
            <a:r>
              <a:rPr lang="en-US" sz="1800">
                <a:latin typeface="Calisto MT"/>
                <a:ea typeface="Calibri"/>
              </a:rPr>
              <a:t>).</a:t>
            </a:r>
            <a:endParaRPr lang="en-US" sz="1800">
              <a:effectLst/>
              <a:latin typeface="Calisto MT"/>
              <a:ea typeface="Calibri"/>
            </a:endParaRPr>
          </a:p>
          <a:p>
            <a:pPr>
              <a:lnSpc>
                <a:spcPct val="150000"/>
              </a:lnSpc>
              <a:spcAft>
                <a:spcPts val="200"/>
              </a:spcAft>
            </a:pPr>
            <a:r>
              <a:rPr lang="en-US" sz="1800" b="1">
                <a:effectLst/>
                <a:latin typeface="Calisto MT"/>
                <a:ea typeface="Calibri"/>
              </a:rPr>
              <a:t>7. </a:t>
            </a:r>
            <a:r>
              <a:rPr lang="en-US" sz="1800">
                <a:effectLst/>
                <a:latin typeface="Calisto MT"/>
                <a:ea typeface="Calibri"/>
              </a:rPr>
              <a:t>Copy and paste chart into your </a:t>
            </a:r>
            <a:r>
              <a:rPr lang="en-US" sz="1800">
                <a:latin typeface="Calisto MT"/>
                <a:ea typeface="Calibri"/>
              </a:rPr>
              <a:t>typed handout responses</a:t>
            </a:r>
            <a:r>
              <a:rPr lang="en-US" sz="1800">
                <a:effectLst/>
                <a:latin typeface="Calisto MT"/>
                <a:ea typeface="Calibri"/>
              </a:rPr>
              <a:t>! </a:t>
            </a:r>
          </a:p>
          <a:p>
            <a:endParaRPr lang="en-US" sz="1200">
              <a:latin typeface="Calisto MT"/>
            </a:endParaRPr>
          </a:p>
        </p:txBody>
      </p:sp>
    </p:spTree>
    <p:extLst>
      <p:ext uri="{BB962C8B-B14F-4D97-AF65-F5344CB8AC3E}">
        <p14:creationId xmlns:p14="http://schemas.microsoft.com/office/powerpoint/2010/main" val="3902668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2C2F1C98-61DD-CECC-EFD5-4E9C30EF026B}"/>
            </a:ext>
          </a:extLst>
        </p:cNvPr>
        <p:cNvGrpSpPr/>
        <p:nvPr/>
      </p:nvGrpSpPr>
      <p:grpSpPr>
        <a:xfrm>
          <a:off x="0" y="0"/>
          <a:ext cx="0" cy="0"/>
          <a:chOff x="0" y="0"/>
          <a:chExt cx="0" cy="0"/>
        </a:xfrm>
      </p:grpSpPr>
      <p:sp>
        <p:nvSpPr>
          <p:cNvPr id="554" name="Google Shape;554;p66">
            <a:extLst>
              <a:ext uri="{FF2B5EF4-FFF2-40B4-BE49-F238E27FC236}">
                <a16:creationId xmlns:a16="http://schemas.microsoft.com/office/drawing/2014/main" id="{1580BFB6-3167-7C27-C476-6A4A1A40799A}"/>
              </a:ext>
            </a:extLst>
          </p:cNvPr>
          <p:cNvSpPr txBox="1">
            <a:spLocks noGrp="1"/>
          </p:cNvSpPr>
          <p:nvPr>
            <p:ph type="title"/>
          </p:nvPr>
        </p:nvSpPr>
        <p:spPr>
          <a:xfrm>
            <a:off x="-65508" y="230194"/>
            <a:ext cx="8441189" cy="572700"/>
          </a:xfrm>
          <a:prstGeom prst="rect">
            <a:avLst/>
          </a:prstGeom>
        </p:spPr>
        <p:txBody>
          <a:bodyPr spcFirstLastPara="1" wrap="square" lIns="91425" tIns="91425" rIns="91425" bIns="91425" anchor="t" anchorCtr="0">
            <a:noAutofit/>
          </a:bodyPr>
          <a:lstStyle/>
          <a:p>
            <a:r>
              <a:rPr lang="en-US" sz="2800" b="1">
                <a:latin typeface="Calisto MT"/>
              </a:rPr>
              <a:t>How to Create a Graph in Excel: Browser Version</a:t>
            </a:r>
            <a:br>
              <a:rPr lang="en-US" sz="2800" b="1" dirty="0">
                <a:latin typeface="Calisto MT"/>
              </a:rPr>
            </a:br>
            <a:endParaRPr lang="en-US" sz="2800">
              <a:latin typeface="Calisto MT"/>
            </a:endParaRPr>
          </a:p>
        </p:txBody>
      </p:sp>
      <p:sp>
        <p:nvSpPr>
          <p:cNvPr id="2" name="TextBox 1">
            <a:extLst>
              <a:ext uri="{FF2B5EF4-FFF2-40B4-BE49-F238E27FC236}">
                <a16:creationId xmlns:a16="http://schemas.microsoft.com/office/drawing/2014/main" id="{4F19C1BA-B365-9EBC-2B83-61919D79EA80}"/>
              </a:ext>
            </a:extLst>
          </p:cNvPr>
          <p:cNvSpPr txBox="1"/>
          <p:nvPr/>
        </p:nvSpPr>
        <p:spPr>
          <a:xfrm>
            <a:off x="866382" y="671525"/>
            <a:ext cx="8274761" cy="4984698"/>
          </a:xfrm>
          <a:prstGeom prst="rect">
            <a:avLst/>
          </a:prstGeom>
          <a:noFill/>
        </p:spPr>
        <p:txBody>
          <a:bodyPr wrap="square" lIns="91440" tIns="45720" rIns="91440" bIns="45720" rtlCol="0" anchor="t">
            <a:spAutoFit/>
          </a:bodyPr>
          <a:lstStyle/>
          <a:p>
            <a:pPr marL="0" marR="0">
              <a:lnSpc>
                <a:spcPct val="150000"/>
              </a:lnSpc>
              <a:spcBef>
                <a:spcPts val="0"/>
              </a:spcBef>
              <a:spcAft>
                <a:spcPts val="200"/>
              </a:spcAft>
            </a:pPr>
            <a:r>
              <a:rPr lang="en-US" sz="1700" b="1">
                <a:effectLst/>
                <a:latin typeface="Calisto MT"/>
                <a:ea typeface="Calibri"/>
              </a:rPr>
              <a:t>1. </a:t>
            </a:r>
            <a:r>
              <a:rPr lang="en-US" sz="1700">
                <a:effectLst/>
                <a:latin typeface="Calisto MT"/>
                <a:ea typeface="Calibri"/>
              </a:rPr>
              <a:t>Insert Data with Column and Row Labels.</a:t>
            </a:r>
            <a:endParaRPr lang="en-US" sz="1700"/>
          </a:p>
          <a:p>
            <a:pPr>
              <a:lnSpc>
                <a:spcPct val="150000"/>
              </a:lnSpc>
              <a:spcAft>
                <a:spcPts val="200"/>
              </a:spcAft>
            </a:pPr>
            <a:r>
              <a:rPr lang="en-US" sz="1700" b="1">
                <a:effectLst/>
                <a:latin typeface="Calisto MT"/>
                <a:ea typeface="Calibri"/>
              </a:rPr>
              <a:t>2.</a:t>
            </a:r>
            <a:r>
              <a:rPr lang="en-US" sz="1700">
                <a:effectLst/>
                <a:latin typeface="Calisto MT"/>
                <a:ea typeface="Calibri"/>
              </a:rPr>
              <a:t> Highlight entire </a:t>
            </a:r>
            <a:r>
              <a:rPr lang="en-US" sz="1700">
                <a:latin typeface="Calisto MT"/>
              </a:rPr>
              <a:t>Spreadsheet. (Select the upside-down triangle in the top left corner).</a:t>
            </a:r>
          </a:p>
          <a:p>
            <a:pPr marL="0" marR="0">
              <a:lnSpc>
                <a:spcPct val="150000"/>
              </a:lnSpc>
              <a:spcBef>
                <a:spcPts val="0"/>
              </a:spcBef>
              <a:spcAft>
                <a:spcPts val="200"/>
              </a:spcAft>
            </a:pPr>
            <a:r>
              <a:rPr lang="en-US" sz="1700" b="1">
                <a:effectLst/>
                <a:latin typeface="Calisto MT"/>
                <a:ea typeface="Calibri"/>
              </a:rPr>
              <a:t>3.</a:t>
            </a:r>
            <a:r>
              <a:rPr lang="en-US" sz="1700">
                <a:effectLst/>
                <a:latin typeface="Calisto MT"/>
                <a:ea typeface="Calibri"/>
              </a:rPr>
              <a:t> Click on Insert tab at the top.</a:t>
            </a:r>
          </a:p>
          <a:p>
            <a:pPr marL="0" marR="0">
              <a:lnSpc>
                <a:spcPct val="150000"/>
              </a:lnSpc>
              <a:spcBef>
                <a:spcPts val="0"/>
              </a:spcBef>
              <a:spcAft>
                <a:spcPts val="200"/>
              </a:spcAft>
            </a:pPr>
            <a:r>
              <a:rPr lang="en-US" sz="1700" b="1">
                <a:effectLst/>
                <a:latin typeface="Calisto MT"/>
                <a:ea typeface="Calibri"/>
              </a:rPr>
              <a:t>4. </a:t>
            </a:r>
            <a:r>
              <a:rPr lang="en-US" sz="1700">
                <a:effectLst/>
                <a:latin typeface="Calisto MT"/>
                <a:ea typeface="Calibri"/>
              </a:rPr>
              <a:t>Select the chart that best represents your data (middle of the top section of Excel).</a:t>
            </a:r>
          </a:p>
          <a:p>
            <a:pPr marL="0" marR="0">
              <a:lnSpc>
                <a:spcPct val="150000"/>
              </a:lnSpc>
              <a:spcBef>
                <a:spcPts val="0"/>
              </a:spcBef>
              <a:spcAft>
                <a:spcPts val="200"/>
              </a:spcAft>
            </a:pPr>
            <a:r>
              <a:rPr lang="en-US" sz="1700" b="1">
                <a:effectLst/>
                <a:latin typeface="Calisto MT"/>
                <a:ea typeface="Calibri"/>
              </a:rPr>
              <a:t>5. </a:t>
            </a:r>
            <a:r>
              <a:rPr lang="en-US" sz="1700">
                <a:effectLst/>
                <a:latin typeface="Calisto MT"/>
                <a:ea typeface="Calibri"/>
              </a:rPr>
              <a:t>Click on “Chart” tab at the top.</a:t>
            </a:r>
          </a:p>
          <a:p>
            <a:pPr marL="0" marR="0">
              <a:lnSpc>
                <a:spcPct val="150000"/>
              </a:lnSpc>
              <a:spcBef>
                <a:spcPts val="0"/>
              </a:spcBef>
              <a:spcAft>
                <a:spcPts val="200"/>
              </a:spcAft>
            </a:pPr>
            <a:r>
              <a:rPr lang="en-US" sz="1700" b="1">
                <a:effectLst/>
                <a:latin typeface="Calisto MT"/>
                <a:ea typeface="Calibri"/>
              </a:rPr>
              <a:t>6. </a:t>
            </a:r>
            <a:r>
              <a:rPr lang="en-US" sz="1700">
                <a:effectLst/>
                <a:latin typeface="Calisto MT"/>
                <a:ea typeface="Calibri"/>
              </a:rPr>
              <a:t>Select “Chart Title”, pull down and select “Edit Chart Title.”</a:t>
            </a:r>
          </a:p>
          <a:p>
            <a:pPr marL="0" marR="0">
              <a:lnSpc>
                <a:spcPct val="150000"/>
              </a:lnSpc>
              <a:spcBef>
                <a:spcPts val="0"/>
              </a:spcBef>
              <a:spcAft>
                <a:spcPts val="200"/>
              </a:spcAft>
            </a:pPr>
            <a:r>
              <a:rPr lang="en-US" sz="1700" b="1">
                <a:effectLst/>
                <a:latin typeface="Calisto MT"/>
                <a:ea typeface="Calibri"/>
              </a:rPr>
              <a:t>7. </a:t>
            </a:r>
            <a:r>
              <a:rPr lang="en-US" sz="1700">
                <a:effectLst/>
                <a:latin typeface="Calisto MT"/>
                <a:ea typeface="Calibri"/>
              </a:rPr>
              <a:t>Select “Axis Titles”, pull down and select “Horizontal Title” &gt; “Edit Horizontal Title.” </a:t>
            </a:r>
          </a:p>
          <a:p>
            <a:pPr marL="0" marR="0">
              <a:lnSpc>
                <a:spcPct val="150000"/>
              </a:lnSpc>
              <a:spcBef>
                <a:spcPts val="0"/>
              </a:spcBef>
              <a:spcAft>
                <a:spcPts val="200"/>
              </a:spcAft>
            </a:pPr>
            <a:r>
              <a:rPr lang="en-US" sz="1700" b="1">
                <a:effectLst/>
                <a:latin typeface="Calisto MT"/>
                <a:ea typeface="Calibri"/>
              </a:rPr>
              <a:t>8. </a:t>
            </a:r>
            <a:r>
              <a:rPr lang="en-US" sz="1700">
                <a:effectLst/>
                <a:latin typeface="Calisto MT"/>
                <a:ea typeface="Calibri"/>
              </a:rPr>
              <a:t>Select “Axis Titles”, pull down and select “Vertical Title” &gt; “Edit Vertical Title.”</a:t>
            </a:r>
          </a:p>
          <a:p>
            <a:pPr>
              <a:lnSpc>
                <a:spcPct val="150000"/>
              </a:lnSpc>
              <a:spcAft>
                <a:spcPts val="200"/>
              </a:spcAft>
            </a:pPr>
            <a:r>
              <a:rPr lang="en-US" sz="1700" b="1">
                <a:effectLst/>
                <a:latin typeface="Calisto MT"/>
                <a:ea typeface="Calibri"/>
              </a:rPr>
              <a:t>9. </a:t>
            </a:r>
            <a:r>
              <a:rPr lang="en-US" sz="1700">
                <a:effectLst/>
                <a:latin typeface="Calisto MT"/>
                <a:ea typeface="Calibri"/>
              </a:rPr>
              <a:t>Copy and paste chart into your </a:t>
            </a:r>
            <a:r>
              <a:rPr lang="en-US" sz="1700">
                <a:latin typeface="Calisto MT"/>
                <a:ea typeface="Calibri"/>
              </a:rPr>
              <a:t>typed handout responses</a:t>
            </a:r>
            <a:r>
              <a:rPr lang="en-US" sz="1700">
                <a:effectLst/>
                <a:latin typeface="Calisto MT"/>
                <a:ea typeface="Calibri"/>
              </a:rPr>
              <a:t>!</a:t>
            </a:r>
          </a:p>
          <a:p>
            <a:pPr>
              <a:lnSpc>
                <a:spcPct val="150000"/>
              </a:lnSpc>
              <a:spcAft>
                <a:spcPts val="800"/>
              </a:spcAft>
            </a:pPr>
            <a:endParaRPr lang="en-US" sz="1650">
              <a:latin typeface="Calisto MT"/>
            </a:endParaRPr>
          </a:p>
          <a:p>
            <a:endParaRPr lang="en-US" sz="1650">
              <a:latin typeface="Calisto MT"/>
            </a:endParaRPr>
          </a:p>
        </p:txBody>
      </p:sp>
    </p:spTree>
    <p:extLst>
      <p:ext uri="{BB962C8B-B14F-4D97-AF65-F5344CB8AC3E}">
        <p14:creationId xmlns:p14="http://schemas.microsoft.com/office/powerpoint/2010/main" val="3281483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66"/>
          <p:cNvSpPr txBox="1">
            <a:spLocks noGrp="1"/>
          </p:cNvSpPr>
          <p:nvPr>
            <p:ph type="title"/>
          </p:nvPr>
        </p:nvSpPr>
        <p:spPr>
          <a:xfrm>
            <a:off x="1146727" y="1286753"/>
            <a:ext cx="6850546"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5400">
                <a:latin typeface="Calisto MT"/>
              </a:rPr>
              <a:t>Questions? Confusion?</a:t>
            </a:r>
            <a:br>
              <a:rPr lang="en-US" sz="5400">
                <a:latin typeface="Calisto MT"/>
              </a:rPr>
            </a:br>
            <a:r>
              <a:rPr lang="en-US" sz="5400">
                <a:latin typeface="Calisto MT"/>
              </a:rPr>
              <a:t>Now is your time to get clarity!!</a:t>
            </a:r>
          </a:p>
        </p:txBody>
      </p:sp>
      <p:sp>
        <p:nvSpPr>
          <p:cNvPr id="3" name="TextBox 2">
            <a:extLst>
              <a:ext uri="{FF2B5EF4-FFF2-40B4-BE49-F238E27FC236}">
                <a16:creationId xmlns:a16="http://schemas.microsoft.com/office/drawing/2014/main" id="{FFF37057-408F-9AA4-9AFD-0E0E8C4BDFA3}"/>
              </a:ext>
            </a:extLst>
          </p:cNvPr>
          <p:cNvSpPr txBox="1"/>
          <p:nvPr/>
        </p:nvSpPr>
        <p:spPr>
          <a:xfrm>
            <a:off x="795130" y="877863"/>
            <a:ext cx="7704586" cy="646331"/>
          </a:xfrm>
          <a:prstGeom prst="rect">
            <a:avLst/>
          </a:prstGeom>
          <a:noFill/>
        </p:spPr>
        <p:txBody>
          <a:bodyPr wrap="square" rtlCol="0">
            <a:spAutoFit/>
          </a:bodyPr>
          <a:lstStyle/>
          <a:p>
            <a:br>
              <a:rPr lang="en-US" sz="1800">
                <a:effectLst/>
                <a:latin typeface="Cambria" panose="02040503050406030204" pitchFamily="18" charset="0"/>
                <a:ea typeface="Cambria" panose="02040503050406030204" pitchFamily="18" charset="0"/>
                <a:cs typeface="Cambria" panose="02040503050406030204" pitchFamily="18" charset="0"/>
              </a:rPr>
            </a:br>
            <a:r>
              <a:rPr lang="en-US" sz="1800">
                <a:effectLst/>
                <a:latin typeface="Times New Roman" panose="02020603050405020304" pitchFamily="18" charset="0"/>
                <a:ea typeface="Times New Roman" panose="02020603050405020304" pitchFamily="18" charset="0"/>
                <a:cs typeface="Cambria" panose="02040503050406030204" pitchFamily="18" charset="0"/>
              </a:rPr>
              <a:t> </a:t>
            </a:r>
            <a:endParaRPr lang="en-US" sz="2800" i="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4108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85D37-59EA-C399-FF3F-88BAA24F115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BE1C392-0AA2-923A-752B-3D6BD3CABF21}"/>
              </a:ext>
            </a:extLst>
          </p:cNvPr>
          <p:cNvSpPr txBox="1"/>
          <p:nvPr/>
        </p:nvSpPr>
        <p:spPr>
          <a:xfrm>
            <a:off x="1129733" y="856874"/>
            <a:ext cx="8013376" cy="4190891"/>
          </a:xfrm>
          <a:prstGeom prst="rect">
            <a:avLst/>
          </a:prstGeom>
          <a:noFill/>
        </p:spPr>
        <p:txBody>
          <a:bodyPr wrap="square" lIns="91440" tIns="45720" rIns="91440" bIns="45720" rtlCol="0" anchor="t">
            <a:spAutoFit/>
          </a:bodyPr>
          <a:lstStyle/>
          <a:p>
            <a:r>
              <a:rPr lang="en-US" sz="2400" b="1" u="sng">
                <a:latin typeface="Calisto MT"/>
                <a:cs typeface="Times New Roman"/>
              </a:rPr>
              <a:t>Sunday, April 19 at 11:59pm:</a:t>
            </a:r>
          </a:p>
          <a:p>
            <a:pPr marL="457200" indent="-457200">
              <a:buFont typeface="Arial" panose="020B0604020202020204" pitchFamily="34" charset="0"/>
              <a:buChar char="•"/>
            </a:pPr>
            <a:r>
              <a:rPr lang="en-US" sz="2400">
                <a:latin typeface="Calisto MT"/>
                <a:cs typeface="Times New Roman"/>
              </a:rPr>
              <a:t>Behavior Modification Handout #3</a:t>
            </a:r>
          </a:p>
          <a:p>
            <a:pPr marL="914400" lvl="6" indent="-457200">
              <a:buFont typeface="Arial" panose="020B0604020202020204" pitchFamily="34" charset="0"/>
              <a:buChar char="•"/>
            </a:pPr>
            <a:r>
              <a:rPr lang="en-US" sz="2400">
                <a:latin typeface="Calisto MT"/>
                <a:cs typeface="Times New Roman"/>
              </a:rPr>
              <a:t>Upload a picture of your </a:t>
            </a:r>
            <a:r>
              <a:rPr lang="en-US" sz="2400" i="1">
                <a:latin typeface="Calisto MT"/>
                <a:cs typeface="Times New Roman"/>
              </a:rPr>
              <a:t>handwritten</a:t>
            </a:r>
            <a:r>
              <a:rPr lang="en-US" sz="2400">
                <a:latin typeface="Calisto MT"/>
                <a:cs typeface="Times New Roman"/>
              </a:rPr>
              <a:t> responses (without data &amp; graph) </a:t>
            </a:r>
            <a:r>
              <a:rPr lang="en-US" sz="2400" b="1" u="sng">
                <a:latin typeface="Calisto MT"/>
                <a:cs typeface="Times New Roman"/>
              </a:rPr>
              <a:t>AND</a:t>
            </a:r>
            <a:r>
              <a:rPr lang="en-US" sz="2400">
                <a:latin typeface="Calisto MT"/>
                <a:cs typeface="Times New Roman"/>
              </a:rPr>
              <a:t> upload your </a:t>
            </a:r>
            <a:r>
              <a:rPr lang="en-US" sz="2400" i="1">
                <a:latin typeface="Calisto MT"/>
                <a:cs typeface="Times New Roman"/>
              </a:rPr>
              <a:t>typed</a:t>
            </a:r>
            <a:r>
              <a:rPr lang="en-US" sz="2400">
                <a:latin typeface="Calisto MT"/>
                <a:cs typeface="Times New Roman"/>
              </a:rPr>
              <a:t> responses with your </a:t>
            </a:r>
            <a:r>
              <a:rPr lang="en-US" sz="2400" u="sng">
                <a:latin typeface="Calisto MT"/>
                <a:cs typeface="Times New Roman"/>
              </a:rPr>
              <a:t>data &amp; graph included</a:t>
            </a:r>
            <a:r>
              <a:rPr lang="en-US" sz="2400" i="1">
                <a:latin typeface="Calisto MT"/>
                <a:cs typeface="Times New Roman"/>
              </a:rPr>
              <a:t> </a:t>
            </a:r>
            <a:r>
              <a:rPr lang="en-US" sz="2400">
                <a:latin typeface="Calisto MT"/>
                <a:cs typeface="Times New Roman"/>
              </a:rPr>
              <a:t>on the handout for full credit</a:t>
            </a:r>
            <a:endParaRPr lang="en-US" sz="2400">
              <a:latin typeface="Calisto MT"/>
              <a:cs typeface="Times New Roman" panose="02020603050405020304" pitchFamily="18" charset="0"/>
            </a:endParaRPr>
          </a:p>
          <a:p>
            <a:pPr marL="1371600" lvl="7" indent="-457200">
              <a:buFont typeface="Courier New" panose="020B0604020202020204" pitchFamily="34" charset="0"/>
              <a:buChar char="o"/>
            </a:pPr>
            <a:r>
              <a:rPr lang="en-US" sz="2400">
                <a:latin typeface="Calisto MT"/>
                <a:cs typeface="Times New Roman"/>
              </a:rPr>
              <a:t>5 points for handwritten version</a:t>
            </a:r>
            <a:endParaRPr lang="en-US" sz="2400">
              <a:latin typeface="Calisto MT"/>
              <a:cs typeface="Times New Roman" panose="02020603050405020304" pitchFamily="18" charset="0"/>
            </a:endParaRPr>
          </a:p>
          <a:p>
            <a:pPr marL="1371600" lvl="7" indent="-457200">
              <a:buFont typeface="Courier New" panose="020B0604020202020204" pitchFamily="34" charset="0"/>
              <a:buChar char="o"/>
            </a:pPr>
            <a:r>
              <a:rPr lang="en-US" sz="2400">
                <a:latin typeface="Calisto MT"/>
                <a:cs typeface="Times New Roman"/>
              </a:rPr>
              <a:t>5 points for typed version</a:t>
            </a:r>
            <a:endParaRPr lang="en-US" sz="2400">
              <a:latin typeface="Calisto MT"/>
              <a:cs typeface="Times New Roman" panose="02020603050405020304" pitchFamily="18" charset="0"/>
            </a:endParaRPr>
          </a:p>
          <a:p>
            <a:pPr marL="457200" lvl="5" indent="-457200">
              <a:lnSpc>
                <a:spcPts val="2200"/>
              </a:lnSpc>
              <a:buFont typeface="Arial" panose="020B0604020202020204" pitchFamily="34" charset="0"/>
              <a:buChar char="•"/>
            </a:pPr>
            <a:endParaRPr lang="en-US" sz="2400">
              <a:latin typeface="Calisto MT"/>
              <a:cs typeface="Times New Roman" panose="02020603050405020304" pitchFamily="18" charset="0"/>
            </a:endParaRPr>
          </a:p>
          <a:p>
            <a:pPr lvl="5"/>
            <a:r>
              <a:rPr lang="en-US" sz="2400" b="1" u="sng">
                <a:latin typeface="Calisto MT"/>
                <a:cs typeface="Times New Roman"/>
              </a:rPr>
              <a:t>Wednesday, April 22 at 11:59pm:</a:t>
            </a:r>
          </a:p>
          <a:p>
            <a:pPr marL="342900" lvl="5" indent="-342900">
              <a:buFont typeface="Arial"/>
              <a:buChar char="•"/>
            </a:pPr>
            <a:r>
              <a:rPr lang="en-US" sz="2400">
                <a:latin typeface="Calisto MT"/>
                <a:cs typeface="Times New Roman"/>
              </a:rPr>
              <a:t> Achieve Chapter 12 Assignments	</a:t>
            </a:r>
            <a:endParaRPr lang="en-US" sz="2400" b="1">
              <a:latin typeface="Calisto MT"/>
              <a:cs typeface="Times New Roman"/>
            </a:endParaRPr>
          </a:p>
        </p:txBody>
      </p:sp>
      <p:sp>
        <p:nvSpPr>
          <p:cNvPr id="9" name="Google Shape;482;p59">
            <a:extLst>
              <a:ext uri="{FF2B5EF4-FFF2-40B4-BE49-F238E27FC236}">
                <a16:creationId xmlns:a16="http://schemas.microsoft.com/office/drawing/2014/main" id="{366F0915-8CAA-723D-1AFE-78DD495D7138}"/>
              </a:ext>
            </a:extLst>
          </p:cNvPr>
          <p:cNvSpPr txBox="1">
            <a:spLocks noGrp="1"/>
          </p:cNvSpPr>
          <p:nvPr>
            <p:ph type="ctrTitle"/>
          </p:nvPr>
        </p:nvSpPr>
        <p:spPr>
          <a:xfrm>
            <a:off x="2822530" y="268577"/>
            <a:ext cx="3498940" cy="77956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a:latin typeface="Calisto MT"/>
              </a:rPr>
              <a:t>Reminders</a:t>
            </a:r>
            <a:endParaRPr lang="en-US" sz="4800">
              <a:latin typeface="Calisto MT"/>
            </a:endParaRPr>
          </a:p>
        </p:txBody>
      </p:sp>
    </p:spTree>
    <p:extLst>
      <p:ext uri="{BB962C8B-B14F-4D97-AF65-F5344CB8AC3E}">
        <p14:creationId xmlns:p14="http://schemas.microsoft.com/office/powerpoint/2010/main" val="3038753050"/>
      </p:ext>
    </p:extLst>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2356</Words>
  <Application>Microsoft Macintosh PowerPoint</Application>
  <PresentationFormat>On-screen Show (16:9)</PresentationFormat>
  <Paragraphs>150</Paragraphs>
  <Slides>19</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Courier New</vt:lpstr>
      <vt:lpstr>Arial</vt:lpstr>
      <vt:lpstr>Calisto MT</vt:lpstr>
      <vt:lpstr>Vidaloka</vt:lpstr>
      <vt:lpstr>Bell MT</vt:lpstr>
      <vt:lpstr>Times New Roman</vt:lpstr>
      <vt:lpstr>Wingdings</vt:lpstr>
      <vt:lpstr>Cambria</vt:lpstr>
      <vt:lpstr>Montserrat</vt:lpstr>
      <vt:lpstr>Minimalist Business Slides XL by Slidesgo</vt:lpstr>
      <vt:lpstr>Behavior Modification Handout #3:  Presenting Data, Graphing Data, &amp; Analyzing Intervention</vt:lpstr>
      <vt:lpstr>Reminders</vt:lpstr>
      <vt:lpstr>Why Modify Our Behavior?</vt:lpstr>
      <vt:lpstr>So Far, You Have...</vt:lpstr>
      <vt:lpstr>So Far, You Have...</vt:lpstr>
      <vt:lpstr>Today, You Will...</vt:lpstr>
      <vt:lpstr>Question 1  </vt:lpstr>
      <vt:lpstr>Question 1a </vt:lpstr>
      <vt:lpstr>Question 1b </vt:lpstr>
      <vt:lpstr>Question 1c </vt:lpstr>
      <vt:lpstr>Question 2 </vt:lpstr>
      <vt:lpstr>Question 2a </vt:lpstr>
      <vt:lpstr>Question 2b </vt:lpstr>
      <vt:lpstr>Question 3 </vt:lpstr>
      <vt:lpstr>Question 3 </vt:lpstr>
      <vt:lpstr>How to Create a Graph in Excel: Desktop Version </vt:lpstr>
      <vt:lpstr>How to Create a Graph in Excel: Browser Version </vt:lpstr>
      <vt:lpstr>Questions? Confusion? Now is your time to get clarity!!</vt:lpstr>
      <vt:lpstr>Reminders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 Modification Written Assignment </dc:title>
  <cp:lastModifiedBy>University of Memphis PSYC 1030</cp:lastModifiedBy>
  <cp:revision>24</cp:revision>
  <cp:lastPrinted>2025-11-14T15:42:33Z</cp:lastPrinted>
  <dcterms:modified xsi:type="dcterms:W3CDTF">2026-04-18T17:27:38Z</dcterms:modified>
</cp:coreProperties>
</file>