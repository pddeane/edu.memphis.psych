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Lst>
  <p:notesMasterIdLst>
    <p:notesMasterId r:id="rId32"/>
  </p:notesMasterIdLst>
  <p:sldIdLst>
    <p:sldId id="256" r:id="rId2"/>
    <p:sldId id="259" r:id="rId3"/>
    <p:sldId id="285" r:id="rId4"/>
    <p:sldId id="286" r:id="rId5"/>
    <p:sldId id="260" r:id="rId6"/>
    <p:sldId id="261" r:id="rId7"/>
    <p:sldId id="262" r:id="rId8"/>
    <p:sldId id="263" r:id="rId9"/>
    <p:sldId id="264" r:id="rId10"/>
    <p:sldId id="265" r:id="rId11"/>
    <p:sldId id="266" r:id="rId12"/>
    <p:sldId id="267" r:id="rId13"/>
    <p:sldId id="287" r:id="rId14"/>
    <p:sldId id="268" r:id="rId15"/>
    <p:sldId id="269" r:id="rId16"/>
    <p:sldId id="270" r:id="rId17"/>
    <p:sldId id="271" r:id="rId18"/>
    <p:sldId id="272" r:id="rId19"/>
    <p:sldId id="273" r:id="rId20"/>
    <p:sldId id="274" r:id="rId21"/>
    <p:sldId id="275" r:id="rId22"/>
    <p:sldId id="284" r:id="rId23"/>
    <p:sldId id="277" r:id="rId24"/>
    <p:sldId id="278" r:id="rId25"/>
    <p:sldId id="279" r:id="rId26"/>
    <p:sldId id="280" r:id="rId27"/>
    <p:sldId id="281" r:id="rId28"/>
    <p:sldId id="288" r:id="rId29"/>
    <p:sldId id="289" r:id="rId30"/>
    <p:sldId id="257" r:id="rId31"/>
  </p:sldIdLst>
  <p:sldSz cx="9144000" cy="5143500" type="screen16x9"/>
  <p:notesSz cx="6858000" cy="9144000"/>
  <p:embeddedFontLst>
    <p:embeddedFont>
      <p:font typeface="Alexandria" pitchFamily="2" charset="-78"/>
      <p:regular r:id="rId33"/>
      <p:bold r:id="rId34"/>
    </p:embeddedFont>
    <p:embeddedFont>
      <p:font typeface="Alexandria Medium" pitchFamily="2" charset="-78"/>
      <p:regular r:id="rId35"/>
      <p:bold r:id="rId36"/>
    </p:embeddedFont>
    <p:embeddedFont>
      <p:font typeface="Assistant" pitchFamily="2" charset="-79"/>
      <p:regular r:id="rId37"/>
      <p:bold r:id="rId38"/>
    </p:embeddedFont>
    <p:embeddedFont>
      <p:font typeface="Open Sans" panose="020B060603050402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156"/>
    <p:restoredTop sz="93241"/>
  </p:normalViewPr>
  <p:slideViewPr>
    <p:cSldViewPr snapToGrid="0">
      <p:cViewPr>
        <p:scale>
          <a:sx n="111" d="100"/>
          <a:sy n="111" d="100"/>
        </p:scale>
        <p:origin x="792" y="68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d362d286f3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d362d286f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b="1" dirty="0"/>
              <a:t>“Ok… Let’s be clear from the start, we know that this slide set looks visually boring. Boring. For real, boring. Right? Lol. </a:t>
            </a:r>
          </a:p>
          <a:p>
            <a:pPr marL="0" lvl="0" indent="0" algn="l" rtl="0">
              <a:spcBef>
                <a:spcPts val="0"/>
              </a:spcBef>
              <a:spcAft>
                <a:spcPts val="0"/>
              </a:spcAft>
              <a:buNone/>
            </a:pPr>
            <a:endParaRPr lang="en-US" sz="1800" b="1" dirty="0"/>
          </a:p>
          <a:p>
            <a:pPr marL="0" lvl="0" indent="0" algn="l" rtl="0">
              <a:spcBef>
                <a:spcPts val="0"/>
              </a:spcBef>
              <a:spcAft>
                <a:spcPts val="0"/>
              </a:spcAft>
              <a:buNone/>
            </a:pPr>
            <a:r>
              <a:rPr lang="en-US" sz="1800" b="1" dirty="0"/>
              <a:t>We have done this on purpose. </a:t>
            </a:r>
          </a:p>
          <a:p>
            <a:pPr marL="0" lvl="0" indent="0" algn="l" rtl="0">
              <a:spcBef>
                <a:spcPts val="0"/>
              </a:spcBef>
              <a:spcAft>
                <a:spcPts val="0"/>
              </a:spcAft>
              <a:buNone/>
            </a:pPr>
            <a:endParaRPr lang="en-US" sz="1800" b="1" dirty="0"/>
          </a:p>
          <a:p>
            <a:pPr marL="0" lvl="0" indent="0" algn="l" rtl="0">
              <a:spcBef>
                <a:spcPts val="0"/>
              </a:spcBef>
              <a:spcAft>
                <a:spcPts val="0"/>
              </a:spcAft>
              <a:buNone/>
            </a:pPr>
            <a:r>
              <a:rPr lang="en-US" sz="1800" b="1" dirty="0"/>
              <a:t>Today, we are covering </a:t>
            </a:r>
            <a:r>
              <a:rPr lang="en-US" sz="1800" b="1" i="1" u="sng" dirty="0"/>
              <a:t>a lot</a:t>
            </a:r>
            <a:r>
              <a:rPr lang="en-US" sz="1800" b="1" i="0" u="none" dirty="0"/>
              <a:t> </a:t>
            </a:r>
            <a:r>
              <a:rPr lang="en-US" sz="1800" b="1" dirty="0"/>
              <a:t>of important information about your Behavior Modification Assignment Project.</a:t>
            </a:r>
          </a:p>
          <a:p>
            <a:pPr marL="0" lvl="0" indent="0" algn="l" rtl="0">
              <a:spcBef>
                <a:spcPts val="0"/>
              </a:spcBef>
              <a:spcAft>
                <a:spcPts val="0"/>
              </a:spcAft>
              <a:buNone/>
            </a:pPr>
            <a:endParaRPr lang="en-US" sz="1800" b="1" dirty="0"/>
          </a:p>
          <a:p>
            <a:pPr marL="0" lvl="0" indent="0" algn="l" rtl="0">
              <a:spcBef>
                <a:spcPts val="0"/>
              </a:spcBef>
              <a:spcAft>
                <a:spcPts val="0"/>
              </a:spcAft>
              <a:buNone/>
            </a:pPr>
            <a:r>
              <a:rPr lang="en-US" sz="1800" b="1" dirty="0"/>
              <a:t>We want to make sure that the content of this slide set is the headliner and that you do not get distracted by slide design. </a:t>
            </a:r>
          </a:p>
          <a:p>
            <a:pPr marL="0" lvl="0" indent="0" algn="l" rtl="0">
              <a:spcBef>
                <a:spcPts val="0"/>
              </a:spcBef>
              <a:spcAft>
                <a:spcPts val="0"/>
              </a:spcAft>
              <a:buNone/>
            </a:pPr>
            <a:endParaRPr lang="en-US" sz="1800" b="1" dirty="0"/>
          </a:p>
          <a:p>
            <a:pPr marL="0" lvl="0" indent="0" algn="l" rtl="0">
              <a:spcBef>
                <a:spcPts val="0"/>
              </a:spcBef>
              <a:spcAft>
                <a:spcPts val="0"/>
              </a:spcAft>
              <a:buNone/>
            </a:pPr>
            <a:r>
              <a:rPr lang="en-US" sz="1800" b="1" dirty="0"/>
              <a:t>So, bear with us. Stay engaged. Today, we are setting YOU up for success on one of your big Written Assignments for this course!</a:t>
            </a:r>
          </a:p>
          <a:p>
            <a:pPr marL="0" lvl="0" indent="0" algn="l" rtl="0">
              <a:spcBef>
                <a:spcPts val="0"/>
              </a:spcBef>
              <a:spcAft>
                <a:spcPts val="0"/>
              </a:spcAft>
              <a:buNone/>
            </a:pPr>
            <a:endParaRPr lang="en-US" sz="1800" b="1" dirty="0"/>
          </a:p>
          <a:p>
            <a:pPr marL="0" lvl="0" indent="0" algn="l" rtl="0">
              <a:spcBef>
                <a:spcPts val="0"/>
              </a:spcBef>
              <a:spcAft>
                <a:spcPts val="0"/>
              </a:spcAft>
              <a:buNone/>
            </a:pPr>
            <a:r>
              <a:rPr lang="en-US" sz="1800" b="1" dirty="0"/>
              <a:t>Ready? Let’s go!”</a:t>
            </a:r>
            <a:endParaRPr sz="1800" b="1"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7c2b8d8ea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7c2b8d8eac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800" b="1" dirty="0">
                <a:solidFill>
                  <a:schemeClr val="dk1"/>
                </a:solidFill>
              </a:rPr>
              <a:t>“ALL UofM students have access to the Microsoft Office Suite. </a:t>
            </a:r>
          </a:p>
          <a:p>
            <a:pPr marL="0" lvl="0" indent="0" algn="l" rtl="0">
              <a:lnSpc>
                <a:spcPct val="115000"/>
              </a:lnSpc>
              <a:spcBef>
                <a:spcPts val="0"/>
              </a:spcBef>
              <a:spcAft>
                <a:spcPts val="0"/>
              </a:spcAft>
              <a:buClr>
                <a:schemeClr val="dk1"/>
              </a:buClr>
              <a:buSzPts val="1100"/>
              <a:buFont typeface="Arial"/>
              <a:buNone/>
            </a:pPr>
            <a:endParaRPr lang="en" sz="18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800" b="1" dirty="0">
                <a:solidFill>
                  <a:schemeClr val="dk1"/>
                </a:solidFill>
              </a:rPr>
              <a:t>To access the Microsoft applications, including Word, open your Memphis email account, which is Microsoft Outlook.</a:t>
            </a:r>
            <a:endParaRPr sz="1800" b="1" dirty="0">
              <a:solidFill>
                <a:schemeClr val="dk1"/>
              </a:solidFill>
            </a:endParaRPr>
          </a:p>
          <a:p>
            <a:pPr marL="0" lvl="0" indent="0" algn="l" rtl="0">
              <a:lnSpc>
                <a:spcPct val="115000"/>
              </a:lnSpc>
              <a:spcBef>
                <a:spcPts val="0"/>
              </a:spcBef>
              <a:spcAft>
                <a:spcPts val="0"/>
              </a:spcAft>
              <a:buNone/>
            </a:pPr>
            <a:endParaRPr sz="1800" b="1" dirty="0">
              <a:solidFill>
                <a:schemeClr val="dk1"/>
              </a:solidFill>
            </a:endParaRPr>
          </a:p>
          <a:p>
            <a:pPr marL="0" lvl="0" indent="0" algn="l" rtl="0">
              <a:lnSpc>
                <a:spcPct val="115000"/>
              </a:lnSpc>
              <a:spcBef>
                <a:spcPts val="0"/>
              </a:spcBef>
              <a:spcAft>
                <a:spcPts val="0"/>
              </a:spcAft>
              <a:buNone/>
            </a:pPr>
            <a:r>
              <a:rPr lang="en" sz="1800" b="1" dirty="0">
                <a:solidFill>
                  <a:schemeClr val="dk1"/>
                </a:solidFill>
              </a:rPr>
              <a:t>In the top left corner of the window, you will see a 9-dotted square. Click on that. Now, you should see all of the Microsoft apps. </a:t>
            </a:r>
          </a:p>
          <a:p>
            <a:pPr marL="0" lvl="0" indent="0" algn="l" rtl="0">
              <a:lnSpc>
                <a:spcPct val="115000"/>
              </a:lnSpc>
              <a:spcBef>
                <a:spcPts val="0"/>
              </a:spcBef>
              <a:spcAft>
                <a:spcPts val="0"/>
              </a:spcAft>
              <a:buNone/>
            </a:pPr>
            <a:endParaRPr lang="en" sz="1800" b="1" dirty="0">
              <a:solidFill>
                <a:schemeClr val="dk1"/>
              </a:solidFill>
            </a:endParaRPr>
          </a:p>
          <a:p>
            <a:pPr marL="0" lvl="0" indent="0" algn="l" rtl="0">
              <a:lnSpc>
                <a:spcPct val="115000"/>
              </a:lnSpc>
              <a:spcBef>
                <a:spcPts val="0"/>
              </a:spcBef>
              <a:spcAft>
                <a:spcPts val="0"/>
              </a:spcAft>
              <a:buNone/>
            </a:pPr>
            <a:r>
              <a:rPr lang="en" sz="1800" b="1" dirty="0">
                <a:solidFill>
                  <a:schemeClr val="dk1"/>
                </a:solidFill>
              </a:rPr>
              <a:t>Next, click on Word. </a:t>
            </a:r>
          </a:p>
          <a:p>
            <a:pPr marL="0" lvl="0" indent="0" algn="l" rtl="0">
              <a:lnSpc>
                <a:spcPct val="115000"/>
              </a:lnSpc>
              <a:spcBef>
                <a:spcPts val="0"/>
              </a:spcBef>
              <a:spcAft>
                <a:spcPts val="0"/>
              </a:spcAft>
              <a:buNone/>
            </a:pPr>
            <a:endParaRPr lang="en" sz="1800" b="1" dirty="0">
              <a:solidFill>
                <a:schemeClr val="dk1"/>
              </a:solidFill>
            </a:endParaRPr>
          </a:p>
          <a:p>
            <a:pPr marL="0" lvl="0" indent="0" algn="l" rtl="0">
              <a:lnSpc>
                <a:spcPct val="115000"/>
              </a:lnSpc>
              <a:spcBef>
                <a:spcPts val="0"/>
              </a:spcBef>
              <a:spcAft>
                <a:spcPts val="0"/>
              </a:spcAft>
              <a:buNone/>
            </a:pPr>
            <a:r>
              <a:rPr lang="en" sz="1800" b="1" dirty="0">
                <a:solidFill>
                  <a:schemeClr val="dk1"/>
                </a:solidFill>
              </a:rPr>
              <a:t>If you have any questions about Word’s functioning, you can reach out with questions, OR you can search Google for video tutorials.”</a:t>
            </a:r>
            <a:endParaRPr b="1"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sz="1800" dirty="0"/>
              <a:t>Read slide. </a:t>
            </a:r>
          </a:p>
        </p:txBody>
      </p:sp>
    </p:spTree>
    <p:extLst>
      <p:ext uri="{BB962C8B-B14F-4D97-AF65-F5344CB8AC3E}">
        <p14:creationId xmlns:p14="http://schemas.microsoft.com/office/powerpoint/2010/main" val="925961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1D233-DB36-8DF2-BADD-F77FD71442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6D2365-34A2-27D8-1A12-B945F9F625D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3B655FE-09EA-C412-EF23-06D4916AC989}"/>
              </a:ext>
            </a:extLst>
          </p:cNvPr>
          <p:cNvSpPr>
            <a:spLocks noGrp="1"/>
          </p:cNvSpPr>
          <p:nvPr>
            <p:ph type="body" idx="1"/>
          </p:nvPr>
        </p:nvSpPr>
        <p:spPr/>
        <p:txBody>
          <a:bodyPr/>
          <a:lstStyle/>
          <a:p>
            <a:pPr marL="158750" indent="0">
              <a:buNone/>
            </a:pPr>
            <a:r>
              <a:rPr lang="en-US" sz="1800" dirty="0"/>
              <a:t>Read slide. </a:t>
            </a:r>
          </a:p>
        </p:txBody>
      </p:sp>
    </p:spTree>
    <p:extLst>
      <p:ext uri="{BB962C8B-B14F-4D97-AF65-F5344CB8AC3E}">
        <p14:creationId xmlns:p14="http://schemas.microsoft.com/office/powerpoint/2010/main" val="541772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d362d286f3_1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d362d286f3_1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a:t>Read slide.</a:t>
            </a:r>
            <a:endParaRPr sz="18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50825273a4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50825273a4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t>* TAs/LAs: It is very important that students understand that their behavior MUST be from this list! “ Please go around and check when we give them time to work on their handout. *</a:t>
            </a:r>
            <a:endParaRPr sz="1600" dirty="0"/>
          </a:p>
          <a:p>
            <a:pPr marL="0" lvl="0" indent="0" algn="l" rtl="0">
              <a:spcBef>
                <a:spcPts val="0"/>
              </a:spcBef>
              <a:spcAft>
                <a:spcPts val="0"/>
              </a:spcAft>
              <a:buNone/>
            </a:pPr>
            <a:endParaRPr dirty="0"/>
          </a:p>
          <a:p>
            <a:pPr marL="0" lvl="0" indent="0" algn="l" rtl="0">
              <a:lnSpc>
                <a:spcPct val="115000"/>
              </a:lnSpc>
              <a:spcBef>
                <a:spcPts val="0"/>
              </a:spcBef>
              <a:spcAft>
                <a:spcPts val="0"/>
              </a:spcAft>
              <a:buClr>
                <a:schemeClr val="dk1"/>
              </a:buClr>
              <a:buSzPts val="1100"/>
              <a:buFont typeface="Arial"/>
              <a:buNone/>
            </a:pPr>
            <a:r>
              <a:rPr lang="en" sz="1800" b="1" dirty="0">
                <a:solidFill>
                  <a:schemeClr val="dk1"/>
                </a:solidFill>
                <a:latin typeface="Times New Roman"/>
                <a:ea typeface="Times New Roman"/>
                <a:cs typeface="Times New Roman"/>
                <a:sym typeface="Times New Roman"/>
              </a:rPr>
              <a:t>"Remember, You </a:t>
            </a:r>
            <a:r>
              <a:rPr lang="en" sz="1800" b="1" u="sng" dirty="0">
                <a:solidFill>
                  <a:schemeClr val="dk1"/>
                </a:solidFill>
                <a:latin typeface="Times New Roman"/>
                <a:ea typeface="Times New Roman"/>
                <a:cs typeface="Times New Roman"/>
                <a:sym typeface="Times New Roman"/>
              </a:rPr>
              <a:t>MUST</a:t>
            </a:r>
            <a:r>
              <a:rPr lang="en" sz="1800" b="1" dirty="0">
                <a:solidFill>
                  <a:schemeClr val="dk1"/>
                </a:solidFill>
                <a:latin typeface="Times New Roman"/>
                <a:ea typeface="Times New Roman"/>
                <a:cs typeface="Times New Roman"/>
                <a:sym typeface="Times New Roman"/>
              </a:rPr>
              <a:t> choose one of the four behaviors listed below to modify:</a:t>
            </a:r>
          </a:p>
          <a:p>
            <a:pPr marL="0" lvl="0" indent="0" algn="l" rtl="0">
              <a:lnSpc>
                <a:spcPct val="115000"/>
              </a:lnSpc>
              <a:spcBef>
                <a:spcPts val="0"/>
              </a:spcBef>
              <a:spcAft>
                <a:spcPts val="0"/>
              </a:spcAft>
              <a:buClr>
                <a:schemeClr val="dk1"/>
              </a:buClr>
              <a:buSzPts val="1100"/>
              <a:buFont typeface="Arial"/>
              <a:buNone/>
            </a:pPr>
            <a:endParaRPr sz="1800" b="1"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b="1" dirty="0">
                <a:solidFill>
                  <a:schemeClr val="dk1"/>
                </a:solidFill>
              </a:rPr>
              <a:t>●</a:t>
            </a:r>
            <a:r>
              <a:rPr lang="en" sz="1800" b="1" dirty="0">
                <a:solidFill>
                  <a:schemeClr val="dk1"/>
                </a:solidFill>
                <a:latin typeface="Times New Roman"/>
                <a:ea typeface="Times New Roman"/>
                <a:cs typeface="Times New Roman"/>
                <a:sym typeface="Times New Roman"/>
              </a:rPr>
              <a:t>Lack of sleep</a:t>
            </a:r>
            <a:endParaRPr sz="1800" b="1"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b="1" dirty="0">
                <a:solidFill>
                  <a:schemeClr val="dk1"/>
                </a:solidFill>
              </a:rPr>
              <a:t>●</a:t>
            </a:r>
            <a:r>
              <a:rPr lang="en" sz="1800" b="1" dirty="0">
                <a:solidFill>
                  <a:schemeClr val="dk1"/>
                </a:solidFill>
                <a:latin typeface="Times New Roman"/>
                <a:ea typeface="Times New Roman"/>
                <a:cs typeface="Times New Roman"/>
                <a:sym typeface="Times New Roman"/>
              </a:rPr>
              <a:t>Lack of exercise</a:t>
            </a:r>
            <a:endParaRPr sz="1800" b="1"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b="1" dirty="0">
                <a:solidFill>
                  <a:schemeClr val="dk1"/>
                </a:solidFill>
              </a:rPr>
              <a:t>●</a:t>
            </a:r>
            <a:r>
              <a:rPr lang="en" sz="1800" b="1" dirty="0">
                <a:solidFill>
                  <a:schemeClr val="dk1"/>
                </a:solidFill>
                <a:latin typeface="Times New Roman"/>
                <a:ea typeface="Times New Roman"/>
                <a:cs typeface="Times New Roman"/>
                <a:sym typeface="Times New Roman"/>
              </a:rPr>
              <a:t>Insufficient consumption of fruits and vegetables</a:t>
            </a:r>
            <a:endParaRPr sz="1800" b="1"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b="1" dirty="0">
                <a:solidFill>
                  <a:schemeClr val="dk1"/>
                </a:solidFill>
              </a:rPr>
              <a:t>●</a:t>
            </a:r>
            <a:r>
              <a:rPr lang="en" sz="1800" b="1" dirty="0">
                <a:solidFill>
                  <a:schemeClr val="dk1"/>
                </a:solidFill>
                <a:latin typeface="Times New Roman"/>
                <a:ea typeface="Times New Roman"/>
                <a:cs typeface="Times New Roman"/>
                <a:sym typeface="Times New Roman"/>
              </a:rPr>
              <a:t>Spending too much time on electronic devices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50825273a4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250825273a4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800" b="1" dirty="0">
                <a:solidFill>
                  <a:schemeClr val="dk1"/>
                </a:solidFill>
              </a:rPr>
              <a:t>	“Let’s get started on the Handout.</a:t>
            </a:r>
          </a:p>
          <a:p>
            <a:pPr marL="0" lvl="0" indent="0" algn="l" rtl="0">
              <a:lnSpc>
                <a:spcPct val="115000"/>
              </a:lnSpc>
              <a:spcBef>
                <a:spcPts val="0"/>
              </a:spcBef>
              <a:spcAft>
                <a:spcPts val="0"/>
              </a:spcAft>
              <a:buClr>
                <a:schemeClr val="dk1"/>
              </a:buClr>
              <a:buSzPts val="1100"/>
              <a:buFont typeface="Arial"/>
              <a:buNone/>
            </a:pPr>
            <a:endParaRPr lang="en" sz="18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800" b="1" dirty="0">
                <a:solidFill>
                  <a:schemeClr val="dk1"/>
                </a:solidFill>
              </a:rPr>
              <a:t>	First, YOU are asked to define your UNWANTED TARGET BEHAVIOR.</a:t>
            </a:r>
          </a:p>
          <a:p>
            <a:pPr marL="406400" lvl="0" indent="0" algn="l" rtl="0">
              <a:lnSpc>
                <a:spcPct val="115000"/>
              </a:lnSpc>
              <a:spcBef>
                <a:spcPts val="0"/>
              </a:spcBef>
              <a:spcAft>
                <a:spcPts val="0"/>
              </a:spcAft>
              <a:buClr>
                <a:schemeClr val="dk1"/>
              </a:buClr>
              <a:buSzPts val="1100"/>
              <a:buFont typeface="Arial"/>
              <a:buNone/>
            </a:pPr>
            <a:endParaRPr lang="en" sz="1800" b="1" dirty="0">
              <a:solidFill>
                <a:schemeClr val="dk1"/>
              </a:solidFill>
              <a:latin typeface="Arial"/>
              <a:ea typeface="Times New Roman"/>
              <a:cs typeface="Arial"/>
              <a:sym typeface="Arial"/>
            </a:endParaRPr>
          </a:p>
          <a:p>
            <a:pPr marL="406400" lvl="0" indent="0" algn="l" rtl="0">
              <a:lnSpc>
                <a:spcPct val="115000"/>
              </a:lnSpc>
              <a:spcBef>
                <a:spcPts val="0"/>
              </a:spcBef>
              <a:spcAft>
                <a:spcPts val="0"/>
              </a:spcAft>
              <a:buClr>
                <a:schemeClr val="dk1"/>
              </a:buClr>
              <a:buSzPts val="1100"/>
              <a:buFont typeface="Arial"/>
              <a:buNone/>
            </a:pPr>
            <a:r>
              <a:rPr lang="en" sz="1800" b="1" dirty="0">
                <a:solidFill>
                  <a:schemeClr val="dk1"/>
                </a:solidFill>
                <a:latin typeface="Times New Roman"/>
                <a:ea typeface="Times New Roman"/>
                <a:cs typeface="Times New Roman"/>
                <a:sym typeface="Times New Roman"/>
              </a:rPr>
              <a:t>You are also asked to explain WHY you chose this particular </a:t>
            </a:r>
            <a:r>
              <a:rPr lang="en" sz="1800" b="1" u="sng" dirty="0">
                <a:solidFill>
                  <a:schemeClr val="dk1"/>
                </a:solidFill>
                <a:latin typeface="Times New Roman"/>
                <a:ea typeface="Times New Roman"/>
                <a:cs typeface="Times New Roman"/>
                <a:sym typeface="Times New Roman"/>
              </a:rPr>
              <a:t>unwanted target behavior</a:t>
            </a:r>
            <a:r>
              <a:rPr lang="en" sz="1800" b="1" dirty="0">
                <a:solidFill>
                  <a:schemeClr val="dk1"/>
                </a:solidFill>
                <a:latin typeface="Times New Roman"/>
                <a:ea typeface="Times New Roman"/>
                <a:cs typeface="Times New Roman"/>
                <a:sym typeface="Times New Roman"/>
              </a:rPr>
              <a:t> for intervention.</a:t>
            </a:r>
          </a:p>
          <a:p>
            <a:pPr marL="406400" lvl="0" indent="0" algn="l" rtl="0">
              <a:lnSpc>
                <a:spcPct val="115000"/>
              </a:lnSpc>
              <a:spcBef>
                <a:spcPts val="0"/>
              </a:spcBef>
              <a:spcAft>
                <a:spcPts val="0"/>
              </a:spcAft>
              <a:buClr>
                <a:schemeClr val="dk1"/>
              </a:buClr>
              <a:buSzPts val="1100"/>
              <a:buFont typeface="Arial"/>
              <a:buNone/>
            </a:pPr>
            <a:endParaRPr sz="1800" b="1" dirty="0">
              <a:solidFill>
                <a:schemeClr val="dk1"/>
              </a:solidFill>
              <a:latin typeface="Times New Roman"/>
              <a:ea typeface="Times New Roman"/>
              <a:cs typeface="Times New Roman"/>
              <a:sym typeface="Times New Roman"/>
            </a:endParaRPr>
          </a:p>
          <a:p>
            <a:pPr marL="406400" lvl="0" indent="0" algn="l" rtl="0">
              <a:lnSpc>
                <a:spcPct val="115000"/>
              </a:lnSpc>
              <a:spcBef>
                <a:spcPts val="0"/>
              </a:spcBef>
              <a:spcAft>
                <a:spcPts val="0"/>
              </a:spcAft>
              <a:buClr>
                <a:schemeClr val="dk1"/>
              </a:buClr>
              <a:buSzPts val="1100"/>
              <a:buFont typeface="Arial"/>
              <a:buNone/>
            </a:pPr>
            <a:r>
              <a:rPr lang="en" sz="1800" b="1" dirty="0">
                <a:solidFill>
                  <a:schemeClr val="dk1"/>
                </a:solidFill>
                <a:latin typeface="Times New Roman"/>
                <a:ea typeface="Times New Roman"/>
                <a:cs typeface="Times New Roman"/>
                <a:sym typeface="Times New Roman"/>
              </a:rPr>
              <a:t>You must have 1 sentence describing your </a:t>
            </a:r>
            <a:r>
              <a:rPr lang="en" sz="1800" b="1" u="sng" dirty="0">
                <a:solidFill>
                  <a:schemeClr val="dk1"/>
                </a:solidFill>
                <a:latin typeface="Times New Roman"/>
                <a:ea typeface="Times New Roman"/>
                <a:cs typeface="Times New Roman"/>
                <a:sym typeface="Times New Roman"/>
              </a:rPr>
              <a:t>unwanted target behavior</a:t>
            </a:r>
            <a:r>
              <a:rPr lang="en" sz="1800" b="1" dirty="0">
                <a:solidFill>
                  <a:schemeClr val="dk1"/>
                </a:solidFill>
                <a:latin typeface="Times New Roman"/>
                <a:ea typeface="Times New Roman"/>
                <a:cs typeface="Times New Roman"/>
                <a:sym typeface="Times New Roman"/>
              </a:rPr>
              <a:t> and at least 3 sentences explaining </a:t>
            </a:r>
            <a:r>
              <a:rPr lang="en" sz="1800" b="1" i="1" dirty="0">
                <a:solidFill>
                  <a:schemeClr val="dk1"/>
                </a:solidFill>
                <a:latin typeface="Times New Roman"/>
                <a:ea typeface="Times New Roman"/>
                <a:cs typeface="Times New Roman"/>
                <a:sym typeface="Times New Roman"/>
              </a:rPr>
              <a:t>WHY</a:t>
            </a:r>
            <a:r>
              <a:rPr lang="en" sz="1800" b="1" dirty="0">
                <a:solidFill>
                  <a:schemeClr val="dk1"/>
                </a:solidFill>
                <a:latin typeface="Times New Roman"/>
                <a:ea typeface="Times New Roman"/>
                <a:cs typeface="Times New Roman"/>
                <a:sym typeface="Times New Roman"/>
              </a:rPr>
              <a:t> you chose to change this particular behavior.</a:t>
            </a:r>
          </a:p>
          <a:p>
            <a:pPr marL="406400" lvl="0" indent="0" algn="l" rtl="0">
              <a:lnSpc>
                <a:spcPct val="115000"/>
              </a:lnSpc>
              <a:spcBef>
                <a:spcPts val="0"/>
              </a:spcBef>
              <a:spcAft>
                <a:spcPts val="0"/>
              </a:spcAft>
              <a:buClr>
                <a:schemeClr val="dk1"/>
              </a:buClr>
              <a:buSzPts val="1100"/>
              <a:buFont typeface="Arial"/>
              <a:buNone/>
            </a:pPr>
            <a:endParaRPr sz="1800" b="1" dirty="0">
              <a:solidFill>
                <a:schemeClr val="dk1"/>
              </a:solidFill>
              <a:latin typeface="Times New Roman"/>
              <a:ea typeface="Times New Roman"/>
              <a:cs typeface="Times New Roman"/>
              <a:sym typeface="Times New Roman"/>
            </a:endParaRPr>
          </a:p>
          <a:p>
            <a:pPr marL="406400" lvl="0" indent="0" algn="l" rtl="0">
              <a:lnSpc>
                <a:spcPct val="115000"/>
              </a:lnSpc>
              <a:spcBef>
                <a:spcPts val="0"/>
              </a:spcBef>
              <a:spcAft>
                <a:spcPts val="0"/>
              </a:spcAft>
              <a:buClr>
                <a:schemeClr val="dk1"/>
              </a:buClr>
              <a:buSzPts val="1100"/>
              <a:buFont typeface="Arial"/>
              <a:buNone/>
            </a:pPr>
            <a:r>
              <a:rPr lang="en" sz="1800" b="1" dirty="0">
                <a:solidFill>
                  <a:schemeClr val="dk1"/>
                </a:solidFill>
                <a:latin typeface="Times New Roman"/>
                <a:ea typeface="Times New Roman"/>
                <a:cs typeface="Times New Roman"/>
                <a:sym typeface="Times New Roman"/>
              </a:rPr>
              <a:t>This may include the fact that you experience specific detrimental symptoms when you engage in your </a:t>
            </a:r>
            <a:r>
              <a:rPr lang="en" sz="1800" b="1" u="sng" dirty="0">
                <a:solidFill>
                  <a:schemeClr val="dk1"/>
                </a:solidFill>
                <a:latin typeface="Times New Roman"/>
                <a:ea typeface="Times New Roman"/>
                <a:cs typeface="Times New Roman"/>
                <a:sym typeface="Times New Roman"/>
              </a:rPr>
              <a:t>unwanted target behavior</a:t>
            </a:r>
            <a:r>
              <a:rPr lang="en" sz="1800" b="1" dirty="0">
                <a:solidFill>
                  <a:schemeClr val="dk1"/>
                </a:solidFill>
                <a:latin typeface="Times New Roman"/>
                <a:ea typeface="Times New Roman"/>
                <a:cs typeface="Times New Roman"/>
                <a:sym typeface="Times New Roman"/>
              </a:rPr>
              <a:t> and/or health issues that can arise from continuing your behavior, etc.” </a:t>
            </a:r>
            <a:endParaRPr sz="1800" b="1"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50825273a4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250825273a4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a:latin typeface="+mj-lt"/>
              </a:rPr>
              <a:t>“In order to help you apply the concepts we are learning today to your own Behavior Modification Project, we are goi</a:t>
            </a:r>
            <a:r>
              <a:rPr lang="en-US" sz="1800" b="1" dirty="0">
                <a:latin typeface="+mj-lt"/>
              </a:rPr>
              <a:t>ng</a:t>
            </a:r>
            <a:r>
              <a:rPr lang="en" sz="1800" b="1" dirty="0">
                <a:latin typeface="+mj-lt"/>
              </a:rPr>
              <a:t> to answer each of the questions today using an example </a:t>
            </a:r>
            <a:r>
              <a:rPr lang="en" sz="1800" b="1" dirty="0" err="1">
                <a:latin typeface="+mj-lt"/>
              </a:rPr>
              <a:t>unw</a:t>
            </a:r>
            <a:r>
              <a:rPr lang="en-US" sz="1800" b="1" dirty="0">
                <a:latin typeface="+mj-lt"/>
              </a:rPr>
              <a:t>an</a:t>
            </a:r>
            <a:r>
              <a:rPr lang="en" sz="1800" b="1" dirty="0">
                <a:latin typeface="+mj-lt"/>
              </a:rPr>
              <a:t>ted target behavior - </a:t>
            </a:r>
            <a:r>
              <a:rPr lang="en-US" sz="1800" b="1" dirty="0">
                <a:solidFill>
                  <a:schemeClr val="dk1"/>
                </a:solidFill>
                <a:latin typeface="+mj-lt"/>
                <a:ea typeface="Times New Roman"/>
                <a:cs typeface="Times New Roman"/>
                <a:sym typeface="Times New Roman"/>
              </a:rPr>
              <a:t>not drinking enough water, as this is a common example of a potential unwanted target behavior.” </a:t>
            </a:r>
          </a:p>
          <a:p>
            <a:pPr marL="0" lvl="0" indent="0" algn="l" rtl="0">
              <a:lnSpc>
                <a:spcPct val="115000"/>
              </a:lnSpc>
              <a:spcBef>
                <a:spcPts val="0"/>
              </a:spcBef>
              <a:spcAft>
                <a:spcPts val="0"/>
              </a:spcAft>
              <a:buClr>
                <a:schemeClr val="dk1"/>
              </a:buClr>
              <a:buSzPts val="1100"/>
              <a:buFont typeface="Arial"/>
              <a:buNone/>
            </a:pPr>
            <a:endParaRPr lang="en-US" sz="1800" b="1" dirty="0">
              <a:solidFill>
                <a:schemeClr val="dk1"/>
              </a:solidFill>
              <a:latin typeface="+mj-lt"/>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1800" b="1" dirty="0">
                <a:solidFill>
                  <a:schemeClr val="dk1"/>
                </a:solidFill>
                <a:latin typeface="+mj-lt"/>
                <a:ea typeface="Times New Roman"/>
                <a:cs typeface="Times New Roman"/>
                <a:sym typeface="Times New Roman"/>
              </a:rPr>
              <a:t>YOU </a:t>
            </a:r>
            <a:r>
              <a:rPr lang="en-US" sz="1800" b="1" u="sng" dirty="0">
                <a:solidFill>
                  <a:schemeClr val="dk1"/>
                </a:solidFill>
                <a:latin typeface="+mj-lt"/>
                <a:ea typeface="Times New Roman"/>
                <a:cs typeface="Times New Roman"/>
                <a:sym typeface="Times New Roman"/>
              </a:rPr>
              <a:t>CANNOT</a:t>
            </a:r>
            <a:r>
              <a:rPr lang="en-US" sz="1800" b="1" dirty="0">
                <a:solidFill>
                  <a:schemeClr val="dk1"/>
                </a:solidFill>
                <a:latin typeface="+mj-lt"/>
                <a:ea typeface="Times New Roman"/>
                <a:cs typeface="Times New Roman"/>
                <a:sym typeface="Times New Roman"/>
              </a:rPr>
              <a:t> choose “not drinking enough water” as YOUR unwanted target behavior. If you do, you will have to redo your Handout, and we really don’t want that. Do we?”</a:t>
            </a:r>
          </a:p>
          <a:p>
            <a:pPr marL="0" lvl="0" indent="0" algn="l" rtl="0">
              <a:spcBef>
                <a:spcPts val="0"/>
              </a:spcBef>
              <a:spcAft>
                <a:spcPts val="0"/>
              </a:spcAft>
              <a:buNone/>
            </a:pPr>
            <a:endParaRPr lang="en" sz="1800" dirty="0"/>
          </a:p>
          <a:p>
            <a:pPr marL="0" lvl="0" indent="0" algn="l" rtl="0">
              <a:spcBef>
                <a:spcPts val="0"/>
              </a:spcBef>
              <a:spcAft>
                <a:spcPts val="0"/>
              </a:spcAft>
              <a:buNone/>
            </a:pPr>
            <a:r>
              <a:rPr lang="en" sz="1800" dirty="0"/>
              <a:t>Read slide. </a:t>
            </a:r>
          </a:p>
          <a:p>
            <a:pPr marL="0" lvl="0" indent="0" algn="l" rtl="0">
              <a:spcBef>
                <a:spcPts val="0"/>
              </a:spcBef>
              <a:spcAft>
                <a:spcPts val="0"/>
              </a:spcAft>
              <a:buNone/>
            </a:pPr>
            <a:endParaRPr lang="en" sz="1800" dirty="0"/>
          </a:p>
          <a:p>
            <a:pPr marL="0" lvl="0" indent="0" algn="l" rtl="0">
              <a:spcBef>
                <a:spcPts val="0"/>
              </a:spcBef>
              <a:spcAft>
                <a:spcPts val="0"/>
              </a:spcAft>
              <a:buNone/>
            </a:pPr>
            <a:r>
              <a:rPr lang="en" sz="1800" b="1" dirty="0"/>
              <a:t>“As a reminder, You</a:t>
            </a:r>
            <a:r>
              <a:rPr lang="en" sz="1800" b="1" u="none" dirty="0"/>
              <a:t> </a:t>
            </a:r>
            <a:r>
              <a:rPr lang="en" sz="1800" b="1" u="sng" dirty="0"/>
              <a:t>CANNOT</a:t>
            </a:r>
            <a:r>
              <a:rPr lang="en" sz="1800" b="1" u="none" dirty="0"/>
              <a:t> </a:t>
            </a:r>
            <a:r>
              <a:rPr lang="en" sz="1800" b="1" dirty="0"/>
              <a:t>use ”not drinking enough water” as your unwanted target behavior!! </a:t>
            </a:r>
          </a:p>
          <a:p>
            <a:pPr marL="0" lvl="0" indent="0" algn="l" rtl="0">
              <a:spcBef>
                <a:spcPts val="0"/>
              </a:spcBef>
              <a:spcAft>
                <a:spcPts val="0"/>
              </a:spcAft>
              <a:buNone/>
            </a:pPr>
            <a:endParaRPr lang="en" sz="1800" b="1" dirty="0"/>
          </a:p>
          <a:p>
            <a:pPr marL="0" lvl="0" indent="0" algn="l" rtl="0">
              <a:spcBef>
                <a:spcPts val="0"/>
              </a:spcBef>
              <a:spcAft>
                <a:spcPts val="0"/>
              </a:spcAft>
              <a:buNone/>
            </a:pPr>
            <a:r>
              <a:rPr lang="en" sz="1800" b="1" dirty="0"/>
              <a:t>Raise your hand if you understand this?”</a:t>
            </a:r>
            <a:endParaRPr sz="1800" b="1"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50825273a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50825273a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800" b="1" dirty="0">
                <a:solidFill>
                  <a:schemeClr val="dk1"/>
                </a:solidFill>
                <a:latin typeface="+mj-lt"/>
              </a:rPr>
              <a:t>“Next, YOU are asked to define your WANTED GOAL BEHAVIOR that you hope to strengthen by the end of the intervention. </a:t>
            </a:r>
          </a:p>
          <a:p>
            <a:pPr marL="0" lvl="0" indent="0" algn="l" rtl="0">
              <a:lnSpc>
                <a:spcPct val="115000"/>
              </a:lnSpc>
              <a:spcBef>
                <a:spcPts val="0"/>
              </a:spcBef>
              <a:spcAft>
                <a:spcPts val="0"/>
              </a:spcAft>
              <a:buClr>
                <a:schemeClr val="dk1"/>
              </a:buClr>
              <a:buSzPts val="1100"/>
              <a:buFont typeface="Arial"/>
              <a:buNone/>
            </a:pPr>
            <a:endParaRPr lang="en" sz="1800" b="1" dirty="0">
              <a:solidFill>
                <a:schemeClr val="dk1"/>
              </a:solidFill>
              <a:latin typeface="+mj-lt"/>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800" b="1" dirty="0">
                <a:solidFill>
                  <a:schemeClr val="dk1"/>
                </a:solidFill>
                <a:latin typeface="+mj-lt"/>
                <a:ea typeface="Times New Roman"/>
                <a:cs typeface="Times New Roman"/>
                <a:sym typeface="Times New Roman"/>
              </a:rPr>
              <a:t>You are also asked to explain WHY you chose this particular </a:t>
            </a:r>
            <a:r>
              <a:rPr lang="en" sz="1800" b="1" u="sng" dirty="0">
                <a:solidFill>
                  <a:schemeClr val="dk1"/>
                </a:solidFill>
                <a:latin typeface="+mj-lt"/>
                <a:ea typeface="Times New Roman"/>
                <a:cs typeface="Times New Roman"/>
                <a:sym typeface="Times New Roman"/>
              </a:rPr>
              <a:t>wanted goal behavior</a:t>
            </a:r>
            <a:r>
              <a:rPr lang="en" sz="1800" b="1" dirty="0">
                <a:solidFill>
                  <a:schemeClr val="dk1"/>
                </a:solidFill>
                <a:latin typeface="+mj-lt"/>
                <a:ea typeface="Times New Roman"/>
                <a:cs typeface="Times New Roman"/>
                <a:sym typeface="Times New Roman"/>
              </a:rPr>
              <a:t>.</a:t>
            </a:r>
          </a:p>
          <a:p>
            <a:pPr marL="0" lvl="0" indent="0" algn="l" rtl="0">
              <a:lnSpc>
                <a:spcPct val="115000"/>
              </a:lnSpc>
              <a:spcBef>
                <a:spcPts val="0"/>
              </a:spcBef>
              <a:spcAft>
                <a:spcPts val="0"/>
              </a:spcAft>
              <a:buClr>
                <a:schemeClr val="dk1"/>
              </a:buClr>
              <a:buSzPts val="1100"/>
              <a:buFont typeface="Arial"/>
              <a:buNone/>
            </a:pPr>
            <a:endParaRPr lang="en" sz="1800" b="1" dirty="0">
              <a:solidFill>
                <a:schemeClr val="dk1"/>
              </a:solidFill>
              <a:latin typeface="+mj-lt"/>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chemeClr val="dk1"/>
              </a:buClr>
              <a:buSzPts val="1100"/>
              <a:buFont typeface="Arial"/>
              <a:buNone/>
              <a:tabLst/>
              <a:defRPr/>
            </a:pPr>
            <a:r>
              <a:rPr lang="en-US" sz="1800" b="1" i="0" u="none" strike="noStrike" cap="none" dirty="0">
                <a:solidFill>
                  <a:schemeClr val="dk1"/>
                </a:solidFill>
                <a:latin typeface="Arial"/>
                <a:ea typeface="Times New Roman"/>
                <a:cs typeface="Times New Roman"/>
                <a:sym typeface="Times New Roman"/>
              </a:rPr>
              <a:t>You must have 1 sentence describing your </a:t>
            </a:r>
            <a:r>
              <a:rPr lang="en-US" sz="1800" b="1" i="0" u="sng" strike="noStrike" cap="none" dirty="0">
                <a:solidFill>
                  <a:schemeClr val="dk1"/>
                </a:solidFill>
                <a:latin typeface="Arial"/>
                <a:ea typeface="Times New Roman"/>
                <a:cs typeface="Times New Roman"/>
                <a:sym typeface="Times New Roman"/>
              </a:rPr>
              <a:t>wanted goal behavior</a:t>
            </a:r>
            <a:r>
              <a:rPr lang="en-US" sz="1800" b="1" i="0" u="none" strike="noStrike" cap="none" dirty="0">
                <a:solidFill>
                  <a:schemeClr val="dk1"/>
                </a:solidFill>
                <a:latin typeface="Arial"/>
                <a:ea typeface="Times New Roman"/>
                <a:cs typeface="Times New Roman"/>
                <a:sym typeface="Times New Roman"/>
              </a:rPr>
              <a:t> and at least 3 sentences explaining </a:t>
            </a:r>
            <a:r>
              <a:rPr lang="en-US" sz="1800" b="1" i="1" u="none" strike="noStrike" cap="none" dirty="0">
                <a:solidFill>
                  <a:schemeClr val="dk1"/>
                </a:solidFill>
                <a:latin typeface="Arial"/>
                <a:ea typeface="Times New Roman"/>
                <a:cs typeface="Times New Roman"/>
                <a:sym typeface="Times New Roman"/>
              </a:rPr>
              <a:t>why</a:t>
            </a:r>
            <a:r>
              <a:rPr lang="en-US" sz="1800" b="1" i="0" u="none" strike="noStrike" cap="none" dirty="0">
                <a:solidFill>
                  <a:schemeClr val="dk1"/>
                </a:solidFill>
                <a:latin typeface="Arial"/>
                <a:ea typeface="Times New Roman"/>
                <a:cs typeface="Times New Roman"/>
                <a:sym typeface="Times New Roman"/>
              </a:rPr>
              <a:t> YOU chose to strengthen this particular goal behavior.”</a:t>
            </a:r>
            <a:endParaRPr lang="en-US" sz="1100" b="1" i="0" u="none" strike="noStrike" cap="none" dirty="0">
              <a:solidFill>
                <a:srgbClr val="000000"/>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lang="en" sz="1800" b="1" dirty="0">
              <a:solidFill>
                <a:schemeClr val="dk1"/>
              </a:solidFill>
              <a:latin typeface="+mj-lt"/>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7c2b8d8eac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7c2b8d8eac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a:t>“Here is an example response for the second question, if our Wanted Goal </a:t>
            </a:r>
            <a:r>
              <a:rPr lang="en-US" sz="1800" b="1" dirty="0"/>
              <a:t>Behavior </a:t>
            </a:r>
            <a:r>
              <a:rPr lang="en" sz="1800" b="1" dirty="0"/>
              <a:t>was drinking more water (at least 32 oz per day).</a:t>
            </a:r>
          </a:p>
          <a:p>
            <a:pPr marL="0" lvl="0" indent="0" algn="l" rtl="0">
              <a:spcBef>
                <a:spcPts val="0"/>
              </a:spcBef>
              <a:spcAft>
                <a:spcPts val="0"/>
              </a:spcAft>
              <a:buNone/>
            </a:pPr>
            <a:endParaRPr lang="en-US" sz="1800" b="1" dirty="0"/>
          </a:p>
          <a:p>
            <a:pPr marL="0" lvl="0" indent="0" algn="l" rtl="0">
              <a:spcBef>
                <a:spcPts val="0"/>
              </a:spcBef>
              <a:spcAft>
                <a:spcPts val="0"/>
              </a:spcAft>
              <a:buNone/>
            </a:pPr>
            <a:r>
              <a:rPr lang="en-US" sz="1800" b="1" dirty="0"/>
              <a:t>Take note that the Wanted Goal Behavior Goal must be specified and must be measurable and quantifiable. It says at least 32 oz per day.”</a:t>
            </a:r>
          </a:p>
          <a:p>
            <a:pPr marL="0" lvl="0" indent="0" algn="l" rtl="0">
              <a:spcBef>
                <a:spcPts val="0"/>
              </a:spcBef>
              <a:spcAft>
                <a:spcPts val="0"/>
              </a:spcAft>
              <a:buNone/>
            </a:pPr>
            <a:endParaRPr lang="en-US" sz="1800" dirty="0"/>
          </a:p>
          <a:p>
            <a:pPr marL="0" lvl="0" indent="0" algn="l" rtl="0">
              <a:spcBef>
                <a:spcPts val="0"/>
              </a:spcBef>
              <a:spcAft>
                <a:spcPts val="0"/>
              </a:spcAft>
              <a:buNone/>
            </a:pPr>
            <a:r>
              <a:rPr lang="en-US" sz="1800" dirty="0"/>
              <a:t>Read subpoints from slide.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50825273a4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50825273a4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a:t>Read slide. </a:t>
            </a:r>
            <a:endParaRPr sz="18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50825273a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50825273a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sz="1800" dirty="0"/>
              <a:t>Read slide. </a:t>
            </a:r>
          </a:p>
        </p:txBody>
      </p:sp>
    </p:spTree>
    <p:extLst>
      <p:ext uri="{BB962C8B-B14F-4D97-AF65-F5344CB8AC3E}">
        <p14:creationId xmlns:p14="http://schemas.microsoft.com/office/powerpoint/2010/main" val="28771008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7c2b8d8ea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7c2b8d8ea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t>Read slide. </a:t>
            </a:r>
          </a:p>
          <a:p>
            <a:pPr marL="0" lvl="0" indent="0" algn="l" rtl="0">
              <a:spcBef>
                <a:spcPts val="0"/>
              </a:spcBef>
              <a:spcAft>
                <a:spcPts val="0"/>
              </a:spcAft>
              <a:buNone/>
            </a:pPr>
            <a:endParaRPr lang="en" sz="1800" dirty="0"/>
          </a:p>
          <a:p>
            <a:pPr marL="0" lvl="0" indent="0" algn="l" rtl="0">
              <a:spcBef>
                <a:spcPts val="0"/>
              </a:spcBef>
              <a:spcAft>
                <a:spcPts val="0"/>
              </a:spcAft>
              <a:buNone/>
            </a:pPr>
            <a:r>
              <a:rPr lang="en" sz="1800" dirty="0"/>
              <a:t>**TA/LA: Tell them the time-bound answer is the ONLY acceptable answer for the Time-Bound section!! Tell students to copy this directly. </a:t>
            </a:r>
            <a:endParaRPr sz="18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c2b8d8eac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7c2b8d8eac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a:t>Read slide. </a:t>
            </a:r>
            <a:endParaRPr sz="18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1215e4c9146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1215e4c9146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a:t>Read slide. </a:t>
            </a:r>
            <a:endParaRPr sz="18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7c2b8d8eac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7c2b8d8eac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t>Read slide. </a:t>
            </a:r>
            <a:endParaRPr sz="18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7c2b8d8eac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7c2b8d8eac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t>Read slide. </a:t>
            </a:r>
          </a:p>
          <a:p>
            <a:pPr marL="0" lvl="0" indent="0" algn="l" rtl="0">
              <a:spcBef>
                <a:spcPts val="0"/>
              </a:spcBef>
              <a:spcAft>
                <a:spcPts val="0"/>
              </a:spcAft>
              <a:buNone/>
            </a:pPr>
            <a:endParaRPr lang="en" sz="1800" dirty="0"/>
          </a:p>
          <a:p>
            <a:pPr marL="0" lvl="0" indent="0" algn="l" rtl="0">
              <a:spcBef>
                <a:spcPts val="0"/>
              </a:spcBef>
              <a:spcAft>
                <a:spcPts val="0"/>
              </a:spcAft>
              <a:buNone/>
            </a:pPr>
            <a:r>
              <a:rPr lang="en" sz="1800" dirty="0"/>
              <a:t>*</a:t>
            </a:r>
            <a:r>
              <a:rPr lang="en" sz="2000" dirty="0">
                <a:solidFill>
                  <a:schemeClr val="dk1"/>
                </a:solidFill>
                <a:highlight>
                  <a:srgbClr val="FFFFFF"/>
                </a:highlight>
                <a:latin typeface="Times New Roman"/>
                <a:ea typeface="Times New Roman"/>
                <a:cs typeface="Times New Roman"/>
                <a:sym typeface="Times New Roman"/>
              </a:rPr>
              <a:t>You MUST state if this behavior is a good choice for you to modify or not.  </a:t>
            </a:r>
            <a:endParaRPr sz="18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7c2b8d8eac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7c2b8d8eac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a:t>Read slide. </a:t>
            </a:r>
            <a:endParaRPr sz="18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7c2b8d8eac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7c2b8d8eac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a:t>Read slide. </a:t>
            </a:r>
            <a:endParaRPr sz="18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7c2b8d8eac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7c2b8d8eac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a:t>Read slide.</a:t>
            </a:r>
            <a:endParaRPr sz="18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800" dirty="0"/>
              <a:t>* TA/LA: Please practice this slide multiple times as the animations are really important for student understanding. Make sure you are saying the script at the correct clicks. *</a:t>
            </a:r>
          </a:p>
          <a:p>
            <a:pPr marL="0" lvl="0" indent="0" algn="l" rtl="0">
              <a:lnSpc>
                <a:spcPct val="100000"/>
              </a:lnSpc>
              <a:spcBef>
                <a:spcPts val="0"/>
              </a:spcBef>
              <a:spcAft>
                <a:spcPts val="0"/>
              </a:spcAft>
              <a:buSzPts val="1100"/>
              <a:buNone/>
            </a:pPr>
            <a:endParaRPr lang="en-US" sz="1800" dirty="0"/>
          </a:p>
          <a:p>
            <a:pPr marL="0" lvl="0" indent="0" algn="l" rtl="0">
              <a:lnSpc>
                <a:spcPct val="100000"/>
              </a:lnSpc>
              <a:spcBef>
                <a:spcPts val="0"/>
              </a:spcBef>
              <a:spcAft>
                <a:spcPts val="0"/>
              </a:spcAft>
              <a:buSzPts val="1100"/>
              <a:buNone/>
            </a:pPr>
            <a:r>
              <a:rPr lang="en-US" sz="1800" b="1" dirty="0"/>
              <a:t>“We just introduced YOU to HOW to perform a functional behavioral analysis. It is a lot; we know. Don’t worry if you are feeling a little confused. We’ve got you!</a:t>
            </a:r>
          </a:p>
          <a:p>
            <a:pPr marL="0" lvl="0" indent="0" algn="l" rtl="0">
              <a:lnSpc>
                <a:spcPct val="100000"/>
              </a:lnSpc>
              <a:spcBef>
                <a:spcPts val="0"/>
              </a:spcBef>
              <a:spcAft>
                <a:spcPts val="0"/>
              </a:spcAft>
              <a:buSzPts val="1100"/>
              <a:buNone/>
            </a:pPr>
            <a:endParaRPr lang="en-US" sz="1800" b="1" dirty="0"/>
          </a:p>
          <a:p>
            <a:pPr marL="0" lvl="0" indent="0" algn="l" rtl="0">
              <a:lnSpc>
                <a:spcPct val="100000"/>
              </a:lnSpc>
              <a:spcBef>
                <a:spcPts val="0"/>
              </a:spcBef>
              <a:spcAft>
                <a:spcPts val="0"/>
              </a:spcAft>
              <a:buSzPts val="1100"/>
              <a:buNone/>
            </a:pPr>
            <a:r>
              <a:rPr lang="en-US" sz="1800" b="1" dirty="0"/>
              <a:t>Let’s do a quick review of the ABCs as they relate to our unwanted target behavior of not drinking enough water. </a:t>
            </a:r>
            <a:endParaRPr b="1" dirty="0"/>
          </a:p>
          <a:p>
            <a:pPr marL="0" lvl="0" indent="0" algn="l" rtl="0">
              <a:lnSpc>
                <a:spcPct val="100000"/>
              </a:lnSpc>
              <a:spcBef>
                <a:spcPts val="0"/>
              </a:spcBef>
              <a:spcAft>
                <a:spcPts val="0"/>
              </a:spcAft>
              <a:buSzPts val="1100"/>
              <a:buNone/>
            </a:pPr>
            <a:endParaRPr sz="1800" b="1" dirty="0"/>
          </a:p>
          <a:p>
            <a:pPr marL="0" lvl="0" indent="0" algn="l" rtl="0">
              <a:lnSpc>
                <a:spcPct val="100000"/>
              </a:lnSpc>
              <a:spcBef>
                <a:spcPts val="0"/>
              </a:spcBef>
              <a:spcAft>
                <a:spcPts val="0"/>
              </a:spcAft>
              <a:buSzPts val="1100"/>
              <a:buNone/>
            </a:pPr>
            <a:r>
              <a:rPr lang="en-US" sz="1800" b="1" dirty="0"/>
              <a:t>Ok. So… generally speaking, </a:t>
            </a:r>
            <a:r>
              <a:rPr lang="en-US" sz="1800" b="1" u="sng" dirty="0"/>
              <a:t>Antecedents</a:t>
            </a:r>
            <a:r>
              <a:rPr lang="en-US" sz="1800" b="1" dirty="0"/>
              <a:t> trigger our engagement in </a:t>
            </a:r>
            <a:r>
              <a:rPr lang="en-US" sz="1800" b="1" u="sng" dirty="0"/>
              <a:t>Behaviors</a:t>
            </a:r>
            <a:r>
              <a:rPr lang="en-US" sz="1800" b="1" dirty="0"/>
              <a:t>, AND </a:t>
            </a:r>
            <a:r>
              <a:rPr lang="en-US" sz="1800" b="1" i="1" u="none" dirty="0"/>
              <a:t>those behaviors </a:t>
            </a:r>
            <a:r>
              <a:rPr lang="en-US" sz="1800" b="1" dirty="0"/>
              <a:t>lead to </a:t>
            </a:r>
            <a:r>
              <a:rPr lang="en-US" sz="1800" b="1" u="sng" dirty="0"/>
              <a:t>Consequences</a:t>
            </a:r>
            <a:r>
              <a:rPr lang="en-US" sz="1800" b="1" dirty="0"/>
              <a:t> for us. </a:t>
            </a:r>
            <a:endParaRPr b="1" dirty="0"/>
          </a:p>
          <a:p>
            <a:pPr marL="0" lvl="0" indent="0" algn="l" rtl="0">
              <a:lnSpc>
                <a:spcPct val="100000"/>
              </a:lnSpc>
              <a:spcBef>
                <a:spcPts val="0"/>
              </a:spcBef>
              <a:spcAft>
                <a:spcPts val="0"/>
              </a:spcAft>
              <a:buSzPts val="1100"/>
              <a:buNone/>
            </a:pPr>
            <a:endParaRPr sz="1800" b="1" dirty="0"/>
          </a:p>
          <a:p>
            <a:pPr marL="0" lvl="0" indent="0" algn="l" rtl="0">
              <a:lnSpc>
                <a:spcPct val="100000"/>
              </a:lnSpc>
              <a:spcBef>
                <a:spcPts val="0"/>
              </a:spcBef>
              <a:spcAft>
                <a:spcPts val="0"/>
              </a:spcAft>
              <a:buSzPts val="1100"/>
              <a:buNone/>
            </a:pPr>
            <a:r>
              <a:rPr lang="en-US" sz="1800" b="1" dirty="0"/>
              <a:t>In our first example, sugar cravings lead to my drinking a sweet soda when I should be drinking water. Drinking soda instead of water leads to my spending too much money on sodas at the UC. </a:t>
            </a:r>
            <a:endParaRPr b="1" dirty="0"/>
          </a:p>
          <a:p>
            <a:pPr marL="0" lvl="0" indent="0" algn="l" rtl="0">
              <a:lnSpc>
                <a:spcPct val="100000"/>
              </a:lnSpc>
              <a:spcBef>
                <a:spcPts val="0"/>
              </a:spcBef>
              <a:spcAft>
                <a:spcPts val="0"/>
              </a:spcAft>
              <a:buSzPts val="1100"/>
              <a:buNone/>
            </a:pPr>
            <a:endParaRPr sz="1800" b="1" dirty="0"/>
          </a:p>
          <a:p>
            <a:pPr marL="0" lvl="0" indent="0" algn="l" rtl="0">
              <a:lnSpc>
                <a:spcPct val="100000"/>
              </a:lnSpc>
              <a:spcBef>
                <a:spcPts val="0"/>
              </a:spcBef>
              <a:spcAft>
                <a:spcPts val="0"/>
              </a:spcAft>
              <a:buSzPts val="1100"/>
              <a:buNone/>
            </a:pPr>
            <a:r>
              <a:rPr lang="en-US" sz="1800" b="1" dirty="0"/>
              <a:t>In our second example, waking up late leads and forgetting my water bottle at home leads me to start wishing I had my water bottle with me. Not drinking enough water when I am at school leads to my getting a headache, becoming irritable, and not being fun to be around because I am dehydrated. </a:t>
            </a:r>
            <a:endParaRPr b="1" dirty="0"/>
          </a:p>
          <a:p>
            <a:pPr marL="0" lvl="0" indent="0" algn="l" rtl="0">
              <a:lnSpc>
                <a:spcPct val="100000"/>
              </a:lnSpc>
              <a:spcBef>
                <a:spcPts val="0"/>
              </a:spcBef>
              <a:spcAft>
                <a:spcPts val="0"/>
              </a:spcAft>
              <a:buSzPts val="1100"/>
              <a:buNone/>
            </a:pPr>
            <a:endParaRPr sz="1800" b="1" dirty="0"/>
          </a:p>
          <a:p>
            <a:pPr marL="0" lvl="0" indent="0" algn="l" rtl="0">
              <a:lnSpc>
                <a:spcPct val="100000"/>
              </a:lnSpc>
              <a:spcBef>
                <a:spcPts val="0"/>
              </a:spcBef>
              <a:spcAft>
                <a:spcPts val="0"/>
              </a:spcAft>
              <a:buSzPts val="1100"/>
              <a:buNone/>
            </a:pPr>
            <a:r>
              <a:rPr lang="en-US" sz="1800" b="1" dirty="0"/>
              <a:t>Remember, how we told you earlier that there are LOTS of ways to change our unwanted target behaviors? </a:t>
            </a:r>
          </a:p>
          <a:p>
            <a:pPr marL="0" lvl="0" indent="0" algn="l" rtl="0">
              <a:lnSpc>
                <a:spcPct val="100000"/>
              </a:lnSpc>
              <a:spcBef>
                <a:spcPts val="0"/>
              </a:spcBef>
              <a:spcAft>
                <a:spcPts val="0"/>
              </a:spcAft>
              <a:buSzPts val="1100"/>
              <a:buNone/>
            </a:pPr>
            <a:endParaRPr lang="en-US" sz="1800" b="1" dirty="0"/>
          </a:p>
          <a:p>
            <a:pPr marL="0" lvl="0" indent="0" algn="l" rtl="0">
              <a:lnSpc>
                <a:spcPct val="100000"/>
              </a:lnSpc>
              <a:spcBef>
                <a:spcPts val="0"/>
              </a:spcBef>
              <a:spcAft>
                <a:spcPts val="0"/>
              </a:spcAft>
              <a:buSzPts val="1100"/>
              <a:buNone/>
            </a:pPr>
            <a:r>
              <a:rPr lang="en-US" sz="1800" b="1" dirty="0"/>
              <a:t>For this assignment, you are going to use TWO specific intervention strategies:</a:t>
            </a:r>
          </a:p>
          <a:p>
            <a:pPr marL="285750" lvl="0" indent="-285750" algn="l" rtl="0">
              <a:lnSpc>
                <a:spcPct val="100000"/>
              </a:lnSpc>
              <a:spcBef>
                <a:spcPts val="0"/>
              </a:spcBef>
              <a:spcAft>
                <a:spcPts val="0"/>
              </a:spcAft>
              <a:buSzPts val="1100"/>
            </a:pPr>
            <a:r>
              <a:rPr lang="en-US" sz="1800" b="1" dirty="0"/>
              <a:t>Changing your antecedents to change your behavior and thus your consequences </a:t>
            </a:r>
            <a:r>
              <a:rPr lang="en-US" sz="1800" b="1" u="sng" dirty="0"/>
              <a:t>AND</a:t>
            </a:r>
            <a:r>
              <a:rPr lang="en-US" sz="1800" b="1" dirty="0"/>
              <a:t> </a:t>
            </a:r>
          </a:p>
          <a:p>
            <a:pPr marL="285750" lvl="0" indent="-285750" algn="l" rtl="0">
              <a:lnSpc>
                <a:spcPct val="100000"/>
              </a:lnSpc>
              <a:spcBef>
                <a:spcPts val="0"/>
              </a:spcBef>
              <a:spcAft>
                <a:spcPts val="0"/>
              </a:spcAft>
              <a:buSzPts val="1100"/>
            </a:pPr>
            <a:r>
              <a:rPr lang="en-US" sz="1800" b="1" dirty="0"/>
              <a:t>Using operant conditioning to strengthen your </a:t>
            </a:r>
            <a:r>
              <a:rPr lang="en-US" sz="1800" b="1" u="sng" dirty="0"/>
              <a:t>wanted goal behavior</a:t>
            </a:r>
            <a:r>
              <a:rPr lang="en-US" sz="1800" b="1" u="none" dirty="0"/>
              <a:t> </a:t>
            </a:r>
            <a:r>
              <a:rPr lang="en-US" sz="1800" b="1" dirty="0"/>
              <a:t>or to weaken your </a:t>
            </a:r>
            <a:r>
              <a:rPr lang="en-US" sz="1800" b="1" u="sng" dirty="0"/>
              <a:t>unwanted target behavior</a:t>
            </a:r>
            <a:r>
              <a:rPr lang="en-US" sz="1800" b="1" dirty="0"/>
              <a:t>.”</a:t>
            </a:r>
            <a:endParaRPr b="1"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7c2b8d8eac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7c2b8d8eac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800" b="1" dirty="0">
                <a:solidFill>
                  <a:schemeClr val="dk1"/>
                </a:solidFill>
              </a:rPr>
              <a:t>“Now that we have reviewed the ABCs, let’s consider the </a:t>
            </a:r>
            <a:r>
              <a:rPr lang="en" sz="1800" b="1" u="sng" dirty="0">
                <a:solidFill>
                  <a:schemeClr val="dk1"/>
                </a:solidFill>
              </a:rPr>
              <a:t>FUNCTION</a:t>
            </a:r>
            <a:r>
              <a:rPr lang="en" sz="1800" b="1" dirty="0">
                <a:solidFill>
                  <a:schemeClr val="dk1"/>
                </a:solidFill>
              </a:rPr>
              <a:t> of your unwanted target behavior. </a:t>
            </a:r>
          </a:p>
          <a:p>
            <a:pPr marL="0" lvl="0" indent="0" algn="l" rtl="0">
              <a:lnSpc>
                <a:spcPct val="115000"/>
              </a:lnSpc>
              <a:spcBef>
                <a:spcPts val="0"/>
              </a:spcBef>
              <a:spcAft>
                <a:spcPts val="0"/>
              </a:spcAft>
              <a:buClr>
                <a:schemeClr val="dk1"/>
              </a:buClr>
              <a:buSzPts val="1100"/>
              <a:buFont typeface="Arial"/>
              <a:buNone/>
            </a:pPr>
            <a:endParaRPr lang="en" sz="18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800" b="1" dirty="0">
                <a:solidFill>
                  <a:schemeClr val="dk1"/>
                </a:solidFill>
              </a:rPr>
              <a:t>This is really important!! </a:t>
            </a:r>
          </a:p>
          <a:p>
            <a:pPr marL="0" lvl="0" indent="0" algn="l" rtl="0">
              <a:lnSpc>
                <a:spcPct val="115000"/>
              </a:lnSpc>
              <a:spcBef>
                <a:spcPts val="0"/>
              </a:spcBef>
              <a:spcAft>
                <a:spcPts val="0"/>
              </a:spcAft>
              <a:buClr>
                <a:schemeClr val="dk1"/>
              </a:buClr>
              <a:buSzPts val="1100"/>
              <a:buFont typeface="Arial"/>
              <a:buNone/>
            </a:pPr>
            <a:endParaRPr lang="en" sz="18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800" b="1" dirty="0">
                <a:solidFill>
                  <a:schemeClr val="dk1"/>
                </a:solidFill>
              </a:rPr>
              <a:t>Your unwanted target behavior is serving a function in your life. In </a:t>
            </a:r>
            <a:r>
              <a:rPr lang="en" sz="1800" b="1" i="1" u="sng" dirty="0">
                <a:solidFill>
                  <a:schemeClr val="dk1"/>
                </a:solidFill>
              </a:rPr>
              <a:t>some</a:t>
            </a:r>
            <a:r>
              <a:rPr lang="en" sz="1800" b="1" dirty="0">
                <a:solidFill>
                  <a:schemeClr val="dk1"/>
                </a:solidFill>
              </a:rPr>
              <a:t> ways, it’s working for you. That’s why you keep doing it!! </a:t>
            </a:r>
          </a:p>
          <a:p>
            <a:pPr marL="0" lvl="0" indent="0" algn="l" rtl="0">
              <a:lnSpc>
                <a:spcPct val="115000"/>
              </a:lnSpc>
              <a:spcBef>
                <a:spcPts val="0"/>
              </a:spcBef>
              <a:spcAft>
                <a:spcPts val="0"/>
              </a:spcAft>
              <a:buClr>
                <a:schemeClr val="dk1"/>
              </a:buClr>
              <a:buSzPts val="1100"/>
              <a:buFont typeface="Arial"/>
              <a:buNone/>
            </a:pPr>
            <a:endParaRPr lang="en" sz="18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800" b="1" dirty="0">
                <a:solidFill>
                  <a:schemeClr val="dk1"/>
                </a:solidFill>
              </a:rPr>
              <a:t>It is SO important for YOU to know what the function of your unwanted target behavior IS if you are going to try to change it.</a:t>
            </a:r>
          </a:p>
          <a:p>
            <a:pPr marL="0" lvl="0" indent="0" algn="l" rtl="0">
              <a:lnSpc>
                <a:spcPct val="115000"/>
              </a:lnSpc>
              <a:spcBef>
                <a:spcPts val="0"/>
              </a:spcBef>
              <a:spcAft>
                <a:spcPts val="0"/>
              </a:spcAft>
              <a:buClr>
                <a:schemeClr val="dk1"/>
              </a:buClr>
              <a:buSzPts val="1100"/>
              <a:buFont typeface="Arial"/>
              <a:buNone/>
            </a:pPr>
            <a:endParaRPr sz="18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800" b="1" dirty="0">
                <a:solidFill>
                  <a:schemeClr val="dk1"/>
                </a:solidFill>
              </a:rPr>
              <a:t>In other words, why do you continue to engage in your unwanted target behavior, even though it results in undesired consequences? </a:t>
            </a:r>
          </a:p>
          <a:p>
            <a:pPr marL="285750" lvl="0" indent="-285750" algn="l" rtl="0">
              <a:lnSpc>
                <a:spcPct val="115000"/>
              </a:lnSpc>
              <a:spcBef>
                <a:spcPts val="0"/>
              </a:spcBef>
              <a:spcAft>
                <a:spcPts val="0"/>
              </a:spcAft>
              <a:buClr>
                <a:schemeClr val="dk1"/>
              </a:buClr>
              <a:buSzPts val="1100"/>
            </a:pPr>
            <a:r>
              <a:rPr lang="en" sz="1800" b="1" dirty="0">
                <a:solidFill>
                  <a:schemeClr val="dk1"/>
                </a:solidFill>
              </a:rPr>
              <a:t>Is it to gain something? </a:t>
            </a:r>
          </a:p>
          <a:p>
            <a:pPr marL="285750" lvl="0" indent="-285750" algn="l" rtl="0">
              <a:lnSpc>
                <a:spcPct val="115000"/>
              </a:lnSpc>
              <a:spcBef>
                <a:spcPts val="0"/>
              </a:spcBef>
              <a:spcAft>
                <a:spcPts val="0"/>
              </a:spcAft>
              <a:buClr>
                <a:schemeClr val="dk1"/>
              </a:buClr>
              <a:buSzPts val="1100"/>
            </a:pPr>
            <a:r>
              <a:rPr lang="en" sz="1800" b="1" dirty="0">
                <a:solidFill>
                  <a:schemeClr val="dk1"/>
                </a:solidFill>
              </a:rPr>
              <a:t>To escape a task? </a:t>
            </a:r>
          </a:p>
          <a:p>
            <a:pPr marL="285750" lvl="0" indent="-285750" algn="l" rtl="0">
              <a:lnSpc>
                <a:spcPct val="115000"/>
              </a:lnSpc>
              <a:spcBef>
                <a:spcPts val="0"/>
              </a:spcBef>
              <a:spcAft>
                <a:spcPts val="0"/>
              </a:spcAft>
              <a:buClr>
                <a:schemeClr val="dk1"/>
              </a:buClr>
              <a:buSzPts val="1100"/>
            </a:pPr>
            <a:r>
              <a:rPr lang="en" sz="1800" b="1" dirty="0">
                <a:solidFill>
                  <a:schemeClr val="dk1"/>
                </a:solidFill>
              </a:rPr>
              <a:t>To receive attention? </a:t>
            </a:r>
          </a:p>
          <a:p>
            <a:pPr marL="285750" lvl="0" indent="-285750" algn="l" rtl="0">
              <a:lnSpc>
                <a:spcPct val="115000"/>
              </a:lnSpc>
              <a:spcBef>
                <a:spcPts val="0"/>
              </a:spcBef>
              <a:spcAft>
                <a:spcPts val="0"/>
              </a:spcAft>
              <a:buClr>
                <a:schemeClr val="dk1"/>
              </a:buClr>
              <a:buSzPts val="1100"/>
            </a:pPr>
            <a:r>
              <a:rPr lang="en" sz="1800" b="1" dirty="0">
                <a:solidFill>
                  <a:schemeClr val="dk1"/>
                </a:solidFill>
              </a:rPr>
              <a:t>Or something else? </a:t>
            </a:r>
          </a:p>
          <a:p>
            <a:pPr marL="0" lvl="0" indent="0" algn="l" rtl="0">
              <a:lnSpc>
                <a:spcPct val="115000"/>
              </a:lnSpc>
              <a:spcBef>
                <a:spcPts val="0"/>
              </a:spcBef>
              <a:spcAft>
                <a:spcPts val="0"/>
              </a:spcAft>
              <a:buClr>
                <a:schemeClr val="dk1"/>
              </a:buClr>
              <a:buSzPts val="1100"/>
              <a:buFont typeface="Arial"/>
              <a:buNone/>
            </a:pPr>
            <a:endParaRPr lang="en" sz="18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800" b="1" dirty="0">
                <a:solidFill>
                  <a:schemeClr val="dk1"/>
                </a:solidFill>
              </a:rPr>
              <a:t>List and describe two examples.” </a:t>
            </a:r>
            <a:endParaRPr sz="1800" b="1" dirty="0">
              <a:solidFill>
                <a:schemeClr val="dk1"/>
              </a:solidFill>
            </a:endParaRPr>
          </a:p>
          <a:p>
            <a:pPr marL="0" lvl="0" indent="0" algn="l" rtl="0">
              <a:spcBef>
                <a:spcPts val="0"/>
              </a:spcBef>
              <a:spcAft>
                <a:spcPts val="0"/>
              </a:spcAft>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7c2b8d8eac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7c2b8d8eac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a:t>Read slide. </a:t>
            </a:r>
            <a:endParaRPr sz="18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7c2b8d8eac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7c2b8d8eac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rtl="0" fontAlgn="base">
              <a:buNone/>
            </a:pPr>
            <a:r>
              <a:rPr lang="en-US" sz="1800" b="1" i="0" u="none" strike="noStrike" cap="none" dirty="0">
                <a:solidFill>
                  <a:srgbClr val="000000"/>
                </a:solidFill>
                <a:effectLst/>
                <a:latin typeface="Arial"/>
                <a:ea typeface="Arial"/>
                <a:cs typeface="Arial"/>
                <a:sym typeface="Arial"/>
              </a:rPr>
              <a:t>“One way we can try to change our unwanted target behavior is by changing our antecedents. </a:t>
            </a:r>
          </a:p>
          <a:p>
            <a:pPr marL="158750" indent="0" rtl="0" fontAlgn="base">
              <a:buNone/>
            </a:pPr>
            <a:endParaRPr lang="en-US" sz="1800" b="1" i="0" u="none" strike="noStrike" cap="none" dirty="0">
              <a:solidFill>
                <a:srgbClr val="000000"/>
              </a:solidFill>
              <a:effectLst/>
              <a:latin typeface="Arial"/>
              <a:ea typeface="Arial"/>
              <a:cs typeface="Arial"/>
              <a:sym typeface="Arial"/>
            </a:endParaRPr>
          </a:p>
          <a:p>
            <a:pPr marL="158750" indent="0" rtl="0" fontAlgn="base">
              <a:buNone/>
            </a:pPr>
            <a:r>
              <a:rPr lang="en-US" sz="1800" b="1" i="0" u="none" strike="noStrike" cap="none" dirty="0">
                <a:solidFill>
                  <a:srgbClr val="000000"/>
                </a:solidFill>
                <a:effectLst/>
                <a:latin typeface="Arial"/>
                <a:ea typeface="Arial"/>
                <a:cs typeface="Arial"/>
                <a:sym typeface="Arial"/>
              </a:rPr>
              <a:t>By changing our antecedents, we can change our behavior… and thus our consequences can change."</a:t>
            </a:r>
            <a:r>
              <a:rPr lang="en-US" sz="1800" b="0" i="0" u="none" strike="noStrike" cap="none" dirty="0">
                <a:solidFill>
                  <a:srgbClr val="000000"/>
                </a:solidFill>
                <a:effectLst/>
                <a:latin typeface="Arial"/>
                <a:ea typeface="Arial"/>
                <a:cs typeface="Arial"/>
                <a:sym typeface="Arial"/>
              </a:rPr>
              <a:t> </a:t>
            </a:r>
          </a:p>
          <a:p>
            <a:pPr marL="158750" indent="0" rtl="0" fontAlgn="base">
              <a:buNone/>
            </a:pPr>
            <a:r>
              <a:rPr lang="en-US" sz="1800" b="0" i="0" u="none" strike="noStrike" cap="none" dirty="0">
                <a:solidFill>
                  <a:srgbClr val="000000"/>
                </a:solidFill>
                <a:effectLst/>
                <a:latin typeface="Arial"/>
                <a:ea typeface="Arial"/>
                <a:cs typeface="Arial"/>
                <a:sym typeface="Arial"/>
              </a:rPr>
              <a:t> </a:t>
            </a:r>
          </a:p>
          <a:p>
            <a:pPr marL="158750" indent="0" rtl="0" fontAlgn="base">
              <a:buNone/>
            </a:pPr>
            <a:r>
              <a:rPr lang="en-US" sz="1800" b="1" i="0" u="none" strike="noStrike" cap="none" dirty="0">
                <a:solidFill>
                  <a:srgbClr val="000000"/>
                </a:solidFill>
                <a:effectLst/>
                <a:latin typeface="Arial"/>
                <a:ea typeface="Arial"/>
                <a:cs typeface="Arial"/>
                <a:sym typeface="Arial"/>
              </a:rPr>
              <a:t>“Describe how you could </a:t>
            </a:r>
            <a:r>
              <a:rPr lang="en-US" sz="1800" b="1" i="0" u="sng" strike="noStrike" cap="none" dirty="0">
                <a:solidFill>
                  <a:srgbClr val="000000"/>
                </a:solidFill>
                <a:effectLst/>
                <a:latin typeface="Arial"/>
                <a:ea typeface="Arial"/>
                <a:cs typeface="Arial"/>
                <a:sym typeface="Arial"/>
              </a:rPr>
              <a:t>change each of your two antecedents</a:t>
            </a:r>
            <a:r>
              <a:rPr lang="en-US" sz="1800" b="1" i="0" u="none" strike="noStrike" cap="none" dirty="0">
                <a:solidFill>
                  <a:srgbClr val="000000"/>
                </a:solidFill>
                <a:effectLst/>
                <a:latin typeface="Arial"/>
                <a:ea typeface="Arial"/>
                <a:cs typeface="Arial"/>
                <a:sym typeface="Arial"/>
              </a:rPr>
              <a:t> (as you described in 4a above) to your </a:t>
            </a:r>
            <a:r>
              <a:rPr lang="en-US" sz="1800" b="1" i="0" u="sng" strike="noStrike" cap="none" dirty="0">
                <a:solidFill>
                  <a:srgbClr val="000000"/>
                </a:solidFill>
                <a:effectLst/>
                <a:latin typeface="Arial"/>
                <a:ea typeface="Arial"/>
                <a:cs typeface="Arial"/>
                <a:sym typeface="Arial"/>
              </a:rPr>
              <a:t>unwanted target behavior</a:t>
            </a:r>
            <a:r>
              <a:rPr lang="en-US" sz="1800" b="1" i="0" u="none" strike="noStrike" cap="none" dirty="0">
                <a:solidFill>
                  <a:srgbClr val="000000"/>
                </a:solidFill>
                <a:effectLst/>
                <a:latin typeface="Arial"/>
                <a:ea typeface="Arial"/>
                <a:cs typeface="Arial"/>
                <a:sym typeface="Arial"/>
              </a:rPr>
              <a:t> in order to try to help you to get closer to your </a:t>
            </a:r>
            <a:r>
              <a:rPr lang="en-US" sz="1800" b="1" i="0" u="sng" strike="noStrike" cap="none" dirty="0">
                <a:solidFill>
                  <a:srgbClr val="000000"/>
                </a:solidFill>
                <a:effectLst/>
                <a:latin typeface="Arial"/>
                <a:ea typeface="Arial"/>
                <a:cs typeface="Arial"/>
                <a:sym typeface="Arial"/>
              </a:rPr>
              <a:t>wanted goal behavior</a:t>
            </a:r>
            <a:r>
              <a:rPr lang="en-US" sz="1800" b="1" i="0" u="none" strike="noStrike" cap="none" dirty="0">
                <a:solidFill>
                  <a:srgbClr val="000000"/>
                </a:solidFill>
                <a:effectLst/>
                <a:latin typeface="Arial"/>
                <a:ea typeface="Arial"/>
                <a:cs typeface="Arial"/>
                <a:sym typeface="Arial"/>
              </a:rPr>
              <a:t>. Then, include how your changes to these </a:t>
            </a:r>
            <a:r>
              <a:rPr lang="en-US" sz="1800" b="1" i="0" u="sng" strike="noStrike" cap="none" dirty="0">
                <a:solidFill>
                  <a:srgbClr val="000000"/>
                </a:solidFill>
                <a:effectLst/>
                <a:latin typeface="Arial"/>
                <a:ea typeface="Arial"/>
                <a:cs typeface="Arial"/>
                <a:sym typeface="Arial"/>
              </a:rPr>
              <a:t>antecedents</a:t>
            </a:r>
            <a:r>
              <a:rPr lang="en-US" sz="1800" b="1" i="0" u="none" strike="noStrike" cap="none" dirty="0">
                <a:solidFill>
                  <a:srgbClr val="000000"/>
                </a:solidFill>
                <a:effectLst/>
                <a:latin typeface="Arial"/>
                <a:ea typeface="Arial"/>
                <a:cs typeface="Arial"/>
                <a:sym typeface="Arial"/>
              </a:rPr>
              <a:t> may </a:t>
            </a:r>
            <a:r>
              <a:rPr lang="en-US" sz="1800" b="1" i="0" u="sng" strike="noStrike" cap="none" dirty="0">
                <a:solidFill>
                  <a:srgbClr val="000000"/>
                </a:solidFill>
                <a:effectLst/>
                <a:latin typeface="Arial"/>
                <a:ea typeface="Arial"/>
                <a:cs typeface="Arial"/>
                <a:sym typeface="Arial"/>
              </a:rPr>
              <a:t>impact your consequences</a:t>
            </a:r>
            <a:r>
              <a:rPr lang="en-US" sz="1800" b="1" i="0" u="none" strike="noStrike" cap="none" dirty="0">
                <a:solidFill>
                  <a:srgbClr val="000000"/>
                </a:solidFill>
                <a:effectLst/>
                <a:latin typeface="Arial"/>
                <a:ea typeface="Arial"/>
                <a:cs typeface="Arial"/>
                <a:sym typeface="Arial"/>
              </a:rPr>
              <a:t> (as you described in 4c above).</a:t>
            </a:r>
            <a:r>
              <a:rPr lang="en-US" sz="1800" b="0" i="0" u="none" strike="noStrike" cap="none" dirty="0">
                <a:solidFill>
                  <a:srgbClr val="000000"/>
                </a:solidFill>
                <a:effectLst/>
                <a:latin typeface="Arial"/>
                <a:ea typeface="Arial"/>
                <a:cs typeface="Arial"/>
                <a:sym typeface="Arial"/>
              </a:rPr>
              <a:t>”</a:t>
            </a:r>
          </a:p>
          <a:p>
            <a:pPr marL="158750" indent="0" rtl="0" fontAlgn="base">
              <a:buNone/>
            </a:pPr>
            <a:endParaRPr lang="en-US" sz="1800" b="0" i="0" u="none" strike="noStrike" cap="none" dirty="0">
              <a:solidFill>
                <a:srgbClr val="000000"/>
              </a:solidFill>
              <a:effectLst/>
              <a:latin typeface="Arial"/>
              <a:ea typeface="Arial"/>
              <a:cs typeface="Arial"/>
              <a:sym typeface="Arial"/>
            </a:endParaRPr>
          </a:p>
          <a:p>
            <a:pPr marL="158750" indent="0" rtl="0" fontAlgn="base">
              <a:buNone/>
            </a:pPr>
            <a:r>
              <a:rPr lang="en-US" sz="1800" b="1" i="0" u="none" strike="noStrike" cap="none" dirty="0">
                <a:solidFill>
                  <a:srgbClr val="000000"/>
                </a:solidFill>
                <a:effectLst/>
                <a:latin typeface="Arial"/>
                <a:ea typeface="Arial"/>
                <a:cs typeface="Arial"/>
                <a:sym typeface="Arial"/>
              </a:rPr>
              <a:t>“If this sounds confusing, that’s ok. You are not alone. Don’t worry! We are going to walk you through an example on the next slide.” You can ask us questions, if you don’t understand. Let’s see what this looks like…”</a:t>
            </a:r>
          </a:p>
          <a:p>
            <a:pPr marL="0" lvl="0" indent="0" algn="l" rtl="0">
              <a:spcBef>
                <a:spcPts val="0"/>
              </a:spcBef>
              <a:spcAft>
                <a:spcPts val="0"/>
              </a:spcAft>
              <a:buNone/>
            </a:pP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7c2b8d8eac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7c2b8d8eac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Font typeface="Arial" panose="020B0604020202020204" pitchFamily="34" charset="0"/>
              <a:buNone/>
            </a:pPr>
            <a:r>
              <a:rPr lang="en-US" sz="1800" dirty="0"/>
              <a:t>TAs/LAs: Please read through this </a:t>
            </a:r>
            <a:r>
              <a:rPr lang="en-US" sz="1800" i="1" dirty="0"/>
              <a:t>very </a:t>
            </a:r>
            <a:r>
              <a:rPr lang="en-US" sz="1800" dirty="0"/>
              <a:t>slowly. *</a:t>
            </a:r>
          </a:p>
          <a:p>
            <a:pPr marL="0" lvl="0" indent="0" algn="l" rtl="0">
              <a:spcBef>
                <a:spcPts val="0"/>
              </a:spcBef>
              <a:spcAft>
                <a:spcPts val="0"/>
              </a:spcAft>
              <a:buFont typeface="Arial" panose="020B0604020202020204" pitchFamily="34" charset="0"/>
              <a:buNone/>
            </a:pPr>
            <a:endParaRPr lang="en-US" sz="1800" dirty="0"/>
          </a:p>
          <a:p>
            <a:pPr marL="0" lvl="0" indent="0" algn="l" rtl="0">
              <a:spcBef>
                <a:spcPts val="0"/>
              </a:spcBef>
              <a:spcAft>
                <a:spcPts val="0"/>
              </a:spcAft>
              <a:buFont typeface="Arial" panose="020B0604020202020204" pitchFamily="34" charset="0"/>
              <a:buNone/>
            </a:pPr>
            <a:r>
              <a:rPr lang="en-US" sz="1800" b="1" dirty="0"/>
              <a:t>“Notice in this example that ABCs are labeled for you. </a:t>
            </a:r>
          </a:p>
          <a:p>
            <a:pPr marL="0" lvl="0" indent="0" algn="l" rtl="0">
              <a:spcBef>
                <a:spcPts val="0"/>
              </a:spcBef>
              <a:spcAft>
                <a:spcPts val="0"/>
              </a:spcAft>
              <a:buFont typeface="Arial" panose="020B0604020202020204" pitchFamily="34" charset="0"/>
              <a:buNone/>
            </a:pPr>
            <a:endParaRPr lang="en-US" sz="1800" b="1" dirty="0"/>
          </a:p>
          <a:p>
            <a:pPr marL="0" lvl="0" indent="0" algn="l" rtl="0">
              <a:spcBef>
                <a:spcPts val="0"/>
              </a:spcBef>
              <a:spcAft>
                <a:spcPts val="0"/>
              </a:spcAft>
              <a:buFont typeface="Arial" panose="020B0604020202020204" pitchFamily="34" charset="0"/>
              <a:buNone/>
            </a:pPr>
            <a:r>
              <a:rPr lang="en-US" sz="1800" b="1" dirty="0"/>
              <a:t>Let’s quickly review these abbreviations.</a:t>
            </a:r>
          </a:p>
          <a:p>
            <a:pPr marL="742950" lvl="1" indent="-285750" algn="l" rtl="0">
              <a:spcBef>
                <a:spcPts val="0"/>
              </a:spcBef>
              <a:spcAft>
                <a:spcPts val="0"/>
              </a:spcAft>
              <a:buFont typeface="Arial" panose="020B0604020202020204" pitchFamily="34" charset="0"/>
              <a:buChar char="•"/>
            </a:pPr>
            <a:r>
              <a:rPr lang="en-US" sz="1800" b="1" dirty="0"/>
              <a:t>UTB = Unwanted target behavior</a:t>
            </a:r>
          </a:p>
          <a:p>
            <a:pPr marL="742950" lvl="1" indent="-285750" algn="l" rtl="0">
              <a:spcBef>
                <a:spcPts val="0"/>
              </a:spcBef>
              <a:spcAft>
                <a:spcPts val="0"/>
              </a:spcAft>
              <a:buFont typeface="Arial" panose="020B0604020202020204" pitchFamily="34" charset="0"/>
              <a:buChar char="•"/>
            </a:pPr>
            <a:r>
              <a:rPr lang="en-US" sz="1800" b="1" dirty="0"/>
              <a:t>WGB = Wanted goal behavior</a:t>
            </a:r>
          </a:p>
          <a:p>
            <a:pPr marL="742950" lvl="1" indent="-285750" algn="l" rtl="0">
              <a:spcBef>
                <a:spcPts val="0"/>
              </a:spcBef>
              <a:spcAft>
                <a:spcPts val="0"/>
              </a:spcAft>
              <a:buFont typeface="Arial" panose="020B0604020202020204" pitchFamily="34" charset="0"/>
              <a:buChar char="•"/>
            </a:pPr>
            <a:r>
              <a:rPr lang="en-US" sz="1800" b="1" dirty="0"/>
              <a:t>Original A = original antecedent</a:t>
            </a:r>
          </a:p>
          <a:p>
            <a:pPr marL="742950" lvl="1" indent="-285750" algn="l" rtl="0">
              <a:spcBef>
                <a:spcPts val="0"/>
              </a:spcBef>
              <a:spcAft>
                <a:spcPts val="0"/>
              </a:spcAft>
              <a:buFont typeface="Arial" panose="020B0604020202020204" pitchFamily="34" charset="0"/>
              <a:buChar char="•"/>
            </a:pPr>
            <a:r>
              <a:rPr lang="en-US" sz="1800" b="1" dirty="0"/>
              <a:t>New A = new antecedent that I am changing to</a:t>
            </a:r>
          </a:p>
          <a:p>
            <a:pPr marL="742950" lvl="1" indent="-285750" algn="l" rtl="0">
              <a:spcBef>
                <a:spcPts val="0"/>
              </a:spcBef>
              <a:spcAft>
                <a:spcPts val="0"/>
              </a:spcAft>
              <a:buFont typeface="Arial" panose="020B0604020202020204" pitchFamily="34" charset="0"/>
              <a:buChar char="•"/>
            </a:pPr>
            <a:r>
              <a:rPr lang="en-US" sz="1800" b="1" dirty="0"/>
              <a:t>Original C = original consequence</a:t>
            </a:r>
          </a:p>
          <a:p>
            <a:pPr marL="742950" lvl="1" indent="-285750" algn="l" rtl="0">
              <a:spcBef>
                <a:spcPts val="0"/>
              </a:spcBef>
              <a:spcAft>
                <a:spcPts val="0"/>
              </a:spcAft>
              <a:buFont typeface="Arial" panose="020B0604020202020204" pitchFamily="34" charset="0"/>
              <a:buChar char="•"/>
            </a:pPr>
            <a:r>
              <a:rPr lang="en-US" sz="1800" b="1" dirty="0"/>
              <a:t>New C = new consequence due to my changing my antecedent that changed my behavior</a:t>
            </a:r>
          </a:p>
          <a:p>
            <a:pPr marL="0" lvl="0" indent="0" algn="l" rtl="0">
              <a:spcBef>
                <a:spcPts val="0"/>
              </a:spcBef>
              <a:spcAft>
                <a:spcPts val="0"/>
              </a:spcAft>
              <a:buNone/>
            </a:pPr>
            <a:endParaRPr lang="en-US" sz="1800" b="1" dirty="0"/>
          </a:p>
          <a:p>
            <a:pPr marL="0" lvl="0" indent="0" algn="l" rtl="0">
              <a:spcBef>
                <a:spcPts val="0"/>
              </a:spcBef>
              <a:spcAft>
                <a:spcPts val="0"/>
              </a:spcAft>
              <a:buNone/>
            </a:pPr>
            <a:r>
              <a:rPr lang="en-US" sz="1800" b="1" dirty="0"/>
              <a:t> Ok… now, let’s read through this first example…”</a:t>
            </a:r>
          </a:p>
          <a:p>
            <a:pPr marL="0" lvl="0" indent="0" algn="l" rtl="0">
              <a:spcBef>
                <a:spcPts val="0"/>
              </a:spcBef>
              <a:spcAft>
                <a:spcPts val="0"/>
              </a:spcAft>
              <a:buNone/>
            </a:pPr>
            <a:endParaRPr lang="en-US" sz="1800" dirty="0"/>
          </a:p>
          <a:p>
            <a:pPr marL="0" lvl="0" indent="0" algn="l" rtl="0">
              <a:spcBef>
                <a:spcPts val="0"/>
              </a:spcBef>
              <a:spcAft>
                <a:spcPts val="0"/>
              </a:spcAft>
              <a:buNone/>
            </a:pPr>
            <a:r>
              <a:rPr lang="en-US" sz="1800" dirty="0"/>
              <a:t>Read through slide. </a:t>
            </a:r>
          </a:p>
          <a:p>
            <a:pPr marL="0" lvl="0" indent="0" algn="l" rtl="0">
              <a:spcBef>
                <a:spcPts val="0"/>
              </a:spcBef>
              <a:spcAft>
                <a:spcPts val="0"/>
              </a:spcAft>
              <a:buNone/>
            </a:pPr>
            <a:endParaRPr lang="en-US" sz="1800" dirty="0"/>
          </a:p>
          <a:p>
            <a:pPr marL="0" lvl="0" indent="0" algn="l" rtl="0">
              <a:spcBef>
                <a:spcPts val="0"/>
              </a:spcBef>
              <a:spcAft>
                <a:spcPts val="0"/>
              </a:spcAft>
              <a:buNone/>
            </a:pPr>
            <a:r>
              <a:rPr lang="en-US" sz="1800" b="1" dirty="0"/>
              <a:t>“Does anyone have any questions about this example? This is the hardest part of this worksheet. Please ask questions. We are here to help you all! </a:t>
            </a:r>
            <a:r>
              <a:rPr lang="en-US" sz="1800" b="1" dirty="0">
                <a:sym typeface="Wingdings" pitchFamily="2" charset="2"/>
              </a:rPr>
              <a:t>”</a:t>
            </a:r>
            <a:endParaRPr lang="en-US" sz="1800" b="1" dirty="0"/>
          </a:p>
          <a:p>
            <a:pPr marL="0" lvl="0" indent="0" algn="l" rtl="0">
              <a:spcBef>
                <a:spcPts val="0"/>
              </a:spcBef>
              <a:spcAft>
                <a:spcPts val="0"/>
              </a:spcAft>
              <a:buNone/>
            </a:pPr>
            <a:endParaRPr lang="en-US" sz="1800" dirty="0"/>
          </a:p>
          <a:p>
            <a:pPr marL="0" lvl="0" indent="0" algn="l" rtl="0">
              <a:spcBef>
                <a:spcPts val="0"/>
              </a:spcBef>
              <a:spcAft>
                <a:spcPts val="0"/>
              </a:spcAft>
              <a:buNone/>
            </a:pPr>
            <a:endParaRPr lang="en-US" sz="18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7c2b8d8eac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7c2b8d8eac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b="1" dirty="0"/>
              <a:t>”Ok… let’s try another example.”</a:t>
            </a:r>
          </a:p>
          <a:p>
            <a:pPr marL="0" lvl="0" indent="0" algn="l" rtl="0">
              <a:spcBef>
                <a:spcPts val="0"/>
              </a:spcBef>
              <a:spcAft>
                <a:spcPts val="0"/>
              </a:spcAft>
              <a:buNone/>
            </a:pPr>
            <a:endParaRPr lang="en-US" dirty="0"/>
          </a:p>
          <a:p>
            <a:pPr marL="0" lvl="0" indent="0" algn="l" rtl="0">
              <a:spcBef>
                <a:spcPts val="0"/>
              </a:spcBef>
              <a:spcAft>
                <a:spcPts val="0"/>
              </a:spcAft>
              <a:buNone/>
            </a:pPr>
            <a:r>
              <a:rPr lang="en-US" sz="1800" dirty="0"/>
              <a:t>Read slide.</a:t>
            </a:r>
          </a:p>
          <a:p>
            <a:pPr marL="0" lvl="0" indent="0" algn="l" rtl="0">
              <a:spcBef>
                <a:spcPts val="0"/>
              </a:spcBef>
              <a:spcAft>
                <a:spcPts val="0"/>
              </a:spcAft>
              <a:buNone/>
            </a:pPr>
            <a:endParaRPr lang="en-US" sz="1800" b="1" dirty="0"/>
          </a:p>
          <a:p>
            <a:pPr marL="0" lvl="0" indent="0" algn="l" rtl="0">
              <a:spcBef>
                <a:spcPts val="0"/>
              </a:spcBef>
              <a:spcAft>
                <a:spcPts val="0"/>
              </a:spcAft>
              <a:buNone/>
            </a:pPr>
            <a:r>
              <a:rPr lang="en-US" sz="1800" b="1" dirty="0"/>
              <a:t>“Anyone have a question about this example?”</a:t>
            </a:r>
            <a:endParaRPr sz="1800" b="1"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d362d286f3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d362d286f3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t>Links to a </a:t>
            </a:r>
            <a:r>
              <a:rPr lang="en" sz="1800" dirty="0" err="1"/>
              <a:t>SignUpGenius</a:t>
            </a:r>
            <a:r>
              <a:rPr lang="en" sz="1800" dirty="0"/>
              <a:t> for each Small Group Team Member needs to be sent out today. </a:t>
            </a:r>
            <a:endParaRPr sz="1800"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554450" y="989750"/>
            <a:ext cx="6035100" cy="3164100"/>
          </a:xfrm>
          <a:prstGeom prst="rect">
            <a:avLst/>
          </a:prstGeom>
        </p:spPr>
        <p:txBody>
          <a:bodyPr spcFirstLastPara="1" wrap="square" lIns="91425" tIns="91425" rIns="91425" bIns="91425" anchor="ctr" anchorCtr="0">
            <a:noAutofit/>
          </a:bodyPr>
          <a:lstStyle>
            <a:lvl1pPr lvl="0" algn="ctr">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3"/>
          <p:cNvSpPr txBox="1">
            <a:spLocks noGrp="1"/>
          </p:cNvSpPr>
          <p:nvPr>
            <p:ph type="title"/>
          </p:nvPr>
        </p:nvSpPr>
        <p:spPr>
          <a:xfrm>
            <a:off x="1499450" y="2179625"/>
            <a:ext cx="6145200" cy="9144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2" name="Google Shape;12;p3"/>
          <p:cNvSpPr txBox="1">
            <a:spLocks noGrp="1"/>
          </p:cNvSpPr>
          <p:nvPr>
            <p:ph type="title" idx="2" hasCustomPrompt="1"/>
          </p:nvPr>
        </p:nvSpPr>
        <p:spPr>
          <a:xfrm>
            <a:off x="3657600" y="842725"/>
            <a:ext cx="1828800" cy="133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9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3" name="Google Shape;13;p3"/>
          <p:cNvSpPr txBox="1">
            <a:spLocks noGrp="1"/>
          </p:cNvSpPr>
          <p:nvPr>
            <p:ph type="subTitle" idx="1"/>
          </p:nvPr>
        </p:nvSpPr>
        <p:spPr>
          <a:xfrm>
            <a:off x="2286000" y="3094025"/>
            <a:ext cx="4572000" cy="54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1371600" y="539496"/>
            <a:ext cx="6400800" cy="6402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 name="Google Shape;16;p4"/>
          <p:cNvSpPr txBox="1">
            <a:spLocks noGrp="1"/>
          </p:cNvSpPr>
          <p:nvPr>
            <p:ph type="body" idx="1"/>
          </p:nvPr>
        </p:nvSpPr>
        <p:spPr>
          <a:xfrm>
            <a:off x="1371600" y="1442050"/>
            <a:ext cx="6400800" cy="15057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Arial"/>
              <a:buChar char="●"/>
              <a:defRPr/>
            </a:lvl1pPr>
            <a:lvl2pPr marL="914400" lvl="1" indent="-317500" rtl="0">
              <a:lnSpc>
                <a:spcPct val="115000"/>
              </a:lnSpc>
              <a:spcBef>
                <a:spcPts val="0"/>
              </a:spcBef>
              <a:spcAft>
                <a:spcPts val="0"/>
              </a:spcAft>
              <a:buSzPts val="1400"/>
              <a:buFont typeface="Arial"/>
              <a:buChar char="○"/>
              <a:defRPr/>
            </a:lvl2pPr>
            <a:lvl3pPr marL="1371600" lvl="2" indent="-317500" rtl="0">
              <a:lnSpc>
                <a:spcPct val="115000"/>
              </a:lnSpc>
              <a:spcBef>
                <a:spcPts val="0"/>
              </a:spcBef>
              <a:spcAft>
                <a:spcPts val="0"/>
              </a:spcAft>
              <a:buSzPts val="1400"/>
              <a:buFont typeface="Arial"/>
              <a:buChar char="■"/>
              <a:defRPr/>
            </a:lvl3pPr>
            <a:lvl4pPr marL="1828800" lvl="3" indent="-317500" rtl="0">
              <a:lnSpc>
                <a:spcPct val="115000"/>
              </a:lnSpc>
              <a:spcBef>
                <a:spcPts val="0"/>
              </a:spcBef>
              <a:spcAft>
                <a:spcPts val="0"/>
              </a:spcAft>
              <a:buSzPts val="1400"/>
              <a:buFont typeface="Arial"/>
              <a:buChar char="●"/>
              <a:defRPr/>
            </a:lvl4pPr>
            <a:lvl5pPr marL="2286000" lvl="4" indent="-317500" rtl="0">
              <a:lnSpc>
                <a:spcPct val="115000"/>
              </a:lnSpc>
              <a:spcBef>
                <a:spcPts val="0"/>
              </a:spcBef>
              <a:spcAft>
                <a:spcPts val="0"/>
              </a:spcAft>
              <a:buSzPts val="1400"/>
              <a:buFont typeface="Arial"/>
              <a:buChar char="○"/>
              <a:defRPr/>
            </a:lvl5pPr>
            <a:lvl6pPr marL="2743200" lvl="5" indent="-317500" rtl="0">
              <a:lnSpc>
                <a:spcPct val="115000"/>
              </a:lnSpc>
              <a:spcBef>
                <a:spcPts val="0"/>
              </a:spcBef>
              <a:spcAft>
                <a:spcPts val="0"/>
              </a:spcAft>
              <a:buSzPts val="1400"/>
              <a:buFont typeface="Arial"/>
              <a:buChar char="■"/>
              <a:defRPr/>
            </a:lvl6pPr>
            <a:lvl7pPr marL="3200400" lvl="6" indent="-317500" rtl="0">
              <a:lnSpc>
                <a:spcPct val="115000"/>
              </a:lnSpc>
              <a:spcBef>
                <a:spcPts val="0"/>
              </a:spcBef>
              <a:spcAft>
                <a:spcPts val="0"/>
              </a:spcAft>
              <a:buSzPts val="1400"/>
              <a:buFont typeface="Arial"/>
              <a:buChar char="●"/>
              <a:defRPr/>
            </a:lvl7pPr>
            <a:lvl8pPr marL="3657600" lvl="7" indent="-317500" rtl="0">
              <a:lnSpc>
                <a:spcPct val="115000"/>
              </a:lnSpc>
              <a:spcBef>
                <a:spcPts val="0"/>
              </a:spcBef>
              <a:spcAft>
                <a:spcPts val="0"/>
              </a:spcAft>
              <a:buSzPts val="1400"/>
              <a:buFont typeface="Arial"/>
              <a:buChar char="○"/>
              <a:defRPr/>
            </a:lvl8pPr>
            <a:lvl9pPr marL="4114800" lvl="8" indent="-317500" rtl="0">
              <a:lnSpc>
                <a:spcPct val="115000"/>
              </a:lnSpc>
              <a:spcBef>
                <a:spcPts val="0"/>
              </a:spcBef>
              <a:spcAft>
                <a:spcPts val="0"/>
              </a:spcAft>
              <a:buSzPts val="1400"/>
              <a:buFont typeface="Arial"/>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5"/>
          <p:cNvSpPr txBox="1">
            <a:spLocks noGrp="1"/>
          </p:cNvSpPr>
          <p:nvPr>
            <p:ph type="subTitle" idx="1"/>
          </p:nvPr>
        </p:nvSpPr>
        <p:spPr>
          <a:xfrm>
            <a:off x="984250" y="2952750"/>
            <a:ext cx="3370500" cy="91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 name="Google Shape;19;p5"/>
          <p:cNvSpPr txBox="1">
            <a:spLocks noGrp="1"/>
          </p:cNvSpPr>
          <p:nvPr>
            <p:ph type="subTitle" idx="2"/>
          </p:nvPr>
        </p:nvSpPr>
        <p:spPr>
          <a:xfrm>
            <a:off x="4789250" y="2952750"/>
            <a:ext cx="3370500" cy="91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 name="Google Shape;20;p5"/>
          <p:cNvSpPr txBox="1">
            <a:spLocks noGrp="1"/>
          </p:cNvSpPr>
          <p:nvPr>
            <p:ph type="title"/>
          </p:nvPr>
        </p:nvSpPr>
        <p:spPr>
          <a:xfrm>
            <a:off x="1371600" y="539496"/>
            <a:ext cx="6400800" cy="6402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1" name="Google Shape;21;p5"/>
          <p:cNvSpPr txBox="1">
            <a:spLocks noGrp="1"/>
          </p:cNvSpPr>
          <p:nvPr>
            <p:ph type="title" idx="3"/>
          </p:nvPr>
        </p:nvSpPr>
        <p:spPr>
          <a:xfrm>
            <a:off x="984250" y="2571750"/>
            <a:ext cx="33705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2" name="Google Shape;22;p5"/>
          <p:cNvSpPr txBox="1">
            <a:spLocks noGrp="1"/>
          </p:cNvSpPr>
          <p:nvPr>
            <p:ph type="title" idx="4"/>
          </p:nvPr>
        </p:nvSpPr>
        <p:spPr>
          <a:xfrm>
            <a:off x="4789250" y="2571750"/>
            <a:ext cx="33705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1234500" y="691900"/>
            <a:ext cx="6675000" cy="6402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2800" b="0">
                <a:latin typeface="Alexandria Medium"/>
                <a:ea typeface="Alexandria Medium"/>
                <a:cs typeface="Alexandria Medium"/>
                <a:sym typeface="Alexandria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720000" y="1192500"/>
            <a:ext cx="4114800" cy="5487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 name="Google Shape;27;p7"/>
          <p:cNvSpPr txBox="1">
            <a:spLocks noGrp="1"/>
          </p:cNvSpPr>
          <p:nvPr>
            <p:ph type="body" idx="1"/>
          </p:nvPr>
        </p:nvSpPr>
        <p:spPr>
          <a:xfrm>
            <a:off x="720000" y="1665000"/>
            <a:ext cx="4114800" cy="2286000"/>
          </a:xfrm>
          <a:prstGeom prst="rect">
            <a:avLst/>
          </a:prstGeom>
        </p:spPr>
        <p:txBody>
          <a:bodyPr spcFirstLastPara="1" wrap="square" lIns="91425" tIns="91425" rIns="91425" bIns="91425" anchor="t" anchorCtr="0">
            <a:noAutofit/>
          </a:bodyPr>
          <a:lstStyle>
            <a:lvl1pPr marL="457200" lvl="0" indent="-279400" rtl="0">
              <a:spcBef>
                <a:spcPts val="0"/>
              </a:spcBef>
              <a:spcAft>
                <a:spcPts val="0"/>
              </a:spcAft>
              <a:buClr>
                <a:srgbClr val="999999"/>
              </a:buClr>
              <a:buSzPts val="800"/>
              <a:buFont typeface="Open Sans"/>
              <a:buChar char="●"/>
              <a:defRPr sz="1400">
                <a:solidFill>
                  <a:srgbClr val="434343"/>
                </a:solidFill>
              </a:defRPr>
            </a:lvl1pPr>
            <a:lvl2pPr marL="914400" lvl="1" indent="-279400" rtl="0">
              <a:lnSpc>
                <a:spcPct val="100000"/>
              </a:lnSpc>
              <a:spcBef>
                <a:spcPts val="0"/>
              </a:spcBef>
              <a:spcAft>
                <a:spcPts val="0"/>
              </a:spcAft>
              <a:buClr>
                <a:srgbClr val="999999"/>
              </a:buClr>
              <a:buSzPts val="800"/>
              <a:buFont typeface="Open Sans"/>
              <a:buChar char="○"/>
              <a:defRPr>
                <a:solidFill>
                  <a:srgbClr val="434343"/>
                </a:solidFill>
              </a:defRPr>
            </a:lvl2pPr>
            <a:lvl3pPr marL="1371600" lvl="2" indent="-279400" rtl="0">
              <a:lnSpc>
                <a:spcPct val="100000"/>
              </a:lnSpc>
              <a:spcBef>
                <a:spcPts val="0"/>
              </a:spcBef>
              <a:spcAft>
                <a:spcPts val="0"/>
              </a:spcAft>
              <a:buClr>
                <a:srgbClr val="999999"/>
              </a:buClr>
              <a:buSzPts val="800"/>
              <a:buFont typeface="Open Sans"/>
              <a:buChar char="■"/>
              <a:defRPr>
                <a:solidFill>
                  <a:srgbClr val="434343"/>
                </a:solidFill>
              </a:defRPr>
            </a:lvl3pPr>
            <a:lvl4pPr marL="1828800" lvl="3" indent="-279400" rtl="0">
              <a:lnSpc>
                <a:spcPct val="100000"/>
              </a:lnSpc>
              <a:spcBef>
                <a:spcPts val="0"/>
              </a:spcBef>
              <a:spcAft>
                <a:spcPts val="0"/>
              </a:spcAft>
              <a:buClr>
                <a:srgbClr val="999999"/>
              </a:buClr>
              <a:buSzPts val="800"/>
              <a:buFont typeface="Open Sans"/>
              <a:buChar char="●"/>
              <a:defRPr>
                <a:solidFill>
                  <a:srgbClr val="434343"/>
                </a:solidFill>
              </a:defRPr>
            </a:lvl4pPr>
            <a:lvl5pPr marL="2286000" lvl="4" indent="-304800" rtl="0">
              <a:lnSpc>
                <a:spcPct val="100000"/>
              </a:lnSpc>
              <a:spcBef>
                <a:spcPts val="0"/>
              </a:spcBef>
              <a:spcAft>
                <a:spcPts val="0"/>
              </a:spcAft>
              <a:buClr>
                <a:srgbClr val="999999"/>
              </a:buClr>
              <a:buSzPts val="1200"/>
              <a:buFont typeface="Open Sans"/>
              <a:buChar char="○"/>
              <a:defRPr>
                <a:solidFill>
                  <a:srgbClr val="434343"/>
                </a:solidFill>
              </a:defRPr>
            </a:lvl5pPr>
            <a:lvl6pPr marL="2743200" lvl="5" indent="-304800" rtl="0">
              <a:lnSpc>
                <a:spcPct val="100000"/>
              </a:lnSpc>
              <a:spcBef>
                <a:spcPts val="0"/>
              </a:spcBef>
              <a:spcAft>
                <a:spcPts val="0"/>
              </a:spcAft>
              <a:buClr>
                <a:srgbClr val="999999"/>
              </a:buClr>
              <a:buSzPts val="1200"/>
              <a:buFont typeface="Open Sans"/>
              <a:buChar char="■"/>
              <a:defRPr>
                <a:solidFill>
                  <a:srgbClr val="434343"/>
                </a:solidFill>
              </a:defRPr>
            </a:lvl6pPr>
            <a:lvl7pPr marL="3200400" lvl="6" indent="-273050" rtl="0">
              <a:lnSpc>
                <a:spcPct val="100000"/>
              </a:lnSpc>
              <a:spcBef>
                <a:spcPts val="0"/>
              </a:spcBef>
              <a:spcAft>
                <a:spcPts val="0"/>
              </a:spcAft>
              <a:buClr>
                <a:srgbClr val="999999"/>
              </a:buClr>
              <a:buSzPts val="700"/>
              <a:buFont typeface="Open Sans"/>
              <a:buChar char="●"/>
              <a:defRPr>
                <a:solidFill>
                  <a:srgbClr val="434343"/>
                </a:solidFill>
              </a:defRPr>
            </a:lvl7pPr>
            <a:lvl8pPr marL="3657600" lvl="7" indent="-273050" rtl="0">
              <a:lnSpc>
                <a:spcPct val="100000"/>
              </a:lnSpc>
              <a:spcBef>
                <a:spcPts val="0"/>
              </a:spcBef>
              <a:spcAft>
                <a:spcPts val="0"/>
              </a:spcAft>
              <a:buClr>
                <a:srgbClr val="999999"/>
              </a:buClr>
              <a:buSzPts val="700"/>
              <a:buFont typeface="Open Sans"/>
              <a:buChar char="○"/>
              <a:defRPr>
                <a:solidFill>
                  <a:srgbClr val="434343"/>
                </a:solidFill>
              </a:defRPr>
            </a:lvl8pPr>
            <a:lvl9pPr marL="4114800" lvl="8" indent="-266700" rtl="0">
              <a:lnSpc>
                <a:spcPct val="100000"/>
              </a:lnSpc>
              <a:spcBef>
                <a:spcPts val="0"/>
              </a:spcBef>
              <a:spcAft>
                <a:spcPts val="0"/>
              </a:spcAft>
              <a:buClr>
                <a:srgbClr val="999999"/>
              </a:buClr>
              <a:buSzPts val="600"/>
              <a:buFont typeface="Open Sans"/>
              <a:buChar char="■"/>
              <a:defRPr>
                <a:solidFill>
                  <a:srgbClr val="434343"/>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blipFill>
          <a:blip r:embed="rId2">
            <a:alphaModFix/>
          </a:blip>
          <a:stretch>
            <a:fillRect/>
          </a:stretch>
        </a:blipFill>
        <a:effectLst/>
      </p:bgPr>
    </p:bg>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10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blipFill>
          <a:blip r:embed="rId2">
            <a:alphaModFix/>
          </a:blip>
          <a:stretch>
            <a:fillRect/>
          </a:stretch>
        </a:blipFill>
        <a:effectLst/>
      </p:bgPr>
    </p:bg>
    <p:spTree>
      <p:nvGrpSpPr>
        <p:cNvPr id="1" name="Shape 30"/>
        <p:cNvGrpSpPr/>
        <p:nvPr/>
      </p:nvGrpSpPr>
      <p:grpSpPr>
        <a:xfrm>
          <a:off x="0" y="0"/>
          <a:ext cx="0" cy="0"/>
          <a:chOff x="0" y="0"/>
          <a:chExt cx="0" cy="0"/>
        </a:xfrm>
      </p:grpSpPr>
      <p:sp>
        <p:nvSpPr>
          <p:cNvPr id="31" name="Google Shape;31;p9"/>
          <p:cNvSpPr txBox="1">
            <a:spLocks noGrp="1"/>
          </p:cNvSpPr>
          <p:nvPr>
            <p:ph type="title"/>
          </p:nvPr>
        </p:nvSpPr>
        <p:spPr>
          <a:xfrm>
            <a:off x="1043925" y="2126100"/>
            <a:ext cx="7056000" cy="917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b="0">
                <a:latin typeface="Alexandria Medium"/>
                <a:ea typeface="Alexandria Medium"/>
                <a:cs typeface="Alexandria Medium"/>
                <a:sym typeface="Alexandria Medium"/>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2" name="Google Shape;32;p9"/>
          <p:cNvSpPr txBox="1">
            <a:spLocks noGrp="1"/>
          </p:cNvSpPr>
          <p:nvPr>
            <p:ph type="subTitle" idx="1"/>
          </p:nvPr>
        </p:nvSpPr>
        <p:spPr>
          <a:xfrm>
            <a:off x="1043925" y="3043200"/>
            <a:ext cx="7056000" cy="1125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400"/>
              <a:buChar char="●"/>
              <a:defRPr sz="1600">
                <a:latin typeface="Assistant"/>
                <a:ea typeface="Assistant"/>
                <a:cs typeface="Assistant"/>
                <a:sym typeface="Assistant"/>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33" name="Google Shape;33;p9"/>
          <p:cNvSpPr txBox="1">
            <a:spLocks noGrp="1"/>
          </p:cNvSpPr>
          <p:nvPr>
            <p:ph type="subTitle" idx="2"/>
          </p:nvPr>
        </p:nvSpPr>
        <p:spPr>
          <a:xfrm>
            <a:off x="1043925" y="1209000"/>
            <a:ext cx="7056000" cy="917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600">
                <a:latin typeface="Assistant"/>
                <a:ea typeface="Assistant"/>
                <a:cs typeface="Assistant"/>
                <a:sym typeface="Assistant"/>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4"/>
        <p:cNvGrpSpPr/>
        <p:nvPr/>
      </p:nvGrpSpPr>
      <p:grpSpPr>
        <a:xfrm>
          <a:off x="0" y="0"/>
          <a:ext cx="0" cy="0"/>
          <a:chOff x="0" y="0"/>
          <a:chExt cx="0" cy="0"/>
        </a:xfrm>
      </p:grpSpPr>
      <p:sp>
        <p:nvSpPr>
          <p:cNvPr id="35" name="Google Shape;35;p10"/>
          <p:cNvSpPr>
            <a:spLocks noGrp="1"/>
          </p:cNvSpPr>
          <p:nvPr>
            <p:ph type="pic" idx="2"/>
          </p:nvPr>
        </p:nvSpPr>
        <p:spPr>
          <a:xfrm>
            <a:off x="0" y="0"/>
            <a:ext cx="9144000" cy="5120400"/>
          </a:xfrm>
          <a:prstGeom prst="rect">
            <a:avLst/>
          </a:prstGeom>
          <a:noFill/>
          <a:ln>
            <a:noFill/>
          </a:ln>
        </p:spPr>
        <p:txBody>
          <a:bodyPr/>
          <a:lstStyle/>
          <a:p>
            <a:endParaRPr lang="en-US"/>
          </a:p>
        </p:txBody>
      </p:sp>
      <p:sp>
        <p:nvSpPr>
          <p:cNvPr id="36" name="Google Shape;36;p10"/>
          <p:cNvSpPr txBox="1">
            <a:spLocks noGrp="1"/>
          </p:cNvSpPr>
          <p:nvPr>
            <p:ph type="title"/>
          </p:nvPr>
        </p:nvSpPr>
        <p:spPr>
          <a:xfrm>
            <a:off x="720000" y="2285400"/>
            <a:ext cx="7704000" cy="5727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37"/>
        <p:cNvGrpSpPr/>
        <p:nvPr/>
      </p:nvGrpSpPr>
      <p:grpSpPr>
        <a:xfrm>
          <a:off x="0" y="0"/>
          <a:ext cx="0" cy="0"/>
          <a:chOff x="0" y="0"/>
          <a:chExt cx="0" cy="0"/>
        </a:xfrm>
      </p:grpSpPr>
      <p:sp>
        <p:nvSpPr>
          <p:cNvPr id="38" name="Google Shape;38;p11"/>
          <p:cNvSpPr txBox="1">
            <a:spLocks noGrp="1"/>
          </p:cNvSpPr>
          <p:nvPr>
            <p:ph type="title" hasCustomPrompt="1"/>
          </p:nvPr>
        </p:nvSpPr>
        <p:spPr>
          <a:xfrm>
            <a:off x="720000" y="1558475"/>
            <a:ext cx="7704000" cy="15111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10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9" name="Google Shape;39;p11"/>
          <p:cNvSpPr txBox="1">
            <a:spLocks noGrp="1"/>
          </p:cNvSpPr>
          <p:nvPr>
            <p:ph type="subTitle" idx="1"/>
          </p:nvPr>
        </p:nvSpPr>
        <p:spPr>
          <a:xfrm>
            <a:off x="1284000" y="3069625"/>
            <a:ext cx="6576000" cy="54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BLANK_1">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3"/>
          <p:cNvSpPr txBox="1">
            <a:spLocks noGrp="1"/>
          </p:cNvSpPr>
          <p:nvPr>
            <p:ph type="title"/>
          </p:nvPr>
        </p:nvSpPr>
        <p:spPr>
          <a:xfrm>
            <a:off x="2498100" y="1620850"/>
            <a:ext cx="4970700" cy="4749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500" b="0">
                <a:latin typeface="Alexandria Medium"/>
                <a:ea typeface="Alexandria Medium"/>
                <a:cs typeface="Alexandria Medium"/>
                <a:sym typeface="Alexandria Medium"/>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43" name="Google Shape;43;p13"/>
          <p:cNvSpPr txBox="1">
            <a:spLocks noGrp="1"/>
          </p:cNvSpPr>
          <p:nvPr>
            <p:ph type="title" idx="2" hasCustomPrompt="1"/>
          </p:nvPr>
        </p:nvSpPr>
        <p:spPr>
          <a:xfrm>
            <a:off x="1675200" y="1620850"/>
            <a:ext cx="822900" cy="474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b="0">
                <a:latin typeface="Alexandria Medium"/>
                <a:ea typeface="Alexandria Medium"/>
                <a:cs typeface="Alexandria Medium"/>
                <a:sym typeface="Alexandria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4" name="Google Shape;44;p13"/>
          <p:cNvSpPr txBox="1">
            <a:spLocks noGrp="1"/>
          </p:cNvSpPr>
          <p:nvPr>
            <p:ph type="title" idx="3"/>
          </p:nvPr>
        </p:nvSpPr>
        <p:spPr>
          <a:xfrm>
            <a:off x="1234500" y="691275"/>
            <a:ext cx="6675000" cy="6402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2800" b="0">
                <a:latin typeface="Alexandria Medium"/>
                <a:ea typeface="Alexandria Medium"/>
                <a:cs typeface="Alexandria Medium"/>
                <a:sym typeface="Alexandria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5" name="Google Shape;45;p13"/>
          <p:cNvSpPr txBox="1">
            <a:spLocks noGrp="1"/>
          </p:cNvSpPr>
          <p:nvPr>
            <p:ph type="title" idx="4"/>
          </p:nvPr>
        </p:nvSpPr>
        <p:spPr>
          <a:xfrm>
            <a:off x="2498100" y="2142238"/>
            <a:ext cx="4970700" cy="4749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500" b="0">
                <a:latin typeface="Alexandria Medium"/>
                <a:ea typeface="Alexandria Medium"/>
                <a:cs typeface="Alexandria Medium"/>
                <a:sym typeface="Alexandria Medium"/>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46" name="Google Shape;46;p13"/>
          <p:cNvSpPr txBox="1">
            <a:spLocks noGrp="1"/>
          </p:cNvSpPr>
          <p:nvPr>
            <p:ph type="title" idx="5" hasCustomPrompt="1"/>
          </p:nvPr>
        </p:nvSpPr>
        <p:spPr>
          <a:xfrm>
            <a:off x="1675200" y="2142239"/>
            <a:ext cx="822900" cy="474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b="0">
                <a:latin typeface="Alexandria Medium"/>
                <a:ea typeface="Alexandria Medium"/>
                <a:cs typeface="Alexandria Medium"/>
                <a:sym typeface="Alexandria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7" name="Google Shape;47;p13"/>
          <p:cNvSpPr txBox="1">
            <a:spLocks noGrp="1"/>
          </p:cNvSpPr>
          <p:nvPr>
            <p:ph type="title" idx="6"/>
          </p:nvPr>
        </p:nvSpPr>
        <p:spPr>
          <a:xfrm>
            <a:off x="2498100" y="2663625"/>
            <a:ext cx="4970700" cy="4749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500" b="0">
                <a:latin typeface="Alexandria Medium"/>
                <a:ea typeface="Alexandria Medium"/>
                <a:cs typeface="Alexandria Medium"/>
                <a:sym typeface="Alexandria Medium"/>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48" name="Google Shape;48;p13"/>
          <p:cNvSpPr txBox="1">
            <a:spLocks noGrp="1"/>
          </p:cNvSpPr>
          <p:nvPr>
            <p:ph type="title" idx="7" hasCustomPrompt="1"/>
          </p:nvPr>
        </p:nvSpPr>
        <p:spPr>
          <a:xfrm>
            <a:off x="1675200" y="2663627"/>
            <a:ext cx="822900" cy="474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b="0">
                <a:latin typeface="Alexandria Medium"/>
                <a:ea typeface="Alexandria Medium"/>
                <a:cs typeface="Alexandria Medium"/>
                <a:sym typeface="Alexandria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 name="Google Shape;49;p13"/>
          <p:cNvSpPr txBox="1">
            <a:spLocks noGrp="1"/>
          </p:cNvSpPr>
          <p:nvPr>
            <p:ph type="title" idx="8"/>
          </p:nvPr>
        </p:nvSpPr>
        <p:spPr>
          <a:xfrm>
            <a:off x="2498100" y="3185013"/>
            <a:ext cx="4970700" cy="4749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500" b="0">
                <a:latin typeface="Alexandria Medium"/>
                <a:ea typeface="Alexandria Medium"/>
                <a:cs typeface="Alexandria Medium"/>
                <a:sym typeface="Alexandria Medium"/>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50" name="Google Shape;50;p13"/>
          <p:cNvSpPr txBox="1">
            <a:spLocks noGrp="1"/>
          </p:cNvSpPr>
          <p:nvPr>
            <p:ph type="title" idx="9" hasCustomPrompt="1"/>
          </p:nvPr>
        </p:nvSpPr>
        <p:spPr>
          <a:xfrm>
            <a:off x="1675200" y="3185016"/>
            <a:ext cx="822900" cy="474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b="0">
                <a:latin typeface="Alexandria Medium"/>
                <a:ea typeface="Alexandria Medium"/>
                <a:cs typeface="Alexandria Medium"/>
                <a:sym typeface="Alexandria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1" name="Google Shape;51;p13"/>
          <p:cNvSpPr txBox="1">
            <a:spLocks noGrp="1"/>
          </p:cNvSpPr>
          <p:nvPr>
            <p:ph type="title" idx="13"/>
          </p:nvPr>
        </p:nvSpPr>
        <p:spPr>
          <a:xfrm>
            <a:off x="2498100" y="3706401"/>
            <a:ext cx="4970700" cy="4749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500" b="0">
                <a:latin typeface="Alexandria Medium"/>
                <a:ea typeface="Alexandria Medium"/>
                <a:cs typeface="Alexandria Medium"/>
                <a:sym typeface="Alexandria Medium"/>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52" name="Google Shape;52;p13"/>
          <p:cNvSpPr txBox="1">
            <a:spLocks noGrp="1"/>
          </p:cNvSpPr>
          <p:nvPr>
            <p:ph type="title" idx="14" hasCustomPrompt="1"/>
          </p:nvPr>
        </p:nvSpPr>
        <p:spPr>
          <a:xfrm>
            <a:off x="1675200" y="3706404"/>
            <a:ext cx="822900" cy="474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b="0">
                <a:latin typeface="Alexandria Medium"/>
                <a:ea typeface="Alexandria Medium"/>
                <a:cs typeface="Alexandria Medium"/>
                <a:sym typeface="Alexandria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1">
  <p:cSld name="TITLE_ONLY_1">
    <p:bg>
      <p:bgPr>
        <a:blipFill>
          <a:blip r:embed="rId2">
            <a:alphaModFix/>
          </a:blip>
          <a:stretch>
            <a:fillRect/>
          </a:stretch>
        </a:blip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1234500" y="1584915"/>
            <a:ext cx="3474600" cy="10059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2800" b="0">
                <a:latin typeface="Alexandria Medium"/>
                <a:ea typeface="Alexandria Medium"/>
                <a:cs typeface="Alexandria Medium"/>
                <a:sym typeface="Alexandria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2">
  <p:cSld name="TITLE_ONLY_2">
    <p:bg>
      <p:bgPr>
        <a:blipFill>
          <a:blip r:embed="rId2">
            <a:alphaModFix/>
          </a:blip>
          <a:stretch>
            <a:fillRect/>
          </a:stretch>
        </a:blipFill>
        <a:effectLst/>
      </p:bgPr>
    </p:bg>
    <p:spTree>
      <p:nvGrpSpPr>
        <p:cNvPr id="1" name="Shape 55"/>
        <p:cNvGrpSpPr/>
        <p:nvPr/>
      </p:nvGrpSpPr>
      <p:grpSpPr>
        <a:xfrm>
          <a:off x="0" y="0"/>
          <a:ext cx="0" cy="0"/>
          <a:chOff x="0" y="0"/>
          <a:chExt cx="0" cy="0"/>
        </a:xfrm>
      </p:grpSpPr>
      <p:sp>
        <p:nvSpPr>
          <p:cNvPr id="56" name="Google Shape;56;p15"/>
          <p:cNvSpPr txBox="1">
            <a:spLocks noGrp="1"/>
          </p:cNvSpPr>
          <p:nvPr>
            <p:ph type="title"/>
          </p:nvPr>
        </p:nvSpPr>
        <p:spPr>
          <a:xfrm>
            <a:off x="1234500" y="691900"/>
            <a:ext cx="6675000" cy="6402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2800" b="0">
                <a:latin typeface="Alexandria Medium"/>
                <a:ea typeface="Alexandria Medium"/>
                <a:cs typeface="Alexandria Medium"/>
                <a:sym typeface="Alexandria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3">
  <p:cSld name="TITLE_ONLY_3">
    <p:bg>
      <p:bgPr>
        <a:blipFill>
          <a:blip r:embed="rId2">
            <a:alphaModFix/>
          </a:blip>
          <a:stretch>
            <a:fillRect/>
          </a:stretch>
        </a:blipFill>
        <a:effectLst/>
      </p:bgPr>
    </p:bg>
    <p:spTree>
      <p:nvGrpSpPr>
        <p:cNvPr id="1" name="Shape 57"/>
        <p:cNvGrpSpPr/>
        <p:nvPr/>
      </p:nvGrpSpPr>
      <p:grpSpPr>
        <a:xfrm>
          <a:off x="0" y="0"/>
          <a:ext cx="0" cy="0"/>
          <a:chOff x="0" y="0"/>
          <a:chExt cx="0" cy="0"/>
        </a:xfrm>
      </p:grpSpPr>
      <p:sp>
        <p:nvSpPr>
          <p:cNvPr id="58" name="Google Shape;58;p16"/>
          <p:cNvSpPr txBox="1">
            <a:spLocks noGrp="1"/>
          </p:cNvSpPr>
          <p:nvPr>
            <p:ph type="title"/>
          </p:nvPr>
        </p:nvSpPr>
        <p:spPr>
          <a:xfrm>
            <a:off x="1234500" y="691900"/>
            <a:ext cx="6675000" cy="6402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2800" b="0">
                <a:latin typeface="Alexandria Medium"/>
                <a:ea typeface="Alexandria Medium"/>
                <a:cs typeface="Alexandria Medium"/>
                <a:sym typeface="Alexandria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4">
  <p:cSld name="TITLE_ONLY_4">
    <p:bg>
      <p:bgPr>
        <a:blipFill>
          <a:blip r:embed="rId2">
            <a:alphaModFix/>
          </a:blip>
          <a:stretch>
            <a:fillRect/>
          </a:stretch>
        </a:blipFill>
        <a:effectLst/>
      </p:bgPr>
    </p:bg>
    <p:spTree>
      <p:nvGrpSpPr>
        <p:cNvPr id="1" name="Shape 59"/>
        <p:cNvGrpSpPr/>
        <p:nvPr/>
      </p:nvGrpSpPr>
      <p:grpSpPr>
        <a:xfrm>
          <a:off x="0" y="0"/>
          <a:ext cx="0" cy="0"/>
          <a:chOff x="0" y="0"/>
          <a:chExt cx="0" cy="0"/>
        </a:xfrm>
      </p:grpSpPr>
      <p:sp>
        <p:nvSpPr>
          <p:cNvPr id="60" name="Google Shape;60;p17"/>
          <p:cNvSpPr txBox="1">
            <a:spLocks noGrp="1"/>
          </p:cNvSpPr>
          <p:nvPr>
            <p:ph type="title"/>
          </p:nvPr>
        </p:nvSpPr>
        <p:spPr>
          <a:xfrm>
            <a:off x="1234500" y="1582475"/>
            <a:ext cx="3337500" cy="6402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2800" b="0">
                <a:latin typeface="Alexandria Medium"/>
                <a:ea typeface="Alexandria Medium"/>
                <a:cs typeface="Alexandria Medium"/>
                <a:sym typeface="Alexandria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5">
  <p:cSld name="TITLE_ONLY_1_1">
    <p:bg>
      <p:bgPr>
        <a:blipFill>
          <a:blip r:embed="rId2">
            <a:alphaModFix/>
          </a:blip>
          <a:stretch>
            <a:fillRect/>
          </a:stretch>
        </a:blipFill>
        <a:effectLst/>
      </p:bgPr>
    </p:bg>
    <p:spTree>
      <p:nvGrpSpPr>
        <p:cNvPr id="1" name="Shape 61"/>
        <p:cNvGrpSpPr/>
        <p:nvPr/>
      </p:nvGrpSpPr>
      <p:grpSpPr>
        <a:xfrm>
          <a:off x="0" y="0"/>
          <a:ext cx="0" cy="0"/>
          <a:chOff x="0" y="0"/>
          <a:chExt cx="0" cy="0"/>
        </a:xfrm>
      </p:grpSpPr>
      <p:sp>
        <p:nvSpPr>
          <p:cNvPr id="62" name="Google Shape;62;p18"/>
          <p:cNvSpPr txBox="1">
            <a:spLocks noGrp="1"/>
          </p:cNvSpPr>
          <p:nvPr>
            <p:ph type="title"/>
          </p:nvPr>
        </p:nvSpPr>
        <p:spPr>
          <a:xfrm>
            <a:off x="1234500" y="691900"/>
            <a:ext cx="6675000" cy="6402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2800" b="0">
                <a:latin typeface="Alexandria Medium"/>
                <a:ea typeface="Alexandria Medium"/>
                <a:cs typeface="Alexandria Medium"/>
                <a:sym typeface="Alexandria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p:cSld name="SECTION_TITLE_AND_DESCRIPTION_1">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19"/>
          <p:cNvSpPr txBox="1">
            <a:spLocks noGrp="1"/>
          </p:cNvSpPr>
          <p:nvPr>
            <p:ph type="title"/>
          </p:nvPr>
        </p:nvSpPr>
        <p:spPr>
          <a:xfrm>
            <a:off x="1645950" y="1274738"/>
            <a:ext cx="5852100" cy="91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5" name="Google Shape;65;p19"/>
          <p:cNvSpPr txBox="1">
            <a:spLocks noGrp="1"/>
          </p:cNvSpPr>
          <p:nvPr>
            <p:ph type="subTitle" idx="1"/>
          </p:nvPr>
        </p:nvSpPr>
        <p:spPr>
          <a:xfrm>
            <a:off x="1645950" y="2283063"/>
            <a:ext cx="5852100" cy="126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Char char="●"/>
              <a:defRPr sz="16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anks">
  <p:cSld name="BLANK_1_1_1_1_1_1_2">
    <p:bg>
      <p:bgPr>
        <a:blipFill>
          <a:blip r:embed="rId2">
            <a:alphaModFix/>
          </a:blip>
          <a:stretch>
            <a:fillRect/>
          </a:stretch>
        </a:blipFill>
        <a:effectLst/>
      </p:bgPr>
    </p:bg>
    <p:spTree>
      <p:nvGrpSpPr>
        <p:cNvPr id="1" name="Shape 66"/>
        <p:cNvGrpSpPr/>
        <p:nvPr/>
      </p:nvGrpSpPr>
      <p:grpSpPr>
        <a:xfrm>
          <a:off x="0" y="0"/>
          <a:ext cx="0" cy="0"/>
          <a:chOff x="0" y="0"/>
          <a:chExt cx="0" cy="0"/>
        </a:xfrm>
      </p:grpSpPr>
      <p:sp>
        <p:nvSpPr>
          <p:cNvPr id="67" name="Google Shape;67;p20"/>
          <p:cNvSpPr txBox="1">
            <a:spLocks noGrp="1"/>
          </p:cNvSpPr>
          <p:nvPr>
            <p:ph type="ctrTitle"/>
          </p:nvPr>
        </p:nvSpPr>
        <p:spPr>
          <a:xfrm>
            <a:off x="2429950" y="540000"/>
            <a:ext cx="4284000" cy="118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8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68" name="Google Shape;68;p20"/>
          <p:cNvSpPr txBox="1">
            <a:spLocks noGrp="1"/>
          </p:cNvSpPr>
          <p:nvPr>
            <p:ph type="subTitle" idx="1"/>
          </p:nvPr>
        </p:nvSpPr>
        <p:spPr>
          <a:xfrm>
            <a:off x="2425075" y="1537800"/>
            <a:ext cx="4293900" cy="118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69" name="Google Shape;69;p20"/>
          <p:cNvSpPr txBox="1"/>
          <p:nvPr/>
        </p:nvSpPr>
        <p:spPr>
          <a:xfrm>
            <a:off x="2011650" y="3551700"/>
            <a:ext cx="5120700" cy="731400"/>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None/>
            </a:pPr>
            <a:r>
              <a:rPr lang="en" sz="1200" b="1">
                <a:solidFill>
                  <a:schemeClr val="dk1"/>
                </a:solidFill>
                <a:latin typeface="Assistant"/>
                <a:ea typeface="Assistant"/>
                <a:cs typeface="Assistant"/>
                <a:sym typeface="Assistant"/>
              </a:rPr>
              <a:t>CREDITS</a:t>
            </a:r>
            <a:r>
              <a:rPr lang="en" sz="1200">
                <a:solidFill>
                  <a:schemeClr val="dk1"/>
                </a:solidFill>
                <a:latin typeface="Assistant"/>
                <a:ea typeface="Assistant"/>
                <a:cs typeface="Assistant"/>
                <a:sym typeface="Assistant"/>
              </a:rPr>
              <a:t>: This presentation template was created by </a:t>
            </a:r>
            <a:r>
              <a:rPr lang="en" sz="1200" b="1">
                <a:solidFill>
                  <a:schemeClr val="hlink"/>
                </a:solidFill>
                <a:uFill>
                  <a:noFill/>
                </a:uFill>
                <a:latin typeface="Assistant"/>
                <a:ea typeface="Assistant"/>
                <a:cs typeface="Assistant"/>
                <a:sym typeface="Assistant"/>
                <a:hlinkClick r:id="rId3"/>
              </a:rPr>
              <a:t>Slidesgo</a:t>
            </a:r>
            <a:r>
              <a:rPr lang="en" sz="1200">
                <a:solidFill>
                  <a:schemeClr val="dk1"/>
                </a:solidFill>
                <a:latin typeface="Assistant"/>
                <a:ea typeface="Assistant"/>
                <a:cs typeface="Assistant"/>
                <a:sym typeface="Assistant"/>
              </a:rPr>
              <a:t> and infographics &amp; images by </a:t>
            </a:r>
            <a:r>
              <a:rPr lang="en" sz="1200" b="1">
                <a:solidFill>
                  <a:schemeClr val="hlink"/>
                </a:solidFill>
                <a:uFill>
                  <a:noFill/>
                </a:uFill>
                <a:latin typeface="Assistant"/>
                <a:ea typeface="Assistant"/>
                <a:cs typeface="Assistant"/>
                <a:sym typeface="Assistant"/>
                <a:hlinkClick r:id="rId4"/>
              </a:rPr>
              <a:t>Freepik</a:t>
            </a:r>
            <a:r>
              <a:rPr lang="en" sz="1200">
                <a:solidFill>
                  <a:schemeClr val="dk1"/>
                </a:solidFill>
                <a:latin typeface="Assistant"/>
                <a:ea typeface="Assistant"/>
                <a:cs typeface="Assistant"/>
                <a:sym typeface="Assistant"/>
              </a:rPr>
              <a:t>. Content by</a:t>
            </a:r>
            <a:r>
              <a:rPr lang="en" sz="1200" b="1">
                <a:solidFill>
                  <a:schemeClr val="dk1"/>
                </a:solidFill>
                <a:latin typeface="Assistant"/>
                <a:ea typeface="Assistant"/>
                <a:cs typeface="Assistant"/>
                <a:sym typeface="Assistant"/>
              </a:rPr>
              <a:t> Eliana Delacour</a:t>
            </a:r>
            <a:r>
              <a:rPr lang="en" sz="1200">
                <a:solidFill>
                  <a:schemeClr val="dk1"/>
                </a:solidFill>
                <a:latin typeface="Assistant"/>
                <a:ea typeface="Assistant"/>
                <a:cs typeface="Assistant"/>
                <a:sym typeface="Assistant"/>
              </a:rPr>
              <a:t> </a:t>
            </a:r>
            <a:endParaRPr sz="1200" b="1" u="sng">
              <a:solidFill>
                <a:schemeClr val="dk1"/>
              </a:solidFill>
              <a:latin typeface="Assistant"/>
              <a:ea typeface="Assistant"/>
              <a:cs typeface="Assistant"/>
              <a:sym typeface="Assistant"/>
            </a:endParaRPr>
          </a:p>
          <a:p>
            <a:pPr marL="0" lvl="0" indent="0" algn="ctr" rtl="0">
              <a:lnSpc>
                <a:spcPct val="100000"/>
              </a:lnSpc>
              <a:spcBef>
                <a:spcPts val="0"/>
              </a:spcBef>
              <a:spcAft>
                <a:spcPts val="0"/>
              </a:spcAft>
              <a:buNone/>
            </a:pPr>
            <a:r>
              <a:rPr lang="en" sz="1200">
                <a:solidFill>
                  <a:schemeClr val="dk1"/>
                </a:solidFill>
                <a:latin typeface="Assistant"/>
                <a:ea typeface="Assistant"/>
                <a:cs typeface="Assistant"/>
                <a:sym typeface="Assistant"/>
              </a:rPr>
              <a:t>REFERENCE: </a:t>
            </a:r>
            <a:r>
              <a:rPr lang="en" sz="1200">
                <a:solidFill>
                  <a:srgbClr val="0E2A47"/>
                </a:solidFill>
                <a:latin typeface="Assistant"/>
                <a:ea typeface="Assistant"/>
                <a:cs typeface="Assistant"/>
                <a:sym typeface="Assistant"/>
              </a:rPr>
              <a:t>Quintana, M. and Alayón, D. (2022) </a:t>
            </a:r>
            <a:r>
              <a:rPr lang="en" sz="1200" i="1">
                <a:solidFill>
                  <a:srgbClr val="0E2A47"/>
                </a:solidFill>
                <a:latin typeface="Assistant"/>
                <a:ea typeface="Assistant"/>
                <a:cs typeface="Assistant"/>
                <a:sym typeface="Assistant"/>
              </a:rPr>
              <a:t>Chapter 8. Aprende a aprender</a:t>
            </a:r>
            <a:r>
              <a:rPr lang="en" sz="1200">
                <a:solidFill>
                  <a:srgbClr val="0E2A47"/>
                </a:solidFill>
                <a:latin typeface="Assistant"/>
                <a:ea typeface="Assistant"/>
                <a:cs typeface="Assistant"/>
                <a:sym typeface="Assistant"/>
              </a:rPr>
              <a:t>. Upgrade. Desarrolla tu perfil a prueba de futuro, pp. 131-147. Lid editorial </a:t>
            </a:r>
            <a:endParaRPr sz="1200" b="1" u="sng">
              <a:solidFill>
                <a:schemeClr val="dk1"/>
              </a:solidFill>
              <a:latin typeface="Assistant"/>
              <a:ea typeface="Assistant"/>
              <a:cs typeface="Assistant"/>
              <a:sym typeface="Assistan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p:cSld name="BLANK_1_1_1_1_1_1_1">
    <p:bg>
      <p:bgPr>
        <a:blipFill>
          <a:blip r:embed="rId2">
            <a:alphaModFix/>
          </a:blip>
          <a:stretch>
            <a:fillRect/>
          </a:stretch>
        </a:blipFill>
        <a:effectLst/>
      </p:bgPr>
    </p:bg>
    <p:spTree>
      <p:nvGrpSpPr>
        <p:cNvPr id="1" name="Shape 7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371600" y="539496"/>
            <a:ext cx="6400800" cy="6402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3500"/>
              <a:buFont typeface="Alexandria Medium"/>
              <a:buNone/>
              <a:defRPr sz="35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3500"/>
              <a:buFont typeface="Alexandria Medium"/>
              <a:buNone/>
              <a:defRPr sz="35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3500"/>
              <a:buFont typeface="Alexandria Medium"/>
              <a:buNone/>
              <a:defRPr sz="35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3500"/>
              <a:buFont typeface="Alexandria Medium"/>
              <a:buNone/>
              <a:defRPr sz="35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3500"/>
              <a:buFont typeface="Alexandria Medium"/>
              <a:buNone/>
              <a:defRPr sz="35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3500"/>
              <a:buFont typeface="Alexandria Medium"/>
              <a:buNone/>
              <a:defRPr sz="35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3500"/>
              <a:buFont typeface="Alexandria Medium"/>
              <a:buNone/>
              <a:defRPr sz="35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3500"/>
              <a:buFont typeface="Alexandria Medium"/>
              <a:buNone/>
              <a:defRPr sz="35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3500"/>
              <a:buFont typeface="Alexandria Medium"/>
              <a:buNone/>
              <a:defRPr sz="3500">
                <a:solidFill>
                  <a:schemeClr val="dk1"/>
                </a:solidFill>
                <a:latin typeface="Alexandria Medium"/>
                <a:ea typeface="Alexandria Medium"/>
                <a:cs typeface="Alexandria Medium"/>
                <a:sym typeface="Alexandria Medium"/>
              </a:defRPr>
            </a:lvl9pPr>
          </a:lstStyle>
          <a:p>
            <a:endParaRPr/>
          </a:p>
        </p:txBody>
      </p:sp>
      <p:sp>
        <p:nvSpPr>
          <p:cNvPr id="7" name="Google Shape;7;p1"/>
          <p:cNvSpPr txBox="1">
            <a:spLocks noGrp="1"/>
          </p:cNvSpPr>
          <p:nvPr>
            <p:ph type="body" idx="1"/>
          </p:nvPr>
        </p:nvSpPr>
        <p:spPr>
          <a:xfrm>
            <a:off x="1371600" y="1152475"/>
            <a:ext cx="6400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1pPr>
            <a:lvl2pPr marL="914400" lvl="1" indent="-317500">
              <a:lnSpc>
                <a:spcPct val="115000"/>
              </a:lnSpc>
              <a:spcBef>
                <a:spcPts val="16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2pPr>
            <a:lvl3pPr marL="1371600" lvl="2" indent="-317500">
              <a:lnSpc>
                <a:spcPct val="115000"/>
              </a:lnSpc>
              <a:spcBef>
                <a:spcPts val="16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3pPr>
            <a:lvl4pPr marL="1828800" lvl="3" indent="-317500">
              <a:lnSpc>
                <a:spcPct val="115000"/>
              </a:lnSpc>
              <a:spcBef>
                <a:spcPts val="16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4pPr>
            <a:lvl5pPr marL="2286000" lvl="4" indent="-317500">
              <a:lnSpc>
                <a:spcPct val="115000"/>
              </a:lnSpc>
              <a:spcBef>
                <a:spcPts val="16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5pPr>
            <a:lvl6pPr marL="2743200" lvl="5" indent="-317500">
              <a:lnSpc>
                <a:spcPct val="115000"/>
              </a:lnSpc>
              <a:spcBef>
                <a:spcPts val="16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6pPr>
            <a:lvl7pPr marL="3200400" lvl="6" indent="-317500">
              <a:lnSpc>
                <a:spcPct val="115000"/>
              </a:lnSpc>
              <a:spcBef>
                <a:spcPts val="16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7pPr>
            <a:lvl8pPr marL="3657600" lvl="7" indent="-317500">
              <a:lnSpc>
                <a:spcPct val="115000"/>
              </a:lnSpc>
              <a:spcBef>
                <a:spcPts val="16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8pPr>
            <a:lvl9pPr marL="4114800" lvl="8" indent="-317500">
              <a:lnSpc>
                <a:spcPct val="115000"/>
              </a:lnSpc>
              <a:spcBef>
                <a:spcPts val="1600"/>
              </a:spcBef>
              <a:spcAft>
                <a:spcPts val="1600"/>
              </a:spcAft>
              <a:buClr>
                <a:schemeClr val="dk1"/>
              </a:buClr>
              <a:buSzPts val="1400"/>
              <a:buFont typeface="Assistant"/>
              <a:buChar char="■"/>
              <a:defRPr>
                <a:solidFill>
                  <a:schemeClr val="dk1"/>
                </a:solidFill>
                <a:latin typeface="Assistant"/>
                <a:ea typeface="Assistant"/>
                <a:cs typeface="Assistant"/>
                <a:sym typeface="Assistan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74"/>
        <p:cNvGrpSpPr/>
        <p:nvPr/>
      </p:nvGrpSpPr>
      <p:grpSpPr>
        <a:xfrm>
          <a:off x="0" y="0"/>
          <a:ext cx="0" cy="0"/>
          <a:chOff x="0" y="0"/>
          <a:chExt cx="0" cy="0"/>
        </a:xfrm>
      </p:grpSpPr>
      <p:sp>
        <p:nvSpPr>
          <p:cNvPr id="75" name="Google Shape;75;p22"/>
          <p:cNvSpPr txBox="1">
            <a:spLocks noGrp="1"/>
          </p:cNvSpPr>
          <p:nvPr>
            <p:ph type="ctrTitle"/>
          </p:nvPr>
        </p:nvSpPr>
        <p:spPr>
          <a:xfrm>
            <a:off x="1554450" y="673200"/>
            <a:ext cx="6035100" cy="1788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800" b="1" u="sng" dirty="0">
                <a:solidFill>
                  <a:srgbClr val="0070C0"/>
                </a:solidFill>
                <a:latin typeface="Alexandria"/>
                <a:ea typeface="Alexandria"/>
                <a:cs typeface="Alexandria"/>
                <a:sym typeface="Alexandria"/>
              </a:rPr>
              <a:t>Week 3 </a:t>
            </a:r>
            <a:endParaRPr sz="5800" b="1" u="sng" dirty="0">
              <a:solidFill>
                <a:srgbClr val="0070C0"/>
              </a:solidFill>
              <a:latin typeface="Alexandria"/>
              <a:ea typeface="Alexandria"/>
              <a:cs typeface="Alexandria"/>
              <a:sym typeface="Alexandria"/>
            </a:endParaRPr>
          </a:p>
          <a:p>
            <a:pPr marL="0" lvl="0" indent="0" algn="ctr" rtl="0">
              <a:spcBef>
                <a:spcPts val="0"/>
              </a:spcBef>
              <a:spcAft>
                <a:spcPts val="0"/>
              </a:spcAft>
              <a:buNone/>
            </a:pPr>
            <a:r>
              <a:rPr lang="en" sz="5800" b="1" u="sng" dirty="0">
                <a:solidFill>
                  <a:srgbClr val="0070C0"/>
                </a:solidFill>
                <a:latin typeface="Alexandria"/>
                <a:ea typeface="Alexandria"/>
                <a:cs typeface="Alexandria"/>
                <a:sym typeface="Alexandria"/>
              </a:rPr>
              <a:t>Small Group</a:t>
            </a:r>
            <a:endParaRPr sz="5800" b="1" u="sng" dirty="0">
              <a:solidFill>
                <a:srgbClr val="0070C0"/>
              </a:solidFill>
              <a:latin typeface="Alexandria"/>
              <a:ea typeface="Alexandria"/>
              <a:cs typeface="Alexandria"/>
              <a:sym typeface="Alexandria"/>
            </a:endParaRPr>
          </a:p>
        </p:txBody>
      </p:sp>
      <p:sp>
        <p:nvSpPr>
          <p:cNvPr id="76" name="Google Shape;76;p22"/>
          <p:cNvSpPr txBox="1">
            <a:spLocks noGrp="1"/>
          </p:cNvSpPr>
          <p:nvPr>
            <p:ph type="title" idx="4294967295"/>
          </p:nvPr>
        </p:nvSpPr>
        <p:spPr>
          <a:xfrm>
            <a:off x="192505" y="2732171"/>
            <a:ext cx="8710864"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400" b="1" dirty="0">
                <a:latin typeface="Assistant" pitchFamily="2" charset="-79"/>
                <a:cs typeface="Assistant" pitchFamily="2" charset="-79"/>
              </a:rPr>
              <a:t>Behavior Modification Assignment Project: Defining Behaviors, ABCs, </a:t>
            </a:r>
            <a:endParaRPr sz="3400" b="1" dirty="0">
              <a:latin typeface="Assistant" pitchFamily="2" charset="-79"/>
              <a:cs typeface="Assistant" pitchFamily="2" charset="-79"/>
            </a:endParaRPr>
          </a:p>
          <a:p>
            <a:pPr marL="0" lvl="0" indent="0" algn="ctr" rtl="0">
              <a:spcBef>
                <a:spcPts val="0"/>
              </a:spcBef>
              <a:spcAft>
                <a:spcPts val="0"/>
              </a:spcAft>
              <a:buNone/>
            </a:pPr>
            <a:r>
              <a:rPr lang="en" sz="3400" b="1" dirty="0">
                <a:latin typeface="Assistant" pitchFamily="2" charset="-79"/>
                <a:cs typeface="Assistant" pitchFamily="2" charset="-79"/>
              </a:rPr>
              <a:t>and SMART Goals</a:t>
            </a:r>
            <a:endParaRPr sz="3400" b="1" dirty="0">
              <a:latin typeface="Assistant" pitchFamily="2" charset="-79"/>
              <a:cs typeface="Assistant" pitchFamily="2" charset="-79"/>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91"/>
        <p:cNvGrpSpPr/>
        <p:nvPr/>
      </p:nvGrpSpPr>
      <p:grpSpPr>
        <a:xfrm>
          <a:off x="0" y="0"/>
          <a:ext cx="0" cy="0"/>
          <a:chOff x="0" y="0"/>
          <a:chExt cx="0" cy="0"/>
        </a:xfrm>
      </p:grpSpPr>
      <p:pic>
        <p:nvPicPr>
          <p:cNvPr id="92" name="Google Shape;92;p25"/>
          <p:cNvPicPr preferRelativeResize="0"/>
          <p:nvPr/>
        </p:nvPicPr>
        <p:blipFill>
          <a:blip r:embed="rId3">
            <a:alphaModFix/>
          </a:blip>
          <a:stretch>
            <a:fillRect/>
          </a:stretch>
        </p:blipFill>
        <p:spPr>
          <a:xfrm>
            <a:off x="-71021" y="956603"/>
            <a:ext cx="9215021" cy="4222734"/>
          </a:xfrm>
          <a:prstGeom prst="rect">
            <a:avLst/>
          </a:prstGeom>
          <a:noFill/>
          <a:ln>
            <a:noFill/>
          </a:ln>
        </p:spPr>
      </p:pic>
      <p:sp>
        <p:nvSpPr>
          <p:cNvPr id="3" name="Google Shape;97;p26">
            <a:extLst>
              <a:ext uri="{FF2B5EF4-FFF2-40B4-BE49-F238E27FC236}">
                <a16:creationId xmlns:a16="http://schemas.microsoft.com/office/drawing/2014/main" id="{D478E6B8-F143-4C57-99BC-6E1BF05CC6F2}"/>
              </a:ext>
            </a:extLst>
          </p:cNvPr>
          <p:cNvSpPr txBox="1">
            <a:spLocks/>
          </p:cNvSpPr>
          <p:nvPr/>
        </p:nvSpPr>
        <p:spPr>
          <a:xfrm>
            <a:off x="419070" y="98924"/>
            <a:ext cx="8357937" cy="640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600" b="1" dirty="0">
                <a:solidFill>
                  <a:srgbClr val="0070C0"/>
                </a:solidFill>
              </a:rPr>
              <a:t>Free UofM Microsoft Word Access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1B20F-0DFA-667D-E7FF-2646395FFA1E}"/>
              </a:ext>
            </a:extLst>
          </p:cNvPr>
          <p:cNvSpPr>
            <a:spLocks noGrp="1"/>
          </p:cNvSpPr>
          <p:nvPr>
            <p:ph type="title"/>
          </p:nvPr>
        </p:nvSpPr>
        <p:spPr>
          <a:xfrm>
            <a:off x="987963" y="0"/>
            <a:ext cx="7268066" cy="640200"/>
          </a:xfrm>
        </p:spPr>
        <p:txBody>
          <a:bodyPr/>
          <a:lstStyle/>
          <a:p>
            <a:pPr algn="ctr"/>
            <a:r>
              <a:rPr lang="en-US" dirty="0">
                <a:solidFill>
                  <a:srgbClr val="0070C0"/>
                </a:solidFill>
              </a:rPr>
              <a:t>Behavior Modification </a:t>
            </a:r>
            <a:br>
              <a:rPr lang="en-US" dirty="0">
                <a:solidFill>
                  <a:srgbClr val="0070C0"/>
                </a:solidFill>
              </a:rPr>
            </a:br>
            <a:r>
              <a:rPr lang="en-US" dirty="0">
                <a:solidFill>
                  <a:srgbClr val="0070C0"/>
                </a:solidFill>
              </a:rPr>
              <a:t>Assignment Project</a:t>
            </a:r>
          </a:p>
        </p:txBody>
      </p:sp>
      <p:sp>
        <p:nvSpPr>
          <p:cNvPr id="3" name="Text Placeholder 2">
            <a:extLst>
              <a:ext uri="{FF2B5EF4-FFF2-40B4-BE49-F238E27FC236}">
                <a16:creationId xmlns:a16="http://schemas.microsoft.com/office/drawing/2014/main" id="{EC44D64B-B964-8E9B-B3EC-87C04A34F133}"/>
              </a:ext>
            </a:extLst>
          </p:cNvPr>
          <p:cNvSpPr>
            <a:spLocks noGrp="1"/>
          </p:cNvSpPr>
          <p:nvPr>
            <p:ph type="body" idx="1"/>
          </p:nvPr>
        </p:nvSpPr>
        <p:spPr>
          <a:xfrm>
            <a:off x="0" y="1186018"/>
            <a:ext cx="9144000" cy="1505700"/>
          </a:xfrm>
          <a:solidFill>
            <a:schemeClr val="accent4"/>
          </a:solidFill>
        </p:spPr>
        <p:txBody>
          <a:bodyPr/>
          <a:lstStyle/>
          <a:p>
            <a:r>
              <a:rPr lang="en-US" sz="2400" dirty="0"/>
              <a:t>Worth 150 points – 12.2% of your Final Grade.</a:t>
            </a:r>
          </a:p>
          <a:p>
            <a:r>
              <a:rPr lang="en-US" sz="2400" dirty="0"/>
              <a:t>Consists of three Handouts:</a:t>
            </a:r>
          </a:p>
          <a:p>
            <a:pPr lvl="1"/>
            <a:r>
              <a:rPr lang="en-US" sz="2400" dirty="0"/>
              <a:t>Behavior Modification Assignment Handout #1: Defining Behaviors, ABCs, and SMART Goals (50 pts)</a:t>
            </a:r>
          </a:p>
          <a:p>
            <a:pPr lvl="1"/>
            <a:r>
              <a:rPr lang="en-US" sz="2400" dirty="0"/>
              <a:t>Behavior Modification Assignment Handout #2: Learning Operant Conditioning and Applying It to Behavior Change (50 pts)</a:t>
            </a:r>
          </a:p>
          <a:p>
            <a:pPr lvl="1"/>
            <a:r>
              <a:rPr lang="en-US" sz="2400" dirty="0"/>
              <a:t>Behavior Modification Assignment Handout #3: Graphing Data and Analyzing Intervention (50 pts)</a:t>
            </a:r>
          </a:p>
        </p:txBody>
      </p:sp>
    </p:spTree>
    <p:extLst>
      <p:ext uri="{BB962C8B-B14F-4D97-AF65-F5344CB8AC3E}">
        <p14:creationId xmlns:p14="http://schemas.microsoft.com/office/powerpoint/2010/main" val="1971170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a:extLst>
            <a:ext uri="{FF2B5EF4-FFF2-40B4-BE49-F238E27FC236}">
              <a16:creationId xmlns:a16="http://schemas.microsoft.com/office/drawing/2014/main" id="{08E61B71-1F94-3780-43CD-FBB47FBC0B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D95DD5-69C8-4197-02CB-8820C01CFF75}"/>
              </a:ext>
            </a:extLst>
          </p:cNvPr>
          <p:cNvSpPr>
            <a:spLocks noGrp="1"/>
          </p:cNvSpPr>
          <p:nvPr>
            <p:ph type="title"/>
          </p:nvPr>
        </p:nvSpPr>
        <p:spPr>
          <a:xfrm>
            <a:off x="987963" y="0"/>
            <a:ext cx="7268066" cy="640200"/>
          </a:xfrm>
        </p:spPr>
        <p:txBody>
          <a:bodyPr/>
          <a:lstStyle/>
          <a:p>
            <a:pPr algn="ctr"/>
            <a:r>
              <a:rPr lang="en-US" dirty="0">
                <a:solidFill>
                  <a:srgbClr val="0070C0"/>
                </a:solidFill>
              </a:rPr>
              <a:t>Behavior Modification </a:t>
            </a:r>
            <a:br>
              <a:rPr lang="en-US" dirty="0">
                <a:solidFill>
                  <a:srgbClr val="0070C0"/>
                </a:solidFill>
              </a:rPr>
            </a:br>
            <a:r>
              <a:rPr lang="en-US" dirty="0">
                <a:solidFill>
                  <a:srgbClr val="0070C0"/>
                </a:solidFill>
              </a:rPr>
              <a:t>Assignment Project </a:t>
            </a:r>
            <a:r>
              <a:rPr lang="en-US" sz="2800" dirty="0">
                <a:solidFill>
                  <a:srgbClr val="0070C0"/>
                </a:solidFill>
              </a:rPr>
              <a:t>(cont.)</a:t>
            </a:r>
            <a:endParaRPr lang="en-US" dirty="0">
              <a:solidFill>
                <a:srgbClr val="0070C0"/>
              </a:solidFill>
            </a:endParaRPr>
          </a:p>
        </p:txBody>
      </p:sp>
      <p:sp>
        <p:nvSpPr>
          <p:cNvPr id="3" name="Text Placeholder 2">
            <a:extLst>
              <a:ext uri="{FF2B5EF4-FFF2-40B4-BE49-F238E27FC236}">
                <a16:creationId xmlns:a16="http://schemas.microsoft.com/office/drawing/2014/main" id="{3C074CC8-9A57-62BC-E295-F9EB5495C538}"/>
              </a:ext>
            </a:extLst>
          </p:cNvPr>
          <p:cNvSpPr>
            <a:spLocks noGrp="1"/>
          </p:cNvSpPr>
          <p:nvPr>
            <p:ph type="body" idx="1"/>
          </p:nvPr>
        </p:nvSpPr>
        <p:spPr>
          <a:xfrm>
            <a:off x="0" y="1186018"/>
            <a:ext cx="9144000" cy="1505700"/>
          </a:xfrm>
          <a:solidFill>
            <a:schemeClr val="accent4"/>
          </a:solidFill>
        </p:spPr>
        <p:txBody>
          <a:bodyPr/>
          <a:lstStyle/>
          <a:p>
            <a:r>
              <a:rPr lang="en-US" sz="2400" dirty="0"/>
              <a:t>Covers four weeks of Data Collection</a:t>
            </a:r>
          </a:p>
          <a:p>
            <a:pPr lvl="1"/>
            <a:r>
              <a:rPr lang="en-US" sz="2400" dirty="0"/>
              <a:t>One week of Baseline Data Collection</a:t>
            </a:r>
          </a:p>
          <a:p>
            <a:pPr lvl="1"/>
            <a:r>
              <a:rPr lang="en-US" sz="2400" dirty="0"/>
              <a:t>Three weeks of Intervention Data Collection</a:t>
            </a:r>
          </a:p>
          <a:p>
            <a:r>
              <a:rPr lang="en-US" sz="2400" dirty="0"/>
              <a:t>Today:</a:t>
            </a:r>
          </a:p>
          <a:p>
            <a:pPr lvl="1"/>
            <a:r>
              <a:rPr lang="en-US" sz="2400" dirty="0"/>
              <a:t>You will select an unwanted target behavior (from a list of four provided behaviors) that you want to attempt to change over the course of the semester. </a:t>
            </a:r>
          </a:p>
          <a:p>
            <a:pPr lvl="1"/>
            <a:r>
              <a:rPr lang="en-US" sz="2400" dirty="0"/>
              <a:t>You will complete the Behavior Modification Assignment Handout #1: Defining Behaviors, ABCs, and SMART Goals</a:t>
            </a:r>
          </a:p>
        </p:txBody>
      </p:sp>
    </p:spTree>
    <p:extLst>
      <p:ext uri="{BB962C8B-B14F-4D97-AF65-F5344CB8AC3E}">
        <p14:creationId xmlns:p14="http://schemas.microsoft.com/office/powerpoint/2010/main" val="4105012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96"/>
        <p:cNvGrpSpPr/>
        <p:nvPr/>
      </p:nvGrpSpPr>
      <p:grpSpPr>
        <a:xfrm>
          <a:off x="0" y="0"/>
          <a:ext cx="0" cy="0"/>
          <a:chOff x="0" y="0"/>
          <a:chExt cx="0" cy="0"/>
        </a:xfrm>
      </p:grpSpPr>
      <p:sp>
        <p:nvSpPr>
          <p:cNvPr id="97" name="Google Shape;97;p26"/>
          <p:cNvSpPr txBox="1">
            <a:spLocks noGrp="1"/>
          </p:cNvSpPr>
          <p:nvPr>
            <p:ph type="title" idx="3"/>
          </p:nvPr>
        </p:nvSpPr>
        <p:spPr>
          <a:xfrm>
            <a:off x="1297553" y="98474"/>
            <a:ext cx="66750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3600" dirty="0">
                <a:solidFill>
                  <a:srgbClr val="0070C0"/>
                </a:solidFill>
              </a:rPr>
              <a:t>Important Note: </a:t>
            </a:r>
            <a:endParaRPr sz="3600" dirty="0">
              <a:solidFill>
                <a:srgbClr val="0070C0"/>
              </a:solidFill>
            </a:endParaRPr>
          </a:p>
        </p:txBody>
      </p:sp>
      <p:sp>
        <p:nvSpPr>
          <p:cNvPr id="98" name="Google Shape;98;p26"/>
          <p:cNvSpPr txBox="1"/>
          <p:nvPr/>
        </p:nvSpPr>
        <p:spPr>
          <a:xfrm>
            <a:off x="0" y="771170"/>
            <a:ext cx="9144000" cy="4372329"/>
          </a:xfrm>
          <a:prstGeom prst="rect">
            <a:avLst/>
          </a:prstGeom>
          <a:noFill/>
          <a:ln>
            <a:noFill/>
          </a:ln>
        </p:spPr>
        <p:txBody>
          <a:bodyPr spcFirstLastPara="1" wrap="square" lIns="91425" tIns="91425" rIns="91425" bIns="91425" anchor="t" anchorCtr="0">
            <a:noAutofit/>
          </a:bodyPr>
          <a:lstStyle/>
          <a:p>
            <a:pPr marL="457200" lvl="0" indent="-381000" algn="l" rtl="0">
              <a:lnSpc>
                <a:spcPct val="115000"/>
              </a:lnSpc>
              <a:spcBef>
                <a:spcPts val="0"/>
              </a:spcBef>
              <a:spcAft>
                <a:spcPts val="0"/>
              </a:spcAft>
              <a:buClr>
                <a:srgbClr val="202020"/>
              </a:buClr>
              <a:buSzPts val="2400"/>
              <a:buFont typeface="Assistant"/>
              <a:buChar char="●"/>
            </a:pPr>
            <a:r>
              <a:rPr lang="en" sz="2800" dirty="0">
                <a:solidFill>
                  <a:srgbClr val="202020"/>
                </a:solidFill>
                <a:latin typeface="Assistant"/>
                <a:ea typeface="Assistant"/>
                <a:cs typeface="Assistant"/>
                <a:sym typeface="Assistant"/>
              </a:rPr>
              <a:t>F</a:t>
            </a:r>
            <a:r>
              <a:rPr lang="en-US" sz="2800" dirty="0">
                <a:solidFill>
                  <a:srgbClr val="202020"/>
                </a:solidFill>
                <a:latin typeface="Assistant"/>
                <a:ea typeface="Assistant"/>
                <a:cs typeface="Assistant"/>
                <a:sym typeface="Assistant"/>
              </a:rPr>
              <a:t>o</a:t>
            </a:r>
            <a:r>
              <a:rPr lang="en" sz="2800" dirty="0">
                <a:solidFill>
                  <a:srgbClr val="202020"/>
                </a:solidFill>
                <a:latin typeface="Assistant"/>
                <a:ea typeface="Assistant"/>
                <a:cs typeface="Assistant"/>
                <a:sym typeface="Assistant"/>
              </a:rPr>
              <a:t>r your Behavior Modification Assignment Project, you must intervene on your OWN behavior not someone else’s behavior.</a:t>
            </a:r>
            <a:endParaRPr sz="2800" dirty="0">
              <a:solidFill>
                <a:srgbClr val="202020"/>
              </a:solidFill>
              <a:latin typeface="Assistant"/>
              <a:ea typeface="Assistant"/>
              <a:cs typeface="Assistant"/>
              <a:sym typeface="Assistant"/>
            </a:endParaRPr>
          </a:p>
          <a:p>
            <a:pPr marL="457200" lvl="0" indent="0" algn="l" rtl="0">
              <a:lnSpc>
                <a:spcPct val="115000"/>
              </a:lnSpc>
              <a:spcBef>
                <a:spcPts val="0"/>
              </a:spcBef>
              <a:spcAft>
                <a:spcPts val="0"/>
              </a:spcAft>
              <a:buNone/>
            </a:pPr>
            <a:endParaRPr sz="2800" dirty="0">
              <a:solidFill>
                <a:srgbClr val="202020"/>
              </a:solidFill>
              <a:latin typeface="Assistant"/>
              <a:ea typeface="Assistant"/>
              <a:cs typeface="Assistant"/>
              <a:sym typeface="Assistant"/>
            </a:endParaRPr>
          </a:p>
          <a:p>
            <a:pPr marL="457200" lvl="0" indent="-381000" algn="l" rtl="0">
              <a:lnSpc>
                <a:spcPct val="115000"/>
              </a:lnSpc>
              <a:spcBef>
                <a:spcPts val="0"/>
              </a:spcBef>
              <a:spcAft>
                <a:spcPts val="0"/>
              </a:spcAft>
              <a:buClr>
                <a:srgbClr val="202020"/>
              </a:buClr>
              <a:buSzPts val="2400"/>
              <a:buFont typeface="Assistant"/>
              <a:buChar char="●"/>
            </a:pPr>
            <a:r>
              <a:rPr lang="en" sz="2800" dirty="0">
                <a:solidFill>
                  <a:srgbClr val="202020"/>
                </a:solidFill>
                <a:latin typeface="Assistant"/>
                <a:ea typeface="Assistant"/>
                <a:cs typeface="Assistant"/>
                <a:sym typeface="Assistant"/>
              </a:rPr>
              <a:t>It is very important to us that you do not cause yourself harm with your behavior modification intervention strategies. So, please be kind to yourself. </a:t>
            </a:r>
            <a:endParaRPr sz="2800" dirty="0">
              <a:solidFill>
                <a:srgbClr val="202020"/>
              </a:solidFill>
              <a:latin typeface="Assistant"/>
              <a:ea typeface="Assistant"/>
              <a:cs typeface="Assistant"/>
              <a:sym typeface="Assistant"/>
            </a:endParaRPr>
          </a:p>
          <a:p>
            <a:pPr marL="0" lvl="0" indent="0" algn="l" rtl="0">
              <a:lnSpc>
                <a:spcPct val="115000"/>
              </a:lnSpc>
              <a:spcBef>
                <a:spcPts val="0"/>
              </a:spcBef>
              <a:spcAft>
                <a:spcPts val="0"/>
              </a:spcAft>
              <a:buNone/>
            </a:pPr>
            <a:endParaRPr sz="2400" dirty="0">
              <a:solidFill>
                <a:srgbClr val="202020"/>
              </a:solidFill>
              <a:latin typeface="Assistant"/>
              <a:ea typeface="Assistant"/>
              <a:cs typeface="Assistant"/>
              <a:sym typeface="Assistan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102"/>
        <p:cNvGrpSpPr/>
        <p:nvPr/>
      </p:nvGrpSpPr>
      <p:grpSpPr>
        <a:xfrm>
          <a:off x="0" y="0"/>
          <a:ext cx="0" cy="0"/>
          <a:chOff x="0" y="0"/>
          <a:chExt cx="0" cy="0"/>
        </a:xfrm>
      </p:grpSpPr>
      <p:sp>
        <p:nvSpPr>
          <p:cNvPr id="103" name="Google Shape;103;p27"/>
          <p:cNvSpPr txBox="1"/>
          <p:nvPr/>
        </p:nvSpPr>
        <p:spPr>
          <a:xfrm>
            <a:off x="0" y="1278771"/>
            <a:ext cx="9144000" cy="234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3200" b="1" u="sng" dirty="0">
                <a:latin typeface="Assistant"/>
                <a:ea typeface="Assistant"/>
                <a:cs typeface="Assistant"/>
                <a:sym typeface="Assistant"/>
              </a:rPr>
              <a:t>Identify ONE behavior you want to change </a:t>
            </a:r>
            <a:endParaRPr sz="3200" b="1" u="sng" dirty="0">
              <a:latin typeface="Assistant"/>
              <a:ea typeface="Assistant"/>
              <a:cs typeface="Assistant"/>
              <a:sym typeface="Assistant"/>
            </a:endParaRPr>
          </a:p>
          <a:p>
            <a:pPr marL="0" lvl="0" indent="0" algn="ctr" rtl="0">
              <a:lnSpc>
                <a:spcPct val="115000"/>
              </a:lnSpc>
              <a:spcBef>
                <a:spcPts val="0"/>
              </a:spcBef>
              <a:spcAft>
                <a:spcPts val="0"/>
              </a:spcAft>
              <a:buNone/>
            </a:pPr>
            <a:r>
              <a:rPr lang="en" sz="3200" b="1" u="sng" dirty="0">
                <a:latin typeface="Assistant"/>
                <a:ea typeface="Assistant"/>
                <a:cs typeface="Assistant"/>
                <a:sym typeface="Assistant"/>
              </a:rPr>
              <a:t>from the list below:</a:t>
            </a:r>
            <a:endParaRPr sz="3200" b="1" u="sng" dirty="0">
              <a:latin typeface="Assistant"/>
              <a:ea typeface="Assistant"/>
              <a:cs typeface="Assistant"/>
              <a:sym typeface="Assistant"/>
            </a:endParaRPr>
          </a:p>
          <a:p>
            <a:pPr marL="457200" lvl="0" indent="0" algn="l" rtl="0">
              <a:lnSpc>
                <a:spcPct val="115000"/>
              </a:lnSpc>
              <a:spcBef>
                <a:spcPts val="0"/>
              </a:spcBef>
              <a:spcAft>
                <a:spcPts val="0"/>
              </a:spcAft>
              <a:buNone/>
            </a:pPr>
            <a:endParaRPr sz="2800" dirty="0">
              <a:latin typeface="Assistant"/>
              <a:ea typeface="Assistant"/>
              <a:cs typeface="Assistant"/>
              <a:sym typeface="Assistant"/>
            </a:endParaRPr>
          </a:p>
          <a:p>
            <a:pPr marL="685800" lvl="0" indent="-387350" algn="l" rtl="0">
              <a:lnSpc>
                <a:spcPct val="115000"/>
              </a:lnSpc>
              <a:spcBef>
                <a:spcPts val="0"/>
              </a:spcBef>
              <a:spcAft>
                <a:spcPts val="0"/>
              </a:spcAft>
              <a:buSzPts val="2500"/>
              <a:buFont typeface="Assistant"/>
              <a:buChar char="●"/>
            </a:pPr>
            <a:r>
              <a:rPr lang="en" sz="2800" dirty="0">
                <a:latin typeface="Assistant"/>
                <a:ea typeface="Assistant"/>
                <a:cs typeface="Assistant"/>
                <a:sym typeface="Assistant"/>
              </a:rPr>
              <a:t>Lack of sleep</a:t>
            </a:r>
            <a:endParaRPr sz="2800" dirty="0">
              <a:latin typeface="Assistant"/>
              <a:ea typeface="Assistant"/>
              <a:cs typeface="Assistant"/>
              <a:sym typeface="Assistant"/>
            </a:endParaRPr>
          </a:p>
          <a:p>
            <a:pPr marL="685800" lvl="0" indent="-387350" algn="l" rtl="0">
              <a:lnSpc>
                <a:spcPct val="115000"/>
              </a:lnSpc>
              <a:spcBef>
                <a:spcPts val="0"/>
              </a:spcBef>
              <a:spcAft>
                <a:spcPts val="0"/>
              </a:spcAft>
              <a:buSzPts val="2500"/>
              <a:buFont typeface="Assistant"/>
              <a:buChar char="●"/>
            </a:pPr>
            <a:r>
              <a:rPr lang="en" sz="2800" dirty="0">
                <a:latin typeface="Assistant"/>
                <a:ea typeface="Assistant"/>
                <a:cs typeface="Assistant"/>
                <a:sym typeface="Assistant"/>
              </a:rPr>
              <a:t>Lack of exercise</a:t>
            </a:r>
            <a:endParaRPr sz="2800" dirty="0">
              <a:latin typeface="Assistant"/>
              <a:ea typeface="Assistant"/>
              <a:cs typeface="Assistant"/>
              <a:sym typeface="Assistant"/>
            </a:endParaRPr>
          </a:p>
          <a:p>
            <a:pPr marL="685800" lvl="0" indent="-387350" algn="l" rtl="0">
              <a:lnSpc>
                <a:spcPct val="115000"/>
              </a:lnSpc>
              <a:spcBef>
                <a:spcPts val="0"/>
              </a:spcBef>
              <a:spcAft>
                <a:spcPts val="0"/>
              </a:spcAft>
              <a:buSzPts val="2500"/>
              <a:buFont typeface="Assistant"/>
              <a:buChar char="●"/>
            </a:pPr>
            <a:r>
              <a:rPr lang="en" sz="2800" dirty="0">
                <a:latin typeface="Assistant"/>
                <a:ea typeface="Assistant"/>
                <a:cs typeface="Assistant"/>
                <a:sym typeface="Assistant"/>
              </a:rPr>
              <a:t>Insufficient consumption of fruits and vegetables</a:t>
            </a:r>
            <a:endParaRPr sz="2800" dirty="0">
              <a:latin typeface="Assistant"/>
              <a:ea typeface="Assistant"/>
              <a:cs typeface="Assistant"/>
              <a:sym typeface="Assistant"/>
            </a:endParaRPr>
          </a:p>
          <a:p>
            <a:pPr marL="685800" lvl="0" indent="-387350" algn="l" rtl="0">
              <a:lnSpc>
                <a:spcPct val="115000"/>
              </a:lnSpc>
              <a:spcBef>
                <a:spcPts val="0"/>
              </a:spcBef>
              <a:spcAft>
                <a:spcPts val="0"/>
              </a:spcAft>
              <a:buSzPts val="2500"/>
              <a:buFont typeface="Assistant"/>
              <a:buChar char="●"/>
            </a:pPr>
            <a:r>
              <a:rPr lang="en" sz="2800" dirty="0">
                <a:latin typeface="Assistant"/>
                <a:ea typeface="Assistant"/>
                <a:cs typeface="Assistant"/>
                <a:sym typeface="Assistant"/>
              </a:rPr>
              <a:t>Spending too much time on electronic devices </a:t>
            </a:r>
            <a:endParaRPr sz="2800" dirty="0">
              <a:latin typeface="Assistant"/>
              <a:ea typeface="Assistant"/>
              <a:cs typeface="Assistant"/>
              <a:sym typeface="Assistant"/>
            </a:endParaRPr>
          </a:p>
        </p:txBody>
      </p:sp>
      <p:sp>
        <p:nvSpPr>
          <p:cNvPr id="3" name="Google Shape;97;p26">
            <a:extLst>
              <a:ext uri="{FF2B5EF4-FFF2-40B4-BE49-F238E27FC236}">
                <a16:creationId xmlns:a16="http://schemas.microsoft.com/office/drawing/2014/main" id="{4CD5C8AE-1E1E-DFDE-2BD1-333272FD452F}"/>
              </a:ext>
            </a:extLst>
          </p:cNvPr>
          <p:cNvSpPr txBox="1">
            <a:spLocks/>
          </p:cNvSpPr>
          <p:nvPr/>
        </p:nvSpPr>
        <p:spPr>
          <a:xfrm>
            <a:off x="1283486" y="0"/>
            <a:ext cx="6675000" cy="640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600" b="1" dirty="0">
                <a:solidFill>
                  <a:srgbClr val="0070C0"/>
                </a:solidFill>
              </a:rPr>
              <a:t>Choosing an Unwanted </a:t>
            </a:r>
          </a:p>
          <a:p>
            <a:pPr algn="ctr"/>
            <a:r>
              <a:rPr lang="en-US" sz="3600" b="1" dirty="0">
                <a:solidFill>
                  <a:srgbClr val="0070C0"/>
                </a:solidFill>
              </a:rPr>
              <a:t>Target Behavior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107"/>
        <p:cNvGrpSpPr/>
        <p:nvPr/>
      </p:nvGrpSpPr>
      <p:grpSpPr>
        <a:xfrm>
          <a:off x="0" y="0"/>
          <a:ext cx="0" cy="0"/>
          <a:chOff x="0" y="0"/>
          <a:chExt cx="0" cy="0"/>
        </a:xfrm>
      </p:grpSpPr>
      <p:sp>
        <p:nvSpPr>
          <p:cNvPr id="108" name="Google Shape;108;p28"/>
          <p:cNvSpPr txBox="1">
            <a:spLocks noGrp="1"/>
          </p:cNvSpPr>
          <p:nvPr>
            <p:ph type="title"/>
          </p:nvPr>
        </p:nvSpPr>
        <p:spPr>
          <a:xfrm>
            <a:off x="229830" y="133408"/>
            <a:ext cx="8914170" cy="158285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sz="2600" dirty="0">
                <a:solidFill>
                  <a:srgbClr val="0070C0"/>
                </a:solidFill>
              </a:rPr>
              <a:t>1. Define your </a:t>
            </a:r>
            <a:r>
              <a:rPr lang="en" sz="2600" u="sng" dirty="0">
                <a:solidFill>
                  <a:srgbClr val="0070C0"/>
                </a:solidFill>
              </a:rPr>
              <a:t>unwanted target behavior</a:t>
            </a:r>
            <a:r>
              <a:rPr lang="en" sz="2600" dirty="0">
                <a:solidFill>
                  <a:srgbClr val="0070C0"/>
                </a:solidFill>
              </a:rPr>
              <a:t> and explain WHY you chose this particular </a:t>
            </a:r>
            <a:r>
              <a:rPr lang="en" sz="2600" u="sng" dirty="0">
                <a:solidFill>
                  <a:srgbClr val="0070C0"/>
                </a:solidFill>
              </a:rPr>
              <a:t>unwanted target behavior</a:t>
            </a:r>
            <a:r>
              <a:rPr lang="en" sz="2600" dirty="0">
                <a:solidFill>
                  <a:srgbClr val="0070C0"/>
                </a:solidFill>
              </a:rPr>
              <a:t> for intervention.</a:t>
            </a:r>
            <a:endParaRPr sz="2600" dirty="0">
              <a:solidFill>
                <a:srgbClr val="0070C0"/>
              </a:solidFill>
            </a:endParaRPr>
          </a:p>
        </p:txBody>
      </p:sp>
      <p:sp>
        <p:nvSpPr>
          <p:cNvPr id="109" name="Google Shape;109;p28"/>
          <p:cNvSpPr txBox="1"/>
          <p:nvPr/>
        </p:nvSpPr>
        <p:spPr>
          <a:xfrm>
            <a:off x="98474" y="1588901"/>
            <a:ext cx="8876714" cy="3554599"/>
          </a:xfrm>
          <a:prstGeom prst="rect">
            <a:avLst/>
          </a:prstGeom>
          <a:noFill/>
          <a:ln>
            <a:noFill/>
          </a:ln>
        </p:spPr>
        <p:txBody>
          <a:bodyPr spcFirstLastPara="1" wrap="square" lIns="91425" tIns="91425" rIns="91425" bIns="91425" anchor="t" anchorCtr="0">
            <a:noAutofit/>
          </a:bodyPr>
          <a:lstStyle/>
          <a:p>
            <a:pPr marL="0" lvl="0" indent="0" algn="just" rtl="0">
              <a:lnSpc>
                <a:spcPct val="130000"/>
              </a:lnSpc>
              <a:spcBef>
                <a:spcPts val="0"/>
              </a:spcBef>
              <a:spcAft>
                <a:spcPts val="0"/>
              </a:spcAft>
              <a:buNone/>
            </a:pPr>
            <a:r>
              <a:rPr lang="en" sz="2400" dirty="0">
                <a:solidFill>
                  <a:schemeClr val="dk1"/>
                </a:solidFill>
                <a:latin typeface="Assistant"/>
                <a:ea typeface="Assistant"/>
                <a:cs typeface="Assistant"/>
                <a:sym typeface="Assistant"/>
              </a:rPr>
              <a:t>You must have 1 sentence describing your </a:t>
            </a:r>
            <a:r>
              <a:rPr lang="en" sz="2400" u="sng" dirty="0">
                <a:solidFill>
                  <a:schemeClr val="dk1"/>
                </a:solidFill>
                <a:latin typeface="Assistant"/>
                <a:ea typeface="Assistant"/>
                <a:cs typeface="Assistant"/>
                <a:sym typeface="Assistant"/>
              </a:rPr>
              <a:t>unwanted target behavior</a:t>
            </a:r>
            <a:r>
              <a:rPr lang="en" sz="2400" dirty="0">
                <a:solidFill>
                  <a:schemeClr val="dk1"/>
                </a:solidFill>
                <a:latin typeface="Assistant"/>
                <a:ea typeface="Assistant"/>
                <a:cs typeface="Assistant"/>
                <a:sym typeface="Assistant"/>
              </a:rPr>
              <a:t> and at least 3 sentences explaining </a:t>
            </a:r>
            <a:r>
              <a:rPr lang="en" sz="2400" b="1" i="1" dirty="0">
                <a:solidFill>
                  <a:schemeClr val="dk1"/>
                </a:solidFill>
                <a:latin typeface="Assistant"/>
                <a:ea typeface="Assistant"/>
                <a:cs typeface="Assistant"/>
                <a:sym typeface="Assistant"/>
              </a:rPr>
              <a:t>why</a:t>
            </a:r>
            <a:r>
              <a:rPr lang="en" sz="2400" dirty="0">
                <a:solidFill>
                  <a:schemeClr val="dk1"/>
                </a:solidFill>
                <a:latin typeface="Assistant"/>
                <a:ea typeface="Assistant"/>
                <a:cs typeface="Assistant"/>
                <a:sym typeface="Assistant"/>
              </a:rPr>
              <a:t> you chose to change this particular behavior. This may include the fact that you experience specific detrimental symptoms when you engage in your </a:t>
            </a:r>
            <a:r>
              <a:rPr lang="en" sz="2400" u="sng" dirty="0">
                <a:solidFill>
                  <a:schemeClr val="dk1"/>
                </a:solidFill>
                <a:latin typeface="Assistant"/>
                <a:ea typeface="Assistant"/>
                <a:cs typeface="Assistant"/>
                <a:sym typeface="Assistant"/>
              </a:rPr>
              <a:t>unwanted target behavior</a:t>
            </a:r>
            <a:r>
              <a:rPr lang="en" sz="2400" dirty="0">
                <a:solidFill>
                  <a:schemeClr val="dk1"/>
                </a:solidFill>
                <a:latin typeface="Assistant"/>
                <a:ea typeface="Assistant"/>
                <a:cs typeface="Assistant"/>
                <a:sym typeface="Assistant"/>
              </a:rPr>
              <a:t> and/or health issues that can arise from continuing your behavior, etc.</a:t>
            </a:r>
            <a:endParaRPr sz="2400" dirty="0">
              <a:solidFill>
                <a:schemeClr val="dk1"/>
              </a:solidFill>
              <a:latin typeface="Assistant"/>
              <a:ea typeface="Assistant"/>
              <a:cs typeface="Assistant"/>
              <a:sym typeface="Assistant"/>
            </a:endParaRPr>
          </a:p>
          <a:p>
            <a:pPr marL="0" lvl="0" indent="0" algn="l" rtl="0">
              <a:lnSpc>
                <a:spcPct val="115000"/>
              </a:lnSpc>
              <a:spcBef>
                <a:spcPts val="0"/>
              </a:spcBef>
              <a:spcAft>
                <a:spcPts val="0"/>
              </a:spcAft>
              <a:buNone/>
            </a:pPr>
            <a:endParaRPr dirty="0">
              <a:latin typeface="Assistant"/>
              <a:ea typeface="Assistant"/>
              <a:cs typeface="Assistant"/>
              <a:sym typeface="Assistan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113"/>
        <p:cNvGrpSpPr/>
        <p:nvPr/>
      </p:nvGrpSpPr>
      <p:grpSpPr>
        <a:xfrm>
          <a:off x="0" y="0"/>
          <a:ext cx="0" cy="0"/>
          <a:chOff x="0" y="0"/>
          <a:chExt cx="0" cy="0"/>
        </a:xfrm>
      </p:grpSpPr>
      <p:sp>
        <p:nvSpPr>
          <p:cNvPr id="114" name="Google Shape;114;p29"/>
          <p:cNvSpPr txBox="1">
            <a:spLocks noGrp="1"/>
          </p:cNvSpPr>
          <p:nvPr>
            <p:ph type="title"/>
          </p:nvPr>
        </p:nvSpPr>
        <p:spPr>
          <a:xfrm>
            <a:off x="1225073" y="118056"/>
            <a:ext cx="66750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dirty="0">
                <a:solidFill>
                  <a:srgbClr val="0070C0"/>
                </a:solidFill>
              </a:rPr>
              <a:t>Example</a:t>
            </a:r>
            <a:endParaRPr sz="3600" dirty="0">
              <a:solidFill>
                <a:srgbClr val="0070C0"/>
              </a:solidFill>
            </a:endParaRPr>
          </a:p>
        </p:txBody>
      </p:sp>
      <p:sp>
        <p:nvSpPr>
          <p:cNvPr id="115" name="Google Shape;115;p29"/>
          <p:cNvSpPr txBox="1"/>
          <p:nvPr/>
        </p:nvSpPr>
        <p:spPr>
          <a:xfrm>
            <a:off x="0" y="654584"/>
            <a:ext cx="8975188" cy="1920300"/>
          </a:xfrm>
          <a:prstGeom prst="rect">
            <a:avLst/>
          </a:prstGeom>
          <a:noFill/>
          <a:ln>
            <a:noFill/>
          </a:ln>
        </p:spPr>
        <p:txBody>
          <a:bodyPr spcFirstLastPara="1" wrap="square" lIns="91425" tIns="91425" rIns="91425" bIns="91425" anchor="t" anchorCtr="0">
            <a:noAutofit/>
          </a:bodyPr>
          <a:lstStyle/>
          <a:p>
            <a:pPr marL="101600" lvl="0" algn="l" rtl="0">
              <a:lnSpc>
                <a:spcPct val="150000"/>
              </a:lnSpc>
              <a:spcBef>
                <a:spcPts val="0"/>
              </a:spcBef>
              <a:spcAft>
                <a:spcPts val="0"/>
              </a:spcAft>
              <a:buClr>
                <a:schemeClr val="dk1"/>
              </a:buClr>
              <a:buSzPts val="2000"/>
            </a:pPr>
            <a:r>
              <a:rPr lang="en" sz="2400" b="1" dirty="0">
                <a:solidFill>
                  <a:schemeClr val="dk1"/>
                </a:solidFill>
                <a:latin typeface="Assistant"/>
                <a:ea typeface="Assistant"/>
                <a:cs typeface="Assistant"/>
                <a:sym typeface="Assistant"/>
              </a:rPr>
              <a:t>1.  </a:t>
            </a:r>
            <a:r>
              <a:rPr lang="en" sz="2400" b="1" u="sng" dirty="0">
                <a:solidFill>
                  <a:schemeClr val="dk1"/>
                </a:solidFill>
                <a:latin typeface="Assistant"/>
                <a:ea typeface="Assistant"/>
                <a:cs typeface="Assistant"/>
                <a:sym typeface="Assistant"/>
              </a:rPr>
              <a:t>My unwanted target behavior</a:t>
            </a:r>
            <a:r>
              <a:rPr lang="en" sz="2400" b="1" dirty="0">
                <a:solidFill>
                  <a:schemeClr val="dk1"/>
                </a:solidFill>
                <a:latin typeface="Assistant"/>
                <a:ea typeface="Assistant"/>
                <a:cs typeface="Assistant"/>
                <a:sym typeface="Assistant"/>
              </a:rPr>
              <a:t> is</a:t>
            </a:r>
            <a:r>
              <a:rPr lang="en" sz="2400" dirty="0">
                <a:solidFill>
                  <a:schemeClr val="dk1"/>
                </a:solidFill>
                <a:latin typeface="Assistant"/>
                <a:ea typeface="Assistant"/>
                <a:cs typeface="Assistant"/>
                <a:sym typeface="Assistant"/>
              </a:rPr>
              <a:t> </a:t>
            </a:r>
            <a:r>
              <a:rPr lang="en" sz="2400" b="1" dirty="0">
                <a:solidFill>
                  <a:schemeClr val="dk1"/>
                </a:solidFill>
                <a:latin typeface="Assistant"/>
                <a:ea typeface="Assistant"/>
                <a:cs typeface="Assistant"/>
                <a:sym typeface="Assistant"/>
              </a:rPr>
              <a:t>NOT drinking enough water.</a:t>
            </a:r>
            <a:endParaRPr sz="2400" b="1" dirty="0">
              <a:solidFill>
                <a:schemeClr val="dk1"/>
              </a:solidFill>
              <a:latin typeface="Assistant"/>
              <a:ea typeface="Assistant"/>
              <a:cs typeface="Assistant"/>
              <a:sym typeface="Assistant"/>
            </a:endParaRPr>
          </a:p>
          <a:p>
            <a:pPr marL="914400" lvl="1" indent="-355600" algn="l" rtl="0">
              <a:lnSpc>
                <a:spcPct val="150000"/>
              </a:lnSpc>
              <a:spcBef>
                <a:spcPts val="0"/>
              </a:spcBef>
              <a:spcAft>
                <a:spcPts val="0"/>
              </a:spcAft>
              <a:buClr>
                <a:schemeClr val="dk1"/>
              </a:buClr>
              <a:buSzPts val="2000"/>
              <a:buChar char="○"/>
            </a:pPr>
            <a:r>
              <a:rPr lang="en" sz="2400" b="1" dirty="0">
                <a:solidFill>
                  <a:schemeClr val="dk1"/>
                </a:solidFill>
                <a:latin typeface="Assistant"/>
                <a:ea typeface="Assistant"/>
                <a:cs typeface="Assistant"/>
                <a:sym typeface="Assistant"/>
              </a:rPr>
              <a:t>Not drinking enough water gives me headaches</a:t>
            </a:r>
            <a:r>
              <a:rPr lang="en" sz="2400" dirty="0">
                <a:solidFill>
                  <a:schemeClr val="dk1"/>
                </a:solidFill>
                <a:latin typeface="Assistant"/>
                <a:ea typeface="Assistant"/>
                <a:cs typeface="Assistant"/>
                <a:sym typeface="Assistant"/>
              </a:rPr>
              <a:t>, and I want to have less headaches so I can be more productive.</a:t>
            </a:r>
            <a:endParaRPr sz="2400" dirty="0">
              <a:solidFill>
                <a:schemeClr val="dk1"/>
              </a:solidFill>
              <a:latin typeface="Assistant"/>
              <a:ea typeface="Assistant"/>
              <a:cs typeface="Assistant"/>
              <a:sym typeface="Assistant"/>
            </a:endParaRPr>
          </a:p>
          <a:p>
            <a:pPr marL="914400" lvl="1" indent="-355600" algn="l" rtl="0">
              <a:lnSpc>
                <a:spcPct val="150000"/>
              </a:lnSpc>
              <a:spcBef>
                <a:spcPts val="0"/>
              </a:spcBef>
              <a:spcAft>
                <a:spcPts val="0"/>
              </a:spcAft>
              <a:buClr>
                <a:schemeClr val="dk1"/>
              </a:buClr>
              <a:buSzPts val="2000"/>
              <a:buChar char="○"/>
            </a:pPr>
            <a:r>
              <a:rPr lang="en" sz="2400" b="1" dirty="0">
                <a:solidFill>
                  <a:schemeClr val="dk1"/>
                </a:solidFill>
                <a:latin typeface="Assistant"/>
                <a:ea typeface="Assistant"/>
                <a:cs typeface="Assistant"/>
                <a:sym typeface="Assistant"/>
              </a:rPr>
              <a:t>Not drinking enough water makes me feel sluggish</a:t>
            </a:r>
            <a:r>
              <a:rPr lang="en" sz="2400" dirty="0">
                <a:solidFill>
                  <a:schemeClr val="dk1"/>
                </a:solidFill>
                <a:latin typeface="Assistant"/>
                <a:ea typeface="Assistant"/>
                <a:cs typeface="Assistant"/>
                <a:sym typeface="Assistant"/>
              </a:rPr>
              <a:t>, and I want to have more energy so I can have more fun.</a:t>
            </a:r>
            <a:endParaRPr sz="2400" dirty="0">
              <a:solidFill>
                <a:schemeClr val="dk1"/>
              </a:solidFill>
              <a:latin typeface="Assistant"/>
              <a:ea typeface="Assistant"/>
              <a:cs typeface="Assistant"/>
              <a:sym typeface="Assistant"/>
            </a:endParaRPr>
          </a:p>
          <a:p>
            <a:pPr marL="914400" lvl="1" indent="-355600" algn="l" rtl="0">
              <a:lnSpc>
                <a:spcPct val="150000"/>
              </a:lnSpc>
              <a:spcBef>
                <a:spcPts val="0"/>
              </a:spcBef>
              <a:spcAft>
                <a:spcPts val="0"/>
              </a:spcAft>
              <a:buClr>
                <a:schemeClr val="dk1"/>
              </a:buClr>
              <a:buSzPts val="2000"/>
              <a:buChar char="○"/>
            </a:pPr>
            <a:r>
              <a:rPr lang="en" sz="2400" dirty="0">
                <a:solidFill>
                  <a:schemeClr val="dk1"/>
                </a:solidFill>
                <a:latin typeface="Assistant"/>
                <a:ea typeface="Assistant"/>
                <a:cs typeface="Assistant"/>
                <a:sym typeface="Assistant"/>
              </a:rPr>
              <a:t>When I’m not drinking enough water, </a:t>
            </a:r>
            <a:r>
              <a:rPr lang="en" sz="2400" b="1" dirty="0">
                <a:solidFill>
                  <a:schemeClr val="dk1"/>
                </a:solidFill>
                <a:latin typeface="Assistant"/>
                <a:ea typeface="Assistant"/>
                <a:cs typeface="Assistant"/>
                <a:sym typeface="Assistant"/>
              </a:rPr>
              <a:t>I drink soda instead, so I am spending too much money on soda. </a:t>
            </a:r>
            <a:endParaRPr sz="2400" b="1" dirty="0">
              <a:solidFill>
                <a:schemeClr val="dk1"/>
              </a:solidFill>
              <a:latin typeface="Assistant"/>
              <a:ea typeface="Assistant"/>
              <a:cs typeface="Assistant"/>
              <a:sym typeface="Assistan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119"/>
        <p:cNvGrpSpPr/>
        <p:nvPr/>
      </p:nvGrpSpPr>
      <p:grpSpPr>
        <a:xfrm>
          <a:off x="0" y="0"/>
          <a:ext cx="0" cy="0"/>
          <a:chOff x="0" y="0"/>
          <a:chExt cx="0" cy="0"/>
        </a:xfrm>
      </p:grpSpPr>
      <p:sp>
        <p:nvSpPr>
          <p:cNvPr id="120" name="Google Shape;120;p30"/>
          <p:cNvSpPr txBox="1">
            <a:spLocks noGrp="1"/>
          </p:cNvSpPr>
          <p:nvPr>
            <p:ph type="title"/>
          </p:nvPr>
        </p:nvSpPr>
        <p:spPr>
          <a:xfrm>
            <a:off x="121682" y="150012"/>
            <a:ext cx="9120791" cy="640200"/>
          </a:xfrm>
          <a:prstGeom prst="rect">
            <a:avLst/>
          </a:prstGeom>
        </p:spPr>
        <p:txBody>
          <a:bodyPr spcFirstLastPara="1" wrap="square" lIns="91425" tIns="91425" rIns="91425" bIns="91425" anchor="t" anchorCtr="0">
            <a:noAutofit/>
          </a:bodyPr>
          <a:lstStyle/>
          <a:p>
            <a:pPr marL="347663" lvl="0" indent="-347663" rtl="0">
              <a:spcBef>
                <a:spcPts val="0"/>
              </a:spcBef>
              <a:spcAft>
                <a:spcPts val="0"/>
              </a:spcAft>
              <a:buNone/>
            </a:pPr>
            <a:r>
              <a:rPr lang="en" sz="2400" dirty="0">
                <a:solidFill>
                  <a:srgbClr val="0070C0"/>
                </a:solidFill>
              </a:rPr>
              <a:t>2. Next, define your </a:t>
            </a:r>
            <a:r>
              <a:rPr lang="en" sz="2400" u="sng" dirty="0">
                <a:solidFill>
                  <a:srgbClr val="0070C0"/>
                </a:solidFill>
              </a:rPr>
              <a:t>wanted goal behavior</a:t>
            </a:r>
            <a:r>
              <a:rPr lang="en" sz="2400" dirty="0">
                <a:solidFill>
                  <a:srgbClr val="0070C0"/>
                </a:solidFill>
              </a:rPr>
              <a:t> that you hope to strengthen by the end of your intervention.</a:t>
            </a:r>
            <a:endParaRPr dirty="0">
              <a:solidFill>
                <a:srgbClr val="0070C0"/>
              </a:solidFill>
            </a:endParaRPr>
          </a:p>
        </p:txBody>
      </p:sp>
      <p:sp>
        <p:nvSpPr>
          <p:cNvPr id="121" name="Google Shape;121;p30"/>
          <p:cNvSpPr txBox="1"/>
          <p:nvPr/>
        </p:nvSpPr>
        <p:spPr>
          <a:xfrm>
            <a:off x="165354" y="1310794"/>
            <a:ext cx="8866104" cy="1920300"/>
          </a:xfrm>
          <a:prstGeom prst="rect">
            <a:avLst/>
          </a:prstGeom>
          <a:noFill/>
          <a:ln>
            <a:noFill/>
          </a:ln>
        </p:spPr>
        <p:txBody>
          <a:bodyPr spcFirstLastPara="1" wrap="square" lIns="91425" tIns="91425" rIns="91425" bIns="91425" anchor="t" anchorCtr="0">
            <a:noAutofit/>
          </a:bodyPr>
          <a:lstStyle/>
          <a:p>
            <a:pPr marL="0" lvl="0" indent="0" algn="just" rtl="0">
              <a:lnSpc>
                <a:spcPct val="130000"/>
              </a:lnSpc>
              <a:spcBef>
                <a:spcPts val="0"/>
              </a:spcBef>
              <a:spcAft>
                <a:spcPts val="0"/>
              </a:spcAft>
              <a:buNone/>
            </a:pPr>
            <a:r>
              <a:rPr lang="en" sz="2200" dirty="0">
                <a:latin typeface="Assistant"/>
                <a:ea typeface="Assistant"/>
                <a:cs typeface="Assistant"/>
                <a:sym typeface="Assistant"/>
              </a:rPr>
              <a:t>You must have </a:t>
            </a:r>
            <a:r>
              <a:rPr lang="en" sz="2200" b="1" dirty="0">
                <a:latin typeface="Assistant"/>
                <a:ea typeface="Assistant"/>
                <a:cs typeface="Assistant"/>
                <a:sym typeface="Assistant"/>
              </a:rPr>
              <a:t>1 sentence</a:t>
            </a:r>
            <a:r>
              <a:rPr lang="en" sz="2200" dirty="0">
                <a:latin typeface="Assistant"/>
                <a:ea typeface="Assistant"/>
                <a:cs typeface="Assistant"/>
                <a:sym typeface="Assistant"/>
              </a:rPr>
              <a:t> describing your </a:t>
            </a:r>
            <a:r>
              <a:rPr lang="en" sz="2200" u="sng" dirty="0">
                <a:latin typeface="Assistant"/>
                <a:ea typeface="Assistant"/>
                <a:cs typeface="Assistant"/>
                <a:sym typeface="Assistant"/>
              </a:rPr>
              <a:t>wanted goal behavior</a:t>
            </a:r>
            <a:r>
              <a:rPr lang="en" sz="2200" dirty="0">
                <a:latin typeface="Assistant"/>
                <a:ea typeface="Assistant"/>
                <a:cs typeface="Assistant"/>
                <a:sym typeface="Assistant"/>
              </a:rPr>
              <a:t> and </a:t>
            </a:r>
            <a:r>
              <a:rPr lang="en" sz="2200" b="1" dirty="0">
                <a:latin typeface="Assistant"/>
                <a:ea typeface="Assistant"/>
                <a:cs typeface="Assistant"/>
                <a:sym typeface="Assistant"/>
              </a:rPr>
              <a:t>at least 3 sentences</a:t>
            </a:r>
            <a:r>
              <a:rPr lang="en" sz="2200" dirty="0">
                <a:latin typeface="Assistant"/>
                <a:ea typeface="Assistant"/>
                <a:cs typeface="Assistant"/>
                <a:sym typeface="Assistant"/>
              </a:rPr>
              <a:t> explaining </a:t>
            </a:r>
            <a:r>
              <a:rPr lang="en" sz="2200" b="1" i="1" dirty="0">
                <a:latin typeface="Assistant"/>
                <a:ea typeface="Assistant"/>
                <a:cs typeface="Assistant"/>
                <a:sym typeface="Assistant"/>
              </a:rPr>
              <a:t>why</a:t>
            </a:r>
            <a:r>
              <a:rPr lang="en" sz="2200" dirty="0">
                <a:latin typeface="Assistant"/>
                <a:ea typeface="Assistant"/>
                <a:cs typeface="Assistant"/>
                <a:sym typeface="Assistant"/>
              </a:rPr>
              <a:t> you chose to strengthen this particular goal behavior. </a:t>
            </a:r>
            <a:r>
              <a:rPr lang="en" sz="2200" b="1" dirty="0">
                <a:latin typeface="Assistant"/>
                <a:ea typeface="Assistant"/>
                <a:cs typeface="Assistant"/>
                <a:sym typeface="Assistant"/>
              </a:rPr>
              <a:t> </a:t>
            </a:r>
            <a:endParaRPr sz="2200" b="1" dirty="0">
              <a:solidFill>
                <a:schemeClr val="dk1"/>
              </a:solidFill>
              <a:latin typeface="Assistant"/>
              <a:ea typeface="Assistant"/>
              <a:cs typeface="Assistant"/>
              <a:sym typeface="Assistan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125"/>
        <p:cNvGrpSpPr/>
        <p:nvPr/>
      </p:nvGrpSpPr>
      <p:grpSpPr>
        <a:xfrm>
          <a:off x="0" y="0"/>
          <a:ext cx="0" cy="0"/>
          <a:chOff x="0" y="0"/>
          <a:chExt cx="0" cy="0"/>
        </a:xfrm>
      </p:grpSpPr>
      <p:sp>
        <p:nvSpPr>
          <p:cNvPr id="126" name="Google Shape;126;p31"/>
          <p:cNvSpPr txBox="1">
            <a:spLocks noGrp="1"/>
          </p:cNvSpPr>
          <p:nvPr>
            <p:ph type="title"/>
          </p:nvPr>
        </p:nvSpPr>
        <p:spPr>
          <a:xfrm>
            <a:off x="1239140" y="159557"/>
            <a:ext cx="66750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dirty="0">
                <a:solidFill>
                  <a:srgbClr val="0070C0"/>
                </a:solidFill>
              </a:rPr>
              <a:t>Example</a:t>
            </a:r>
            <a:endParaRPr sz="3600" dirty="0">
              <a:solidFill>
                <a:srgbClr val="0070C0"/>
              </a:solidFill>
            </a:endParaRPr>
          </a:p>
        </p:txBody>
      </p:sp>
      <p:sp>
        <p:nvSpPr>
          <p:cNvPr id="127" name="Google Shape;127;p31"/>
          <p:cNvSpPr txBox="1"/>
          <p:nvPr/>
        </p:nvSpPr>
        <p:spPr>
          <a:xfrm>
            <a:off x="-1" y="829230"/>
            <a:ext cx="8989255" cy="3995987"/>
          </a:xfrm>
          <a:prstGeom prst="rect">
            <a:avLst/>
          </a:prstGeom>
          <a:noFill/>
          <a:ln>
            <a:noFill/>
          </a:ln>
        </p:spPr>
        <p:txBody>
          <a:bodyPr spcFirstLastPara="1" wrap="square" lIns="91425" tIns="91425" rIns="91425" bIns="91425" anchor="t" anchorCtr="0">
            <a:noAutofit/>
          </a:bodyPr>
          <a:lstStyle/>
          <a:p>
            <a:pPr marL="403225" lvl="0" indent="-307975" algn="l" rtl="0">
              <a:lnSpc>
                <a:spcPct val="150000"/>
              </a:lnSpc>
              <a:spcBef>
                <a:spcPts val="0"/>
              </a:spcBef>
              <a:spcAft>
                <a:spcPts val="0"/>
              </a:spcAft>
              <a:buClr>
                <a:schemeClr val="dk1"/>
              </a:buClr>
              <a:buSzPts val="2100"/>
            </a:pPr>
            <a:r>
              <a:rPr lang="en" sz="2400" b="1" dirty="0">
                <a:solidFill>
                  <a:schemeClr val="dk1"/>
                </a:solidFill>
                <a:latin typeface="Assistant"/>
                <a:ea typeface="Assistant"/>
                <a:cs typeface="Assistant"/>
                <a:sym typeface="Assistant"/>
              </a:rPr>
              <a:t>2. </a:t>
            </a:r>
            <a:r>
              <a:rPr lang="en" sz="2400" b="1" u="sng" dirty="0">
                <a:solidFill>
                  <a:schemeClr val="dk1"/>
                </a:solidFill>
                <a:latin typeface="Assistant"/>
                <a:ea typeface="Assistant"/>
                <a:cs typeface="Assistant"/>
                <a:sym typeface="Assistant"/>
              </a:rPr>
              <a:t>My wanted goal behavior</a:t>
            </a:r>
            <a:r>
              <a:rPr lang="en" sz="2400" b="1" dirty="0">
                <a:solidFill>
                  <a:schemeClr val="dk1"/>
                </a:solidFill>
                <a:latin typeface="Assistant"/>
                <a:ea typeface="Assistant"/>
                <a:cs typeface="Assistant"/>
                <a:sym typeface="Assistant"/>
              </a:rPr>
              <a:t> is</a:t>
            </a:r>
            <a:r>
              <a:rPr lang="en" sz="2400" dirty="0">
                <a:solidFill>
                  <a:schemeClr val="dk1"/>
                </a:solidFill>
                <a:latin typeface="Assistant"/>
                <a:ea typeface="Assistant"/>
                <a:cs typeface="Assistant"/>
                <a:sym typeface="Assistant"/>
              </a:rPr>
              <a:t> </a:t>
            </a:r>
            <a:r>
              <a:rPr lang="en" sz="2400" b="1" dirty="0">
                <a:solidFill>
                  <a:schemeClr val="dk1"/>
                </a:solidFill>
                <a:latin typeface="Assistant"/>
                <a:ea typeface="Assistant"/>
                <a:cs typeface="Assistant"/>
                <a:sym typeface="Assistant"/>
              </a:rPr>
              <a:t>drinking more water (at least 32 oz per day).</a:t>
            </a:r>
            <a:endParaRPr sz="2400" b="1" dirty="0">
              <a:solidFill>
                <a:schemeClr val="dk1"/>
              </a:solidFill>
              <a:latin typeface="Assistant"/>
              <a:ea typeface="Assistant"/>
              <a:cs typeface="Assistant"/>
              <a:sym typeface="Assistant"/>
            </a:endParaRPr>
          </a:p>
          <a:p>
            <a:pPr marL="914400" lvl="1" indent="-361950" algn="l" rtl="0">
              <a:lnSpc>
                <a:spcPct val="150000"/>
              </a:lnSpc>
              <a:spcBef>
                <a:spcPts val="0"/>
              </a:spcBef>
              <a:spcAft>
                <a:spcPts val="0"/>
              </a:spcAft>
              <a:buClr>
                <a:schemeClr val="dk1"/>
              </a:buClr>
              <a:buSzPts val="2100"/>
              <a:buChar char="○"/>
            </a:pPr>
            <a:r>
              <a:rPr lang="en" sz="2400" dirty="0">
                <a:solidFill>
                  <a:schemeClr val="dk1"/>
                </a:solidFill>
                <a:latin typeface="Assistant"/>
                <a:ea typeface="Assistant"/>
                <a:cs typeface="Assistant"/>
                <a:sym typeface="Assistant"/>
              </a:rPr>
              <a:t>Drinking more water </a:t>
            </a:r>
            <a:r>
              <a:rPr lang="en" sz="2400" b="1" dirty="0">
                <a:solidFill>
                  <a:schemeClr val="dk1"/>
                </a:solidFill>
                <a:latin typeface="Assistant"/>
                <a:ea typeface="Assistant"/>
                <a:cs typeface="Assistant"/>
                <a:sym typeface="Assistant"/>
              </a:rPr>
              <a:t>will help my metabolism</a:t>
            </a:r>
            <a:r>
              <a:rPr lang="en" sz="2400" dirty="0">
                <a:solidFill>
                  <a:schemeClr val="dk1"/>
                </a:solidFill>
                <a:latin typeface="Assistant"/>
                <a:ea typeface="Assistant"/>
                <a:cs typeface="Assistant"/>
                <a:sym typeface="Assistant"/>
              </a:rPr>
              <a:t>.</a:t>
            </a:r>
            <a:endParaRPr sz="2400" dirty="0">
              <a:solidFill>
                <a:schemeClr val="dk1"/>
              </a:solidFill>
              <a:latin typeface="Assistant"/>
              <a:ea typeface="Assistant"/>
              <a:cs typeface="Assistant"/>
              <a:sym typeface="Assistant"/>
            </a:endParaRPr>
          </a:p>
          <a:p>
            <a:pPr marL="914400" lvl="1" indent="-361950" algn="l" rtl="0">
              <a:lnSpc>
                <a:spcPct val="150000"/>
              </a:lnSpc>
              <a:spcBef>
                <a:spcPts val="0"/>
              </a:spcBef>
              <a:spcAft>
                <a:spcPts val="0"/>
              </a:spcAft>
              <a:buClr>
                <a:schemeClr val="dk1"/>
              </a:buClr>
              <a:buSzPts val="2100"/>
              <a:buFont typeface="Assistant"/>
              <a:buChar char="○"/>
            </a:pPr>
            <a:r>
              <a:rPr lang="en" sz="2400" dirty="0">
                <a:solidFill>
                  <a:schemeClr val="dk1"/>
                </a:solidFill>
                <a:latin typeface="Assistant"/>
                <a:ea typeface="Assistant"/>
                <a:cs typeface="Assistant"/>
                <a:sym typeface="Assistant"/>
              </a:rPr>
              <a:t>Drinking more water </a:t>
            </a:r>
            <a:r>
              <a:rPr lang="en" sz="2400" b="1" dirty="0">
                <a:solidFill>
                  <a:schemeClr val="dk1"/>
                </a:solidFill>
                <a:latin typeface="Assistant"/>
                <a:ea typeface="Assistant"/>
                <a:cs typeface="Assistant"/>
                <a:sym typeface="Assistant"/>
              </a:rPr>
              <a:t>flushes my system and rids my body of toxins</a:t>
            </a:r>
            <a:r>
              <a:rPr lang="en" sz="2400" dirty="0">
                <a:solidFill>
                  <a:schemeClr val="dk1"/>
                </a:solidFill>
                <a:latin typeface="Assistant"/>
                <a:ea typeface="Assistant"/>
                <a:cs typeface="Assistant"/>
                <a:sym typeface="Assistant"/>
              </a:rPr>
              <a:t>.</a:t>
            </a:r>
            <a:endParaRPr sz="2400" dirty="0">
              <a:solidFill>
                <a:schemeClr val="dk1"/>
              </a:solidFill>
              <a:latin typeface="Assistant"/>
              <a:ea typeface="Assistant"/>
              <a:cs typeface="Assistant"/>
              <a:sym typeface="Assistant"/>
            </a:endParaRPr>
          </a:p>
          <a:p>
            <a:pPr marL="914400" lvl="1" indent="-361950" algn="l" rtl="0">
              <a:lnSpc>
                <a:spcPct val="150000"/>
              </a:lnSpc>
              <a:spcBef>
                <a:spcPts val="0"/>
              </a:spcBef>
              <a:spcAft>
                <a:spcPts val="0"/>
              </a:spcAft>
              <a:buClr>
                <a:schemeClr val="dk1"/>
              </a:buClr>
              <a:buSzPts val="2100"/>
              <a:buFont typeface="Assistant"/>
              <a:buChar char="○"/>
            </a:pPr>
            <a:r>
              <a:rPr lang="en" sz="2400" dirty="0">
                <a:solidFill>
                  <a:schemeClr val="dk1"/>
                </a:solidFill>
                <a:latin typeface="Assistant"/>
                <a:ea typeface="Assistant"/>
                <a:cs typeface="Assistant"/>
                <a:sym typeface="Assistant"/>
              </a:rPr>
              <a:t>Drinking more water </a:t>
            </a:r>
            <a:r>
              <a:rPr lang="en" sz="2400" b="1" dirty="0">
                <a:solidFill>
                  <a:schemeClr val="dk1"/>
                </a:solidFill>
                <a:latin typeface="Assistant"/>
                <a:ea typeface="Assistant"/>
                <a:cs typeface="Assistant"/>
                <a:sym typeface="Assistant"/>
              </a:rPr>
              <a:t>helps keep my skin clear</a:t>
            </a:r>
            <a:r>
              <a:rPr lang="en" sz="2400" dirty="0">
                <a:solidFill>
                  <a:schemeClr val="dk1"/>
                </a:solidFill>
                <a:latin typeface="Assistant"/>
                <a:ea typeface="Assistant"/>
                <a:cs typeface="Assistant"/>
                <a:sym typeface="Assistant"/>
              </a:rPr>
              <a:t>.</a:t>
            </a:r>
            <a:endParaRPr sz="2400" dirty="0">
              <a:solidFill>
                <a:schemeClr val="dk1"/>
              </a:solidFill>
              <a:latin typeface="Assistant"/>
              <a:ea typeface="Assistant"/>
              <a:cs typeface="Assistant"/>
              <a:sym typeface="Assistan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131"/>
        <p:cNvGrpSpPr/>
        <p:nvPr/>
      </p:nvGrpSpPr>
      <p:grpSpPr>
        <a:xfrm>
          <a:off x="0" y="0"/>
          <a:ext cx="0" cy="0"/>
          <a:chOff x="0" y="0"/>
          <a:chExt cx="0" cy="0"/>
        </a:xfrm>
      </p:grpSpPr>
      <p:sp>
        <p:nvSpPr>
          <p:cNvPr id="132" name="Google Shape;132;p32"/>
          <p:cNvSpPr txBox="1">
            <a:spLocks noGrp="1"/>
          </p:cNvSpPr>
          <p:nvPr>
            <p:ph type="title"/>
          </p:nvPr>
        </p:nvSpPr>
        <p:spPr>
          <a:xfrm>
            <a:off x="0" y="233577"/>
            <a:ext cx="9144000" cy="590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600" dirty="0">
                <a:solidFill>
                  <a:srgbClr val="0070C0"/>
                </a:solidFill>
              </a:rPr>
              <a:t>Understanding the Two Behaviors</a:t>
            </a:r>
            <a:endParaRPr sz="3600" dirty="0">
              <a:solidFill>
                <a:srgbClr val="0070C0"/>
              </a:solidFill>
            </a:endParaRPr>
          </a:p>
        </p:txBody>
      </p:sp>
      <p:sp>
        <p:nvSpPr>
          <p:cNvPr id="133" name="Google Shape;133;p32"/>
          <p:cNvSpPr txBox="1">
            <a:spLocks noGrp="1"/>
          </p:cNvSpPr>
          <p:nvPr>
            <p:ph type="subTitle" idx="1"/>
          </p:nvPr>
        </p:nvSpPr>
        <p:spPr>
          <a:xfrm>
            <a:off x="193710" y="907809"/>
            <a:ext cx="8950290" cy="453638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b="1" u="sng" dirty="0">
                <a:solidFill>
                  <a:srgbClr val="000000"/>
                </a:solidFill>
              </a:rPr>
              <a:t>Unwanted Target Behavior</a:t>
            </a:r>
            <a:r>
              <a:rPr lang="en" sz="2400" dirty="0">
                <a:solidFill>
                  <a:srgbClr val="000000"/>
                </a:solidFill>
              </a:rPr>
              <a:t> – This is what you want to change.</a:t>
            </a:r>
            <a:endParaRPr sz="2400" dirty="0">
              <a:solidFill>
                <a:srgbClr val="000000"/>
              </a:solidFill>
            </a:endParaRPr>
          </a:p>
          <a:p>
            <a:pPr marL="0" lvl="0" indent="0" algn="l" rtl="0">
              <a:spcBef>
                <a:spcPts val="0"/>
              </a:spcBef>
              <a:spcAft>
                <a:spcPts val="0"/>
              </a:spcAft>
              <a:buNone/>
            </a:pPr>
            <a:r>
              <a:rPr lang="en" sz="2400" b="1" u="sng" dirty="0">
                <a:solidFill>
                  <a:srgbClr val="000000"/>
                </a:solidFill>
              </a:rPr>
              <a:t>Wanted Goal Behavior</a:t>
            </a:r>
            <a:r>
              <a:rPr lang="en" sz="2400" dirty="0">
                <a:solidFill>
                  <a:srgbClr val="000000"/>
                </a:solidFill>
              </a:rPr>
              <a:t> – This is your wanted outcome.</a:t>
            </a:r>
          </a:p>
          <a:p>
            <a:pPr marL="0" lvl="0" indent="0" algn="l" rtl="0">
              <a:spcBef>
                <a:spcPts val="0"/>
              </a:spcBef>
              <a:spcAft>
                <a:spcPts val="0"/>
              </a:spcAft>
              <a:buNone/>
            </a:pPr>
            <a:endParaRPr lang="en" sz="2400" b="1" dirty="0">
              <a:solidFill>
                <a:srgbClr val="000000"/>
              </a:solidFill>
            </a:endParaRPr>
          </a:p>
          <a:p>
            <a:pPr marL="0" lvl="0" indent="0" algn="l" rtl="0">
              <a:spcBef>
                <a:spcPts val="0"/>
              </a:spcBef>
              <a:spcAft>
                <a:spcPts val="0"/>
              </a:spcAft>
              <a:buNone/>
            </a:pPr>
            <a:r>
              <a:rPr lang="en-US" sz="2400" b="1" dirty="0">
                <a:solidFill>
                  <a:srgbClr val="000000"/>
                </a:solidFill>
              </a:rPr>
              <a:t>Note: The two behaviors should be opposites of each other.</a:t>
            </a:r>
            <a:endParaRPr lang="en-US" dirty="0"/>
          </a:p>
          <a:p>
            <a:pPr marL="304800" lvl="0" indent="0" algn="l" rtl="0">
              <a:spcBef>
                <a:spcPts val="0"/>
              </a:spcBef>
              <a:spcAft>
                <a:spcPts val="0"/>
              </a:spcAft>
              <a:buNone/>
            </a:pPr>
            <a:endParaRPr lang="en" sz="2400" b="1" dirty="0"/>
          </a:p>
          <a:p>
            <a:pPr marL="304800" lvl="0" indent="0" algn="l" rtl="0">
              <a:spcBef>
                <a:spcPts val="0"/>
              </a:spcBef>
              <a:spcAft>
                <a:spcPts val="0"/>
              </a:spcAft>
              <a:buNone/>
            </a:pPr>
            <a:r>
              <a:rPr lang="en" sz="2400" b="1" dirty="0"/>
              <a:t>In the Example Paper:</a:t>
            </a:r>
            <a:endParaRPr sz="2400" b="1" dirty="0"/>
          </a:p>
          <a:p>
            <a:pPr marL="571500" lvl="0" indent="0" algn="l" rtl="0">
              <a:spcBef>
                <a:spcPts val="0"/>
              </a:spcBef>
              <a:spcAft>
                <a:spcPts val="0"/>
              </a:spcAft>
              <a:buNone/>
            </a:pPr>
            <a:r>
              <a:rPr lang="en" sz="2400" b="1" u="sng" dirty="0"/>
              <a:t>Unwanted Target Behavior</a:t>
            </a:r>
            <a:r>
              <a:rPr lang="en" sz="2400" b="1" dirty="0"/>
              <a:t> </a:t>
            </a:r>
            <a:r>
              <a:rPr lang="en" sz="2400" dirty="0"/>
              <a:t>– Not drinking enough water</a:t>
            </a:r>
            <a:endParaRPr sz="2400" dirty="0"/>
          </a:p>
          <a:p>
            <a:pPr marL="571500" lvl="0" indent="0" algn="l" rtl="0">
              <a:spcBef>
                <a:spcPts val="0"/>
              </a:spcBef>
              <a:spcAft>
                <a:spcPts val="0"/>
              </a:spcAft>
              <a:buNone/>
            </a:pPr>
            <a:r>
              <a:rPr lang="en" sz="2400" b="1" u="sng" dirty="0"/>
              <a:t>Wanted Goal Behavior</a:t>
            </a:r>
            <a:r>
              <a:rPr lang="en" sz="2400" b="1" dirty="0"/>
              <a:t> </a:t>
            </a:r>
            <a:r>
              <a:rPr lang="en" sz="2400" dirty="0"/>
              <a:t>– Drinking 32 oz of water per day</a:t>
            </a:r>
            <a:endParaRP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137"/>
        <p:cNvGrpSpPr/>
        <p:nvPr/>
      </p:nvGrpSpPr>
      <p:grpSpPr>
        <a:xfrm>
          <a:off x="0" y="0"/>
          <a:ext cx="0" cy="0"/>
          <a:chOff x="0" y="0"/>
          <a:chExt cx="0" cy="0"/>
        </a:xfrm>
      </p:grpSpPr>
      <p:sp>
        <p:nvSpPr>
          <p:cNvPr id="138" name="Google Shape;138;p33"/>
          <p:cNvSpPr txBox="1">
            <a:spLocks noGrp="1"/>
          </p:cNvSpPr>
          <p:nvPr>
            <p:ph type="title"/>
          </p:nvPr>
        </p:nvSpPr>
        <p:spPr>
          <a:xfrm>
            <a:off x="128109" y="106472"/>
            <a:ext cx="9015891" cy="640200"/>
          </a:xfrm>
          <a:prstGeom prst="rect">
            <a:avLst/>
          </a:prstGeom>
        </p:spPr>
        <p:txBody>
          <a:bodyPr spcFirstLastPara="1" wrap="square" lIns="91425" tIns="91425" rIns="91425" bIns="91425" anchor="t" anchorCtr="0">
            <a:noAutofit/>
          </a:bodyPr>
          <a:lstStyle/>
          <a:p>
            <a:pPr marL="403225" lvl="0" indent="-403225" rtl="0">
              <a:spcBef>
                <a:spcPts val="0"/>
              </a:spcBef>
              <a:spcAft>
                <a:spcPts val="0"/>
              </a:spcAft>
              <a:buNone/>
            </a:pPr>
            <a:r>
              <a:rPr lang="en" sz="2400" dirty="0">
                <a:solidFill>
                  <a:srgbClr val="0070C0"/>
                </a:solidFill>
              </a:rPr>
              <a:t>3. Use the SMART goal acronym to further define your </a:t>
            </a:r>
            <a:r>
              <a:rPr lang="en" sz="2400" u="sng" dirty="0">
                <a:solidFill>
                  <a:srgbClr val="0070C0"/>
                </a:solidFill>
              </a:rPr>
              <a:t>wanted goal behavior.</a:t>
            </a:r>
            <a:endParaRPr sz="2400" u="sng" dirty="0">
              <a:solidFill>
                <a:srgbClr val="0070C0"/>
              </a:solidFill>
            </a:endParaRPr>
          </a:p>
        </p:txBody>
      </p:sp>
      <p:sp>
        <p:nvSpPr>
          <p:cNvPr id="139" name="Google Shape;139;p33"/>
          <p:cNvSpPr txBox="1"/>
          <p:nvPr/>
        </p:nvSpPr>
        <p:spPr>
          <a:xfrm>
            <a:off x="146189" y="879827"/>
            <a:ext cx="8758659" cy="27360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0"/>
              </a:spcBef>
              <a:spcAft>
                <a:spcPts val="0"/>
              </a:spcAft>
              <a:buNone/>
            </a:pPr>
            <a:r>
              <a:rPr lang="en" sz="2400" dirty="0">
                <a:latin typeface="Assistant"/>
                <a:ea typeface="Assistant"/>
                <a:cs typeface="Assistant"/>
                <a:sym typeface="Assistant"/>
              </a:rPr>
              <a:t>You must discuss and </a:t>
            </a:r>
            <a:r>
              <a:rPr lang="en" sz="2400" u="sng" dirty="0">
                <a:latin typeface="Assistant"/>
                <a:ea typeface="Assistant"/>
                <a:cs typeface="Assistant"/>
                <a:sym typeface="Assistant"/>
              </a:rPr>
              <a:t>label each</a:t>
            </a:r>
            <a:r>
              <a:rPr lang="en" sz="2400" dirty="0">
                <a:latin typeface="Assistant"/>
                <a:ea typeface="Assistant"/>
                <a:cs typeface="Assistant"/>
                <a:sym typeface="Assistant"/>
              </a:rPr>
              <a:t> aspect of the SMART goal for full credit. How is your wanted goal behavior: </a:t>
            </a:r>
            <a:endParaRPr sz="2400" dirty="0">
              <a:latin typeface="Assistant"/>
              <a:ea typeface="Assistant"/>
              <a:cs typeface="Assistant"/>
              <a:sym typeface="Assistant"/>
            </a:endParaRPr>
          </a:p>
          <a:p>
            <a:pPr marL="0" lvl="0" indent="2286000" algn="l" rtl="0">
              <a:lnSpc>
                <a:spcPct val="150000"/>
              </a:lnSpc>
              <a:spcBef>
                <a:spcPts val="0"/>
              </a:spcBef>
              <a:spcAft>
                <a:spcPts val="0"/>
              </a:spcAft>
              <a:buNone/>
            </a:pPr>
            <a:r>
              <a:rPr lang="en" sz="2800" b="1" dirty="0">
                <a:latin typeface="Assistant"/>
                <a:ea typeface="Assistant"/>
                <a:cs typeface="Assistant"/>
                <a:sym typeface="Assistant"/>
              </a:rPr>
              <a:t>S</a:t>
            </a:r>
            <a:r>
              <a:rPr lang="en" sz="2800" dirty="0">
                <a:latin typeface="Assistant"/>
                <a:ea typeface="Assistant"/>
                <a:cs typeface="Assistant"/>
                <a:sym typeface="Assistant"/>
              </a:rPr>
              <a:t>pecific </a:t>
            </a:r>
            <a:endParaRPr sz="2800" dirty="0">
              <a:latin typeface="Assistant"/>
              <a:ea typeface="Assistant"/>
              <a:cs typeface="Assistant"/>
              <a:sym typeface="Assistant"/>
            </a:endParaRPr>
          </a:p>
          <a:p>
            <a:pPr marL="0" lvl="0" indent="2286000" algn="l" rtl="0">
              <a:lnSpc>
                <a:spcPct val="150000"/>
              </a:lnSpc>
              <a:spcBef>
                <a:spcPts val="0"/>
              </a:spcBef>
              <a:spcAft>
                <a:spcPts val="0"/>
              </a:spcAft>
              <a:buNone/>
            </a:pPr>
            <a:r>
              <a:rPr lang="en" sz="2800" b="1" dirty="0">
                <a:latin typeface="Assistant"/>
                <a:ea typeface="Assistant"/>
                <a:cs typeface="Assistant"/>
                <a:sym typeface="Assistant"/>
              </a:rPr>
              <a:t>M</a:t>
            </a:r>
            <a:r>
              <a:rPr lang="en" sz="2800" dirty="0">
                <a:latin typeface="Assistant"/>
                <a:ea typeface="Assistant"/>
                <a:cs typeface="Assistant"/>
                <a:sym typeface="Assistant"/>
              </a:rPr>
              <a:t>easurable</a:t>
            </a:r>
            <a:endParaRPr sz="2800" dirty="0">
              <a:latin typeface="Assistant"/>
              <a:ea typeface="Assistant"/>
              <a:cs typeface="Assistant"/>
              <a:sym typeface="Assistant"/>
            </a:endParaRPr>
          </a:p>
          <a:p>
            <a:pPr marL="0" lvl="0" indent="2286000" algn="l" rtl="0">
              <a:lnSpc>
                <a:spcPct val="150000"/>
              </a:lnSpc>
              <a:spcBef>
                <a:spcPts val="0"/>
              </a:spcBef>
              <a:spcAft>
                <a:spcPts val="0"/>
              </a:spcAft>
              <a:buNone/>
            </a:pPr>
            <a:r>
              <a:rPr lang="en" sz="2800" b="1" dirty="0">
                <a:latin typeface="Assistant"/>
                <a:ea typeface="Assistant"/>
                <a:cs typeface="Assistant"/>
                <a:sym typeface="Assistant"/>
              </a:rPr>
              <a:t>A</a:t>
            </a:r>
            <a:r>
              <a:rPr lang="en" sz="2800" dirty="0">
                <a:latin typeface="Assistant"/>
                <a:ea typeface="Assistant"/>
                <a:cs typeface="Assistant"/>
                <a:sym typeface="Assistant"/>
              </a:rPr>
              <a:t>ctionable or Action-Oriented</a:t>
            </a:r>
            <a:endParaRPr sz="2800" dirty="0">
              <a:latin typeface="Assistant"/>
              <a:ea typeface="Assistant"/>
              <a:cs typeface="Assistant"/>
              <a:sym typeface="Assistant"/>
            </a:endParaRPr>
          </a:p>
          <a:p>
            <a:pPr marL="0" lvl="0" indent="2286000" algn="l" rtl="0">
              <a:lnSpc>
                <a:spcPct val="150000"/>
              </a:lnSpc>
              <a:spcBef>
                <a:spcPts val="0"/>
              </a:spcBef>
              <a:spcAft>
                <a:spcPts val="0"/>
              </a:spcAft>
              <a:buNone/>
            </a:pPr>
            <a:r>
              <a:rPr lang="en" sz="2800" b="1" dirty="0">
                <a:latin typeface="Assistant"/>
                <a:ea typeface="Assistant"/>
                <a:cs typeface="Assistant"/>
                <a:sym typeface="Assistant"/>
              </a:rPr>
              <a:t>R</a:t>
            </a:r>
            <a:r>
              <a:rPr lang="en" sz="2800" dirty="0">
                <a:latin typeface="Assistant"/>
                <a:ea typeface="Assistant"/>
                <a:cs typeface="Assistant"/>
                <a:sym typeface="Assistant"/>
              </a:rPr>
              <a:t>ealistic</a:t>
            </a:r>
            <a:endParaRPr sz="2800" dirty="0">
              <a:latin typeface="Assistant"/>
              <a:ea typeface="Assistant"/>
              <a:cs typeface="Assistant"/>
              <a:sym typeface="Assistant"/>
            </a:endParaRPr>
          </a:p>
          <a:p>
            <a:pPr marL="0" lvl="0" indent="2286000" algn="l" rtl="0">
              <a:lnSpc>
                <a:spcPct val="150000"/>
              </a:lnSpc>
              <a:spcBef>
                <a:spcPts val="0"/>
              </a:spcBef>
              <a:spcAft>
                <a:spcPts val="0"/>
              </a:spcAft>
              <a:buNone/>
            </a:pPr>
            <a:r>
              <a:rPr lang="en" sz="2800" b="1" dirty="0">
                <a:latin typeface="Assistant"/>
                <a:ea typeface="Assistant"/>
                <a:cs typeface="Assistant"/>
                <a:sym typeface="Assistant"/>
              </a:rPr>
              <a:t>T</a:t>
            </a:r>
            <a:r>
              <a:rPr lang="en" sz="2800" dirty="0">
                <a:latin typeface="Assistant"/>
                <a:ea typeface="Assistant"/>
                <a:cs typeface="Assistant"/>
                <a:sym typeface="Assistant"/>
              </a:rPr>
              <a:t>ime-Bound</a:t>
            </a:r>
            <a:endParaRPr sz="2800" dirty="0">
              <a:latin typeface="Assistant"/>
              <a:ea typeface="Assistant"/>
              <a:cs typeface="Assistant"/>
              <a:sym typeface="Assistant"/>
            </a:endParaRPr>
          </a:p>
          <a:p>
            <a:pPr marL="0" lvl="0" indent="0" algn="l" rtl="0">
              <a:lnSpc>
                <a:spcPct val="115000"/>
              </a:lnSpc>
              <a:spcBef>
                <a:spcPts val="0"/>
              </a:spcBef>
              <a:spcAft>
                <a:spcPts val="0"/>
              </a:spcAft>
              <a:buNone/>
            </a:pPr>
            <a:endParaRPr sz="1600" dirty="0">
              <a:latin typeface="Assistant"/>
              <a:ea typeface="Assistant"/>
              <a:cs typeface="Assistant"/>
              <a:sym typeface="Assistan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9">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9">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986C4-2607-8972-85D9-C689F13C7592}"/>
              </a:ext>
            </a:extLst>
          </p:cNvPr>
          <p:cNvSpPr>
            <a:spLocks noGrp="1"/>
          </p:cNvSpPr>
          <p:nvPr>
            <p:ph type="title"/>
          </p:nvPr>
        </p:nvSpPr>
        <p:spPr/>
        <p:txBody>
          <a:bodyPr/>
          <a:lstStyle/>
          <a:p>
            <a:endParaRPr lang="en-US"/>
          </a:p>
        </p:txBody>
      </p:sp>
      <p:pic>
        <p:nvPicPr>
          <p:cNvPr id="1026" name="Picture 2" descr="Free SMART Goals Guide for Coaches (plus .PDF) | The Launchpad - The  Coaching Tools Company Blog">
            <a:extLst>
              <a:ext uri="{FF2B5EF4-FFF2-40B4-BE49-F238E27FC236}">
                <a16:creationId xmlns:a16="http://schemas.microsoft.com/office/drawing/2014/main" id="{39F9F8C9-F84B-C980-FA30-0F27949AB8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9388"/>
            <a:ext cx="9144000" cy="4784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8409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143"/>
        <p:cNvGrpSpPr/>
        <p:nvPr/>
      </p:nvGrpSpPr>
      <p:grpSpPr>
        <a:xfrm>
          <a:off x="0" y="0"/>
          <a:ext cx="0" cy="0"/>
          <a:chOff x="0" y="0"/>
          <a:chExt cx="0" cy="0"/>
        </a:xfrm>
      </p:grpSpPr>
      <p:sp>
        <p:nvSpPr>
          <p:cNvPr id="144" name="Google Shape;144;p34"/>
          <p:cNvSpPr txBox="1">
            <a:spLocks noGrp="1"/>
          </p:cNvSpPr>
          <p:nvPr>
            <p:ph type="title"/>
          </p:nvPr>
        </p:nvSpPr>
        <p:spPr>
          <a:xfrm>
            <a:off x="1234500" y="0"/>
            <a:ext cx="66750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dirty="0">
                <a:solidFill>
                  <a:srgbClr val="0070C0"/>
                </a:solidFill>
              </a:rPr>
              <a:t>Example</a:t>
            </a:r>
            <a:endParaRPr sz="3600" dirty="0">
              <a:solidFill>
                <a:srgbClr val="0070C0"/>
              </a:solidFill>
            </a:endParaRPr>
          </a:p>
        </p:txBody>
      </p:sp>
      <p:sp>
        <p:nvSpPr>
          <p:cNvPr id="145" name="Google Shape;145;p34"/>
          <p:cNvSpPr txBox="1"/>
          <p:nvPr/>
        </p:nvSpPr>
        <p:spPr>
          <a:xfrm>
            <a:off x="0" y="540979"/>
            <a:ext cx="9003324" cy="3798243"/>
          </a:xfrm>
          <a:prstGeom prst="rect">
            <a:avLst/>
          </a:prstGeom>
          <a:noFill/>
          <a:ln>
            <a:noFill/>
          </a:ln>
        </p:spPr>
        <p:txBody>
          <a:bodyPr spcFirstLastPara="1" wrap="square" lIns="91425" tIns="91425" rIns="91425" bIns="91425" anchor="t" anchorCtr="0">
            <a:noAutofit/>
          </a:bodyPr>
          <a:lstStyle/>
          <a:p>
            <a:pPr marL="457200" lvl="0" indent="-341312" algn="l" rtl="0">
              <a:lnSpc>
                <a:spcPct val="95000"/>
              </a:lnSpc>
              <a:spcBef>
                <a:spcPts val="600"/>
              </a:spcBef>
              <a:spcAft>
                <a:spcPts val="0"/>
              </a:spcAft>
              <a:buClr>
                <a:schemeClr val="dk1"/>
              </a:buClr>
              <a:buSzPts val="1775"/>
              <a:buFont typeface="Times New Roman"/>
              <a:buChar char="●"/>
            </a:pPr>
            <a:r>
              <a:rPr lang="en" sz="2150" dirty="0">
                <a:solidFill>
                  <a:schemeClr val="dk1"/>
                </a:solidFill>
                <a:latin typeface="Assistant"/>
                <a:ea typeface="Assistant"/>
                <a:cs typeface="Assistant"/>
                <a:sym typeface="Assistant"/>
              </a:rPr>
              <a:t>My goal is </a:t>
            </a:r>
            <a:r>
              <a:rPr lang="en" sz="2150" b="1" u="sng" dirty="0">
                <a:solidFill>
                  <a:schemeClr val="dk1"/>
                </a:solidFill>
                <a:latin typeface="Assistant"/>
                <a:ea typeface="Assistant"/>
                <a:cs typeface="Assistant"/>
                <a:sym typeface="Assistant"/>
              </a:rPr>
              <a:t>specific</a:t>
            </a:r>
            <a:r>
              <a:rPr lang="en" sz="2150" dirty="0">
                <a:solidFill>
                  <a:schemeClr val="dk1"/>
                </a:solidFill>
                <a:latin typeface="Assistant"/>
                <a:ea typeface="Assistant"/>
                <a:cs typeface="Assistant"/>
                <a:sym typeface="Assistant"/>
              </a:rPr>
              <a:t> because I plan to increase my water intake specifically to 32 ounces per day, counting what I drink at meals and what I consume in my water bottle.</a:t>
            </a:r>
            <a:endParaRPr sz="2150" dirty="0">
              <a:solidFill>
                <a:schemeClr val="dk1"/>
              </a:solidFill>
              <a:latin typeface="Assistant"/>
              <a:ea typeface="Assistant"/>
              <a:cs typeface="Assistant"/>
              <a:sym typeface="Assistant"/>
            </a:endParaRPr>
          </a:p>
          <a:p>
            <a:pPr marL="457200" lvl="0" indent="-341312" algn="l" rtl="0">
              <a:lnSpc>
                <a:spcPct val="95000"/>
              </a:lnSpc>
              <a:spcBef>
                <a:spcPts val="600"/>
              </a:spcBef>
              <a:spcAft>
                <a:spcPts val="0"/>
              </a:spcAft>
              <a:buClr>
                <a:schemeClr val="dk1"/>
              </a:buClr>
              <a:buSzPts val="1775"/>
              <a:buFont typeface="Times New Roman"/>
              <a:buChar char="●"/>
            </a:pPr>
            <a:r>
              <a:rPr lang="en" sz="2150" dirty="0">
                <a:solidFill>
                  <a:schemeClr val="dk1"/>
                </a:solidFill>
                <a:latin typeface="Assistant"/>
                <a:ea typeface="Assistant"/>
                <a:cs typeface="Assistant"/>
                <a:sym typeface="Assistant"/>
              </a:rPr>
              <a:t>My goal is </a:t>
            </a:r>
            <a:r>
              <a:rPr lang="en" sz="2150" b="1" u="sng" dirty="0">
                <a:solidFill>
                  <a:schemeClr val="dk1"/>
                </a:solidFill>
                <a:latin typeface="Assistant"/>
                <a:ea typeface="Assistant"/>
                <a:cs typeface="Assistant"/>
                <a:sym typeface="Assistant"/>
              </a:rPr>
              <a:t>measurable</a:t>
            </a:r>
            <a:r>
              <a:rPr lang="en" sz="2150" dirty="0">
                <a:solidFill>
                  <a:schemeClr val="dk1"/>
                </a:solidFill>
                <a:latin typeface="Assistant"/>
                <a:ea typeface="Assistant"/>
                <a:cs typeface="Assistant"/>
                <a:sym typeface="Assistant"/>
              </a:rPr>
              <a:t> because I will measure my water intake in a note on my phone by counting the number of ounces I drink throughout the day.</a:t>
            </a:r>
            <a:endParaRPr sz="2150" dirty="0">
              <a:solidFill>
                <a:schemeClr val="dk1"/>
              </a:solidFill>
              <a:latin typeface="Assistant"/>
              <a:ea typeface="Assistant"/>
              <a:cs typeface="Assistant"/>
              <a:sym typeface="Assistant"/>
            </a:endParaRPr>
          </a:p>
          <a:p>
            <a:pPr marL="457200" lvl="0" indent="-341312" algn="l" rtl="0">
              <a:lnSpc>
                <a:spcPct val="95000"/>
              </a:lnSpc>
              <a:spcBef>
                <a:spcPts val="600"/>
              </a:spcBef>
              <a:spcAft>
                <a:spcPts val="0"/>
              </a:spcAft>
              <a:buClr>
                <a:schemeClr val="dk1"/>
              </a:buClr>
              <a:buSzPts val="1775"/>
              <a:buFont typeface="Times New Roman"/>
              <a:buChar char="●"/>
            </a:pPr>
            <a:r>
              <a:rPr lang="en" sz="2150" dirty="0">
                <a:solidFill>
                  <a:schemeClr val="dk1"/>
                </a:solidFill>
                <a:latin typeface="Assistant"/>
                <a:ea typeface="Assistant"/>
                <a:cs typeface="Assistant"/>
                <a:sym typeface="Assistant"/>
              </a:rPr>
              <a:t>This behavior modification is also </a:t>
            </a:r>
            <a:r>
              <a:rPr lang="en" sz="2150" b="1" u="sng" dirty="0">
                <a:solidFill>
                  <a:schemeClr val="dk1"/>
                </a:solidFill>
                <a:latin typeface="Assistant"/>
                <a:ea typeface="Assistant"/>
                <a:cs typeface="Assistant"/>
                <a:sym typeface="Assistant"/>
              </a:rPr>
              <a:t>actionable</a:t>
            </a:r>
            <a:r>
              <a:rPr lang="en" sz="2150" dirty="0">
                <a:solidFill>
                  <a:schemeClr val="dk1"/>
                </a:solidFill>
                <a:latin typeface="Assistant"/>
                <a:ea typeface="Assistant"/>
                <a:cs typeface="Assistant"/>
                <a:sym typeface="Assistant"/>
              </a:rPr>
              <a:t> because I am able to obtain water and then drink it.</a:t>
            </a:r>
            <a:endParaRPr sz="2150" dirty="0">
              <a:solidFill>
                <a:schemeClr val="dk1"/>
              </a:solidFill>
              <a:latin typeface="Assistant"/>
              <a:ea typeface="Assistant"/>
              <a:cs typeface="Assistant"/>
              <a:sym typeface="Assistant"/>
            </a:endParaRPr>
          </a:p>
          <a:p>
            <a:pPr marL="457200" lvl="0" indent="-341312" algn="l" rtl="0">
              <a:lnSpc>
                <a:spcPct val="95000"/>
              </a:lnSpc>
              <a:spcBef>
                <a:spcPts val="600"/>
              </a:spcBef>
              <a:spcAft>
                <a:spcPts val="0"/>
              </a:spcAft>
              <a:buClr>
                <a:schemeClr val="dk1"/>
              </a:buClr>
              <a:buSzPts val="1775"/>
              <a:buFont typeface="Times New Roman"/>
              <a:buChar char="●"/>
            </a:pPr>
            <a:r>
              <a:rPr lang="en" sz="2150" dirty="0">
                <a:solidFill>
                  <a:schemeClr val="dk1"/>
                </a:solidFill>
                <a:latin typeface="Assistant"/>
                <a:ea typeface="Assistant"/>
                <a:cs typeface="Assistant"/>
                <a:sym typeface="Assistant"/>
              </a:rPr>
              <a:t>Furthermore, it is </a:t>
            </a:r>
            <a:r>
              <a:rPr lang="en" sz="2150" b="1" u="sng" dirty="0">
                <a:solidFill>
                  <a:schemeClr val="dk1"/>
                </a:solidFill>
                <a:latin typeface="Assistant"/>
                <a:ea typeface="Assistant"/>
                <a:cs typeface="Assistant"/>
                <a:sym typeface="Assistant"/>
              </a:rPr>
              <a:t>realistic</a:t>
            </a:r>
            <a:r>
              <a:rPr lang="en" sz="2150" dirty="0">
                <a:solidFill>
                  <a:schemeClr val="dk1"/>
                </a:solidFill>
                <a:latin typeface="Assistant"/>
                <a:ea typeface="Assistant"/>
                <a:cs typeface="Assistant"/>
                <a:sym typeface="Assistant"/>
              </a:rPr>
              <a:t> because water is available everywhere I go, and I have control over my consumption.</a:t>
            </a:r>
            <a:endParaRPr sz="2150" dirty="0">
              <a:solidFill>
                <a:schemeClr val="dk1"/>
              </a:solidFill>
              <a:latin typeface="Assistant"/>
              <a:ea typeface="Assistant"/>
              <a:cs typeface="Assistant"/>
              <a:sym typeface="Assistant"/>
            </a:endParaRPr>
          </a:p>
          <a:p>
            <a:pPr marL="457200" lvl="0" indent="-341312" algn="l" rtl="0">
              <a:lnSpc>
                <a:spcPct val="95000"/>
              </a:lnSpc>
              <a:spcBef>
                <a:spcPts val="600"/>
              </a:spcBef>
              <a:spcAft>
                <a:spcPts val="0"/>
              </a:spcAft>
              <a:buClr>
                <a:schemeClr val="dk1"/>
              </a:buClr>
              <a:buSzPts val="1775"/>
              <a:buFont typeface="Times New Roman"/>
              <a:buChar char="●"/>
            </a:pPr>
            <a:r>
              <a:rPr lang="en" sz="2150" dirty="0">
                <a:solidFill>
                  <a:schemeClr val="dk1"/>
                </a:solidFill>
                <a:latin typeface="Assistant"/>
                <a:ea typeface="Assistant"/>
                <a:cs typeface="Assistant"/>
                <a:sym typeface="Assistant"/>
              </a:rPr>
              <a:t>Finally, my behavior intervention plan is </a:t>
            </a:r>
            <a:r>
              <a:rPr lang="en" sz="2150" b="1" u="sng" dirty="0">
                <a:solidFill>
                  <a:schemeClr val="dk1"/>
                </a:solidFill>
                <a:latin typeface="Assistant"/>
                <a:ea typeface="Assistant"/>
                <a:cs typeface="Assistant"/>
                <a:sym typeface="Assistant"/>
              </a:rPr>
              <a:t>time-bound</a:t>
            </a:r>
            <a:r>
              <a:rPr lang="en" sz="2150" dirty="0">
                <a:solidFill>
                  <a:schemeClr val="dk1"/>
                </a:solidFill>
                <a:latin typeface="Assistant"/>
                <a:ea typeface="Assistant"/>
                <a:cs typeface="Assistant"/>
                <a:sym typeface="Assistant"/>
              </a:rPr>
              <a:t>, as it is designed to occur over the course of four weeks, with one week of baseline data collection and three weeks of intervention data collection. </a:t>
            </a:r>
            <a:endParaRPr sz="2150" b="1" u="sng" dirty="0">
              <a:solidFill>
                <a:schemeClr val="dk1"/>
              </a:solidFill>
              <a:latin typeface="Assistant"/>
              <a:ea typeface="Assistant"/>
              <a:cs typeface="Assistant"/>
              <a:sym typeface="Assistan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149"/>
        <p:cNvGrpSpPr/>
        <p:nvPr/>
      </p:nvGrpSpPr>
      <p:grpSpPr>
        <a:xfrm>
          <a:off x="0" y="0"/>
          <a:ext cx="0" cy="0"/>
          <a:chOff x="0" y="0"/>
          <a:chExt cx="0" cy="0"/>
        </a:xfrm>
      </p:grpSpPr>
      <p:sp>
        <p:nvSpPr>
          <p:cNvPr id="150" name="Google Shape;150;p35"/>
          <p:cNvSpPr txBox="1">
            <a:spLocks noGrp="1"/>
          </p:cNvSpPr>
          <p:nvPr>
            <p:ph type="title"/>
          </p:nvPr>
        </p:nvSpPr>
        <p:spPr>
          <a:xfrm>
            <a:off x="166230" y="219579"/>
            <a:ext cx="9146582" cy="2589270"/>
          </a:xfrm>
          <a:prstGeom prst="rect">
            <a:avLst/>
          </a:prstGeom>
        </p:spPr>
        <p:txBody>
          <a:bodyPr spcFirstLastPara="1" wrap="square" lIns="91425" tIns="91425" rIns="91425" bIns="91425" anchor="t" anchorCtr="0">
            <a:noAutofit/>
          </a:bodyPr>
          <a:lstStyle/>
          <a:p>
            <a:pPr marL="460375" lvl="0" indent="-460375" rtl="0">
              <a:spcBef>
                <a:spcPts val="0"/>
              </a:spcBef>
              <a:spcAft>
                <a:spcPts val="0"/>
              </a:spcAft>
              <a:buNone/>
            </a:pPr>
            <a:r>
              <a:rPr lang="en" sz="3200" dirty="0"/>
              <a:t>4</a:t>
            </a:r>
            <a:r>
              <a:rPr lang="en" sz="3200" dirty="0">
                <a:solidFill>
                  <a:srgbClr val="0070C0"/>
                </a:solidFill>
              </a:rPr>
              <a:t>. </a:t>
            </a:r>
            <a:r>
              <a:rPr lang="en" sz="3200" dirty="0">
                <a:solidFill>
                  <a:srgbClr val="0070C0"/>
                </a:solidFill>
                <a:latin typeface="Alexandria"/>
                <a:ea typeface="Alexandria"/>
                <a:cs typeface="Alexandria"/>
                <a:sym typeface="Alexandria"/>
              </a:rPr>
              <a:t>Perform a functional behavioral analysis (FBA) of the unwanted target behavior you are trying to change. Detail the ABCs of that behavior.</a:t>
            </a:r>
            <a:endParaRPr sz="3200" dirty="0">
              <a:solidFill>
                <a:srgbClr val="0070C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154"/>
        <p:cNvGrpSpPr/>
        <p:nvPr/>
      </p:nvGrpSpPr>
      <p:grpSpPr>
        <a:xfrm>
          <a:off x="0" y="0"/>
          <a:ext cx="0" cy="0"/>
          <a:chOff x="0" y="0"/>
          <a:chExt cx="0" cy="0"/>
        </a:xfrm>
      </p:grpSpPr>
      <p:sp>
        <p:nvSpPr>
          <p:cNvPr id="155" name="Google Shape;155;p36"/>
          <p:cNvSpPr txBox="1">
            <a:spLocks noGrp="1"/>
          </p:cNvSpPr>
          <p:nvPr>
            <p:ph type="title"/>
          </p:nvPr>
        </p:nvSpPr>
        <p:spPr>
          <a:xfrm>
            <a:off x="207558" y="156994"/>
            <a:ext cx="8837968" cy="1840617"/>
          </a:xfrm>
          <a:prstGeom prst="rect">
            <a:avLst/>
          </a:prstGeom>
        </p:spPr>
        <p:txBody>
          <a:bodyPr spcFirstLastPara="1" wrap="square" lIns="91425" tIns="91425" rIns="91425" bIns="91425" anchor="t" anchorCtr="0">
            <a:noAutofit/>
          </a:bodyPr>
          <a:lstStyle/>
          <a:p>
            <a:pPr marL="641350" lvl="0" indent="-641350" rtl="0">
              <a:spcBef>
                <a:spcPts val="0"/>
              </a:spcBef>
              <a:spcAft>
                <a:spcPts val="0"/>
              </a:spcAft>
              <a:buNone/>
            </a:pPr>
            <a:r>
              <a:rPr lang="en" dirty="0">
                <a:solidFill>
                  <a:srgbClr val="0070C0"/>
                </a:solidFill>
              </a:rPr>
              <a:t>4a. </a:t>
            </a:r>
            <a:r>
              <a:rPr lang="en" dirty="0">
                <a:solidFill>
                  <a:srgbClr val="0070C0"/>
                </a:solidFill>
                <a:latin typeface="Alexandria"/>
                <a:ea typeface="Alexandria"/>
                <a:cs typeface="Alexandria"/>
                <a:sym typeface="Alexandria"/>
              </a:rPr>
              <a:t>What are the ANTECEDENTS (triggers) for your engagement in your unwanted target behavior? </a:t>
            </a:r>
            <a:endParaRPr dirty="0">
              <a:solidFill>
                <a:srgbClr val="0070C0"/>
              </a:solidFill>
            </a:endParaRPr>
          </a:p>
        </p:txBody>
      </p:sp>
      <p:sp>
        <p:nvSpPr>
          <p:cNvPr id="156" name="Google Shape;156;p36"/>
          <p:cNvSpPr txBox="1">
            <a:spLocks noGrp="1"/>
          </p:cNvSpPr>
          <p:nvPr>
            <p:ph type="body" idx="4294967295"/>
          </p:nvPr>
        </p:nvSpPr>
        <p:spPr>
          <a:xfrm>
            <a:off x="171899" y="1847717"/>
            <a:ext cx="8845492" cy="18288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2800" dirty="0"/>
              <a:t>What circumstances lead up to your undesired behavior? </a:t>
            </a:r>
            <a:r>
              <a:rPr lang="en" sz="2400" dirty="0">
                <a:solidFill>
                  <a:srgbClr val="000000"/>
                </a:solidFill>
              </a:rPr>
              <a:t>List and describe </a:t>
            </a:r>
            <a:r>
              <a:rPr lang="en" sz="2400" b="1" i="1" dirty="0">
                <a:solidFill>
                  <a:srgbClr val="000000"/>
                </a:solidFill>
              </a:rPr>
              <a:t>two examples</a:t>
            </a:r>
            <a:r>
              <a:rPr lang="en" sz="2400" dirty="0">
                <a:solidFill>
                  <a:srgbClr val="000000"/>
                </a:solidFill>
              </a:rPr>
              <a:t>. You must use the word </a:t>
            </a:r>
            <a:r>
              <a:rPr lang="en" sz="2400" i="1" dirty="0">
                <a:solidFill>
                  <a:srgbClr val="000000"/>
                </a:solidFill>
              </a:rPr>
              <a:t>antecedent or trigger  </a:t>
            </a:r>
            <a:r>
              <a:rPr lang="en" sz="2400" dirty="0">
                <a:solidFill>
                  <a:srgbClr val="000000"/>
                </a:solidFill>
              </a:rPr>
              <a:t>in your answer.  </a:t>
            </a:r>
            <a:r>
              <a:rPr lang="en" sz="2800" dirty="0"/>
              <a:t> </a:t>
            </a:r>
            <a:endParaRPr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160"/>
        <p:cNvGrpSpPr/>
        <p:nvPr/>
      </p:nvGrpSpPr>
      <p:grpSpPr>
        <a:xfrm>
          <a:off x="0" y="0"/>
          <a:ext cx="0" cy="0"/>
          <a:chOff x="0" y="0"/>
          <a:chExt cx="0" cy="0"/>
        </a:xfrm>
      </p:grpSpPr>
      <p:sp>
        <p:nvSpPr>
          <p:cNvPr id="161" name="Google Shape;161;p37"/>
          <p:cNvSpPr txBox="1">
            <a:spLocks noGrp="1"/>
          </p:cNvSpPr>
          <p:nvPr>
            <p:ph type="title"/>
          </p:nvPr>
        </p:nvSpPr>
        <p:spPr>
          <a:xfrm>
            <a:off x="1234500" y="142368"/>
            <a:ext cx="66750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500" dirty="0">
                <a:solidFill>
                  <a:srgbClr val="0070C0"/>
                </a:solidFill>
              </a:rPr>
              <a:t>Example</a:t>
            </a:r>
            <a:endParaRPr sz="3500" dirty="0">
              <a:solidFill>
                <a:srgbClr val="0070C0"/>
              </a:solidFill>
            </a:endParaRPr>
          </a:p>
        </p:txBody>
      </p:sp>
      <p:sp>
        <p:nvSpPr>
          <p:cNvPr id="162" name="Google Shape;162;p37"/>
          <p:cNvSpPr txBox="1"/>
          <p:nvPr/>
        </p:nvSpPr>
        <p:spPr>
          <a:xfrm>
            <a:off x="0" y="876866"/>
            <a:ext cx="9242474" cy="2442000"/>
          </a:xfrm>
          <a:prstGeom prst="rect">
            <a:avLst/>
          </a:prstGeom>
          <a:noFill/>
          <a:ln>
            <a:noFill/>
          </a:ln>
        </p:spPr>
        <p:txBody>
          <a:bodyPr spcFirstLastPara="1" wrap="square" lIns="91425" tIns="91425" rIns="91425" bIns="91425" anchor="t" anchorCtr="0">
            <a:noAutofit/>
          </a:bodyPr>
          <a:lstStyle/>
          <a:p>
            <a:pPr marL="571500" lvl="0" indent="-501650">
              <a:lnSpc>
                <a:spcPct val="150000"/>
              </a:lnSpc>
              <a:buClr>
                <a:schemeClr val="dk1"/>
              </a:buClr>
              <a:buSzPts val="2500"/>
            </a:pPr>
            <a:r>
              <a:rPr lang="en" sz="2400" b="1" dirty="0"/>
              <a:t>4a. </a:t>
            </a:r>
            <a:r>
              <a:rPr lang="en" sz="2400" b="1" dirty="0">
                <a:latin typeface="Alexandria"/>
                <a:ea typeface="Alexandria"/>
                <a:cs typeface="Alexandria"/>
                <a:sym typeface="Alexandria"/>
              </a:rPr>
              <a:t>What are the ANTECEDENTS (triggers) for your engagement in your unwanted target behavior? </a:t>
            </a:r>
          </a:p>
          <a:p>
            <a:pPr marL="920750" lvl="0" indent="-377825">
              <a:lnSpc>
                <a:spcPct val="150000"/>
              </a:lnSpc>
              <a:spcBef>
                <a:spcPts val="600"/>
              </a:spcBef>
              <a:buClr>
                <a:schemeClr val="dk1"/>
              </a:buClr>
              <a:buSzPts val="2500"/>
              <a:buFont typeface="Assistant"/>
              <a:buChar char="●"/>
            </a:pPr>
            <a:r>
              <a:rPr lang="en" sz="2500" dirty="0">
                <a:solidFill>
                  <a:schemeClr val="dk1"/>
                </a:solidFill>
                <a:latin typeface="Assistant"/>
                <a:ea typeface="Assistant"/>
                <a:cs typeface="Assistant"/>
                <a:sym typeface="Assistant"/>
              </a:rPr>
              <a:t>My first </a:t>
            </a:r>
            <a:r>
              <a:rPr lang="en" sz="2500" i="1" dirty="0">
                <a:solidFill>
                  <a:schemeClr val="dk1"/>
                </a:solidFill>
                <a:latin typeface="Assistant"/>
                <a:ea typeface="Assistant"/>
                <a:cs typeface="Assistant"/>
                <a:sym typeface="Assistant"/>
              </a:rPr>
              <a:t>antecedent</a:t>
            </a:r>
            <a:r>
              <a:rPr lang="en" sz="2500" dirty="0">
                <a:solidFill>
                  <a:schemeClr val="dk1"/>
                </a:solidFill>
                <a:latin typeface="Assistant"/>
                <a:ea typeface="Assistant"/>
                <a:cs typeface="Assistant"/>
                <a:sym typeface="Assistant"/>
              </a:rPr>
              <a:t>  is</a:t>
            </a:r>
            <a:r>
              <a:rPr lang="en" sz="2500" b="1" dirty="0">
                <a:solidFill>
                  <a:schemeClr val="dk1"/>
                </a:solidFill>
                <a:latin typeface="Assistant"/>
                <a:ea typeface="Assistant"/>
                <a:cs typeface="Assistant"/>
                <a:sym typeface="Assistant"/>
              </a:rPr>
              <a:t> having sugar cravings, </a:t>
            </a:r>
            <a:r>
              <a:rPr lang="en" sz="2500" dirty="0">
                <a:solidFill>
                  <a:schemeClr val="dk1"/>
                </a:solidFill>
                <a:latin typeface="Assistant"/>
                <a:ea typeface="Assistant"/>
                <a:cs typeface="Assistant"/>
                <a:sym typeface="Assistant"/>
              </a:rPr>
              <a:t>so I end up reaching for a soda instead of water.</a:t>
            </a:r>
            <a:endParaRPr sz="2500" dirty="0">
              <a:solidFill>
                <a:schemeClr val="dk1"/>
              </a:solidFill>
              <a:latin typeface="Assistant"/>
              <a:ea typeface="Assistant"/>
              <a:cs typeface="Assistant"/>
              <a:sym typeface="Assistant"/>
            </a:endParaRPr>
          </a:p>
          <a:p>
            <a:pPr marL="920750" lvl="0" indent="-377825" algn="l" rtl="0">
              <a:lnSpc>
                <a:spcPct val="150000"/>
              </a:lnSpc>
              <a:spcBef>
                <a:spcPts val="600"/>
              </a:spcBef>
              <a:spcAft>
                <a:spcPts val="0"/>
              </a:spcAft>
              <a:buClr>
                <a:schemeClr val="dk1"/>
              </a:buClr>
              <a:buSzPts val="2500"/>
              <a:buFont typeface="Assistant"/>
              <a:buChar char="●"/>
            </a:pPr>
            <a:r>
              <a:rPr lang="en" sz="2500" dirty="0">
                <a:solidFill>
                  <a:schemeClr val="dk1"/>
                </a:solidFill>
                <a:latin typeface="Assistant"/>
                <a:ea typeface="Assistant"/>
                <a:cs typeface="Assistant"/>
                <a:sym typeface="Assistant"/>
              </a:rPr>
              <a:t>My second </a:t>
            </a:r>
            <a:r>
              <a:rPr lang="en" sz="2500" i="1" dirty="0">
                <a:solidFill>
                  <a:schemeClr val="dk1"/>
                </a:solidFill>
                <a:latin typeface="Assistant"/>
                <a:ea typeface="Assistant"/>
                <a:cs typeface="Assistant"/>
                <a:sym typeface="Assistant"/>
              </a:rPr>
              <a:t>trigger </a:t>
            </a:r>
            <a:r>
              <a:rPr lang="en" sz="2500" dirty="0">
                <a:solidFill>
                  <a:schemeClr val="dk1"/>
                </a:solidFill>
                <a:latin typeface="Assistant"/>
                <a:ea typeface="Assistant"/>
                <a:cs typeface="Assistant"/>
                <a:sym typeface="Assistant"/>
              </a:rPr>
              <a:t> is </a:t>
            </a:r>
            <a:r>
              <a:rPr lang="en" sz="2500" b="1" dirty="0">
                <a:solidFill>
                  <a:schemeClr val="dk1"/>
                </a:solidFill>
                <a:latin typeface="Assistant"/>
                <a:ea typeface="Assistant"/>
                <a:cs typeface="Assistant"/>
                <a:sym typeface="Assistant"/>
              </a:rPr>
              <a:t>waking up late</a:t>
            </a:r>
            <a:r>
              <a:rPr lang="en" sz="2500" dirty="0">
                <a:solidFill>
                  <a:schemeClr val="dk1"/>
                </a:solidFill>
                <a:latin typeface="Assistant"/>
                <a:ea typeface="Assistant"/>
                <a:cs typeface="Assistant"/>
                <a:sym typeface="Assistant"/>
              </a:rPr>
              <a:t> </a:t>
            </a:r>
            <a:r>
              <a:rPr lang="en" sz="2500" b="1" dirty="0">
                <a:solidFill>
                  <a:schemeClr val="dk1"/>
                </a:solidFill>
                <a:latin typeface="Assistant"/>
                <a:ea typeface="Assistant"/>
                <a:cs typeface="Assistant"/>
                <a:sym typeface="Assistant"/>
              </a:rPr>
              <a:t>and forgetting to grab my water bottle.</a:t>
            </a:r>
            <a:endParaRPr sz="1875" b="1" dirty="0">
              <a:solidFill>
                <a:schemeClr val="dk1"/>
              </a:solidFill>
              <a:latin typeface="Assistant"/>
              <a:ea typeface="Assistant"/>
              <a:cs typeface="Assistant"/>
              <a:sym typeface="Assistan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166"/>
        <p:cNvGrpSpPr/>
        <p:nvPr/>
      </p:nvGrpSpPr>
      <p:grpSpPr>
        <a:xfrm>
          <a:off x="0" y="0"/>
          <a:ext cx="0" cy="0"/>
          <a:chOff x="0" y="0"/>
          <a:chExt cx="0" cy="0"/>
        </a:xfrm>
      </p:grpSpPr>
      <p:sp>
        <p:nvSpPr>
          <p:cNvPr id="167" name="Google Shape;167;p38"/>
          <p:cNvSpPr txBox="1">
            <a:spLocks noGrp="1"/>
          </p:cNvSpPr>
          <p:nvPr>
            <p:ph type="title"/>
          </p:nvPr>
        </p:nvSpPr>
        <p:spPr>
          <a:xfrm>
            <a:off x="168812" y="152319"/>
            <a:ext cx="8975188" cy="1198179"/>
          </a:xfrm>
          <a:prstGeom prst="rect">
            <a:avLst/>
          </a:prstGeom>
        </p:spPr>
        <p:txBody>
          <a:bodyPr spcFirstLastPara="1" wrap="square" lIns="91425" tIns="91425" rIns="91425" bIns="91425" anchor="t" anchorCtr="0">
            <a:noAutofit/>
          </a:bodyPr>
          <a:lstStyle/>
          <a:p>
            <a:pPr marL="696913" lvl="0" indent="-696913" rtl="0">
              <a:spcBef>
                <a:spcPts val="0"/>
              </a:spcBef>
              <a:spcAft>
                <a:spcPts val="0"/>
              </a:spcAft>
              <a:buNone/>
            </a:pPr>
            <a:r>
              <a:rPr lang="en" b="1" dirty="0">
                <a:solidFill>
                  <a:srgbClr val="0070C0"/>
                </a:solidFill>
              </a:rPr>
              <a:t>4b. </a:t>
            </a:r>
            <a:r>
              <a:rPr lang="en" b="1" dirty="0">
                <a:solidFill>
                  <a:srgbClr val="0070C0"/>
                </a:solidFill>
                <a:latin typeface="Alexandria"/>
                <a:ea typeface="Alexandria"/>
                <a:cs typeface="Alexandria"/>
                <a:sym typeface="Alexandria"/>
              </a:rPr>
              <a:t>What are you </a:t>
            </a:r>
            <a:r>
              <a:rPr lang="en" b="1" u="sng" dirty="0">
                <a:solidFill>
                  <a:srgbClr val="0070C0"/>
                </a:solidFill>
                <a:latin typeface="Alexandria"/>
                <a:ea typeface="Alexandria"/>
                <a:cs typeface="Alexandria"/>
                <a:sym typeface="Alexandria"/>
              </a:rPr>
              <a:t>ACTIVELY</a:t>
            </a:r>
            <a:r>
              <a:rPr lang="en" b="1" dirty="0">
                <a:solidFill>
                  <a:srgbClr val="0070C0"/>
                </a:solidFill>
                <a:latin typeface="Alexandria"/>
                <a:ea typeface="Alexandria"/>
                <a:cs typeface="Alexandria"/>
                <a:sym typeface="Alexandria"/>
              </a:rPr>
              <a:t> doing during your unwanted target behavior? </a:t>
            </a:r>
            <a:endParaRPr b="1" dirty="0">
              <a:solidFill>
                <a:srgbClr val="0070C0"/>
              </a:solidFill>
            </a:endParaRPr>
          </a:p>
        </p:txBody>
      </p:sp>
      <p:sp>
        <p:nvSpPr>
          <p:cNvPr id="168" name="Google Shape;168;p38"/>
          <p:cNvSpPr txBox="1">
            <a:spLocks noGrp="1"/>
          </p:cNvSpPr>
          <p:nvPr>
            <p:ph type="body" idx="4294967295"/>
          </p:nvPr>
        </p:nvSpPr>
        <p:spPr>
          <a:xfrm>
            <a:off x="171204" y="1355514"/>
            <a:ext cx="8846187" cy="3652584"/>
          </a:xfrm>
          <a:prstGeom prst="rect">
            <a:avLst/>
          </a:prstGeom>
        </p:spPr>
        <p:txBody>
          <a:bodyPr spcFirstLastPara="1" wrap="square" lIns="91425" tIns="91425" rIns="91425" bIns="91425" anchor="t" anchorCtr="0">
            <a:noAutofit/>
          </a:bodyPr>
          <a:lstStyle/>
          <a:p>
            <a:pPr marL="342900" indent="-342900" algn="just"/>
            <a:r>
              <a:rPr lang="en" sz="2400" dirty="0">
                <a:solidFill>
                  <a:srgbClr val="000000"/>
                </a:solidFill>
              </a:rPr>
              <a:t>List and describe </a:t>
            </a:r>
            <a:r>
              <a:rPr lang="en" sz="2400" b="1" i="1" dirty="0">
                <a:solidFill>
                  <a:srgbClr val="000000"/>
                </a:solidFill>
              </a:rPr>
              <a:t>two examples</a:t>
            </a:r>
            <a:r>
              <a:rPr lang="en" sz="2400" dirty="0">
                <a:solidFill>
                  <a:srgbClr val="000000"/>
                </a:solidFill>
              </a:rPr>
              <a:t>. </a:t>
            </a:r>
            <a:endParaRPr sz="2400" dirty="0">
              <a:solidFill>
                <a:srgbClr val="000000"/>
              </a:solidFill>
            </a:endParaRPr>
          </a:p>
          <a:p>
            <a:pPr marL="342900" indent="-342900" algn="just"/>
            <a:endParaRPr lang="en" sz="2400" dirty="0">
              <a:solidFill>
                <a:srgbClr val="000000"/>
              </a:solidFill>
            </a:endParaRPr>
          </a:p>
          <a:p>
            <a:pPr marL="342900" indent="-342900" algn="just"/>
            <a:r>
              <a:rPr lang="en" sz="2400" dirty="0">
                <a:solidFill>
                  <a:srgbClr val="000000"/>
                </a:solidFill>
              </a:rPr>
              <a:t>Additionally, </a:t>
            </a:r>
            <a:r>
              <a:rPr lang="en" sz="2400" b="1" dirty="0">
                <a:solidFill>
                  <a:srgbClr val="000000"/>
                </a:solidFill>
              </a:rPr>
              <a:t>explain if your unwanted target behavior is a good choice for you to modify AND why?</a:t>
            </a:r>
            <a:r>
              <a:rPr lang="en" sz="2400" dirty="0">
                <a:solidFill>
                  <a:srgbClr val="000000"/>
                </a:solidFill>
              </a:rPr>
              <a:t> (e.g., is it under</a:t>
            </a:r>
            <a:r>
              <a:rPr lang="en" sz="2400" i="1" dirty="0">
                <a:solidFill>
                  <a:srgbClr val="000000"/>
                </a:solidFill>
              </a:rPr>
              <a:t> your control,</a:t>
            </a:r>
            <a:r>
              <a:rPr lang="en" sz="2400" dirty="0">
                <a:solidFill>
                  <a:srgbClr val="000000"/>
                </a:solidFill>
              </a:rPr>
              <a:t> OR is it an issue for you?)</a:t>
            </a:r>
            <a:endParaRPr sz="24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8">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172"/>
        <p:cNvGrpSpPr/>
        <p:nvPr/>
      </p:nvGrpSpPr>
      <p:grpSpPr>
        <a:xfrm>
          <a:off x="0" y="0"/>
          <a:ext cx="0" cy="0"/>
          <a:chOff x="0" y="0"/>
          <a:chExt cx="0" cy="0"/>
        </a:xfrm>
      </p:grpSpPr>
      <p:sp>
        <p:nvSpPr>
          <p:cNvPr id="173" name="Google Shape;173;p39"/>
          <p:cNvSpPr txBox="1">
            <a:spLocks noGrp="1"/>
          </p:cNvSpPr>
          <p:nvPr>
            <p:ph type="title"/>
          </p:nvPr>
        </p:nvSpPr>
        <p:spPr>
          <a:xfrm>
            <a:off x="1234500" y="111198"/>
            <a:ext cx="66750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dirty="0">
                <a:solidFill>
                  <a:srgbClr val="0070C0"/>
                </a:solidFill>
              </a:rPr>
              <a:t>Example</a:t>
            </a:r>
            <a:endParaRPr sz="3600" dirty="0">
              <a:solidFill>
                <a:srgbClr val="0070C0"/>
              </a:solidFill>
            </a:endParaRPr>
          </a:p>
        </p:txBody>
      </p:sp>
      <p:sp>
        <p:nvSpPr>
          <p:cNvPr id="174" name="Google Shape;174;p39"/>
          <p:cNvSpPr txBox="1"/>
          <p:nvPr/>
        </p:nvSpPr>
        <p:spPr>
          <a:xfrm>
            <a:off x="0" y="695127"/>
            <a:ext cx="9256542" cy="2442000"/>
          </a:xfrm>
          <a:prstGeom prst="rect">
            <a:avLst/>
          </a:prstGeom>
          <a:noFill/>
          <a:ln>
            <a:noFill/>
          </a:ln>
        </p:spPr>
        <p:txBody>
          <a:bodyPr spcFirstLastPara="1" wrap="square" lIns="91425" tIns="91425" rIns="91425" bIns="91425" anchor="t" anchorCtr="0">
            <a:noAutofit/>
          </a:bodyPr>
          <a:lstStyle/>
          <a:p>
            <a:pPr marL="88900" lvl="0">
              <a:lnSpc>
                <a:spcPct val="150000"/>
              </a:lnSpc>
              <a:buClr>
                <a:schemeClr val="dk1"/>
              </a:buClr>
              <a:buSzPts val="2200"/>
            </a:pPr>
            <a:r>
              <a:rPr lang="en" sz="2400" b="1" dirty="0"/>
              <a:t>4b. </a:t>
            </a:r>
            <a:r>
              <a:rPr lang="en" sz="2400" b="1" dirty="0">
                <a:latin typeface="Alexandria"/>
                <a:ea typeface="Alexandria"/>
                <a:cs typeface="Alexandria"/>
                <a:sym typeface="Alexandria"/>
              </a:rPr>
              <a:t>What are you </a:t>
            </a:r>
            <a:r>
              <a:rPr lang="en" sz="2400" b="1" u="sng" dirty="0">
                <a:latin typeface="Alexandria"/>
                <a:ea typeface="Alexandria"/>
                <a:cs typeface="Alexandria"/>
                <a:sym typeface="Alexandria"/>
              </a:rPr>
              <a:t>ACTIVELY</a:t>
            </a:r>
            <a:r>
              <a:rPr lang="en" sz="2400" b="1" dirty="0">
                <a:latin typeface="Alexandria"/>
                <a:ea typeface="Alexandria"/>
                <a:cs typeface="Alexandria"/>
                <a:sym typeface="Alexandria"/>
              </a:rPr>
              <a:t> doing during your unwanted target behavior? </a:t>
            </a:r>
            <a:endParaRPr lang="en" sz="2200" dirty="0">
              <a:solidFill>
                <a:schemeClr val="dk1"/>
              </a:solidFill>
              <a:latin typeface="Assistant"/>
              <a:ea typeface="Assistant"/>
              <a:cs typeface="Assistant"/>
              <a:sym typeface="Assistant"/>
            </a:endParaRPr>
          </a:p>
          <a:p>
            <a:pPr marL="457200" lvl="0" indent="-368300" algn="l" rtl="0">
              <a:lnSpc>
                <a:spcPct val="130000"/>
              </a:lnSpc>
              <a:spcBef>
                <a:spcPts val="0"/>
              </a:spcBef>
              <a:spcAft>
                <a:spcPts val="0"/>
              </a:spcAft>
              <a:buClr>
                <a:schemeClr val="dk1"/>
              </a:buClr>
              <a:buSzPts val="2200"/>
              <a:buFont typeface="Assistant"/>
              <a:buChar char="●"/>
            </a:pPr>
            <a:r>
              <a:rPr lang="en" sz="2200" dirty="0">
                <a:solidFill>
                  <a:schemeClr val="dk1"/>
                </a:solidFill>
                <a:latin typeface="Assistant"/>
                <a:ea typeface="Assistant"/>
                <a:cs typeface="Assistant"/>
                <a:sym typeface="Assistant"/>
              </a:rPr>
              <a:t>When I am not drinking enough water, </a:t>
            </a:r>
            <a:r>
              <a:rPr lang="en" sz="2200" b="1" dirty="0">
                <a:solidFill>
                  <a:schemeClr val="dk1"/>
                </a:solidFill>
                <a:latin typeface="Assistant"/>
                <a:ea typeface="Assistant"/>
                <a:cs typeface="Assistant"/>
                <a:sym typeface="Assistant"/>
              </a:rPr>
              <a:t>I am drinking a sweet soda instead</a:t>
            </a:r>
            <a:r>
              <a:rPr lang="en" sz="2200" dirty="0">
                <a:solidFill>
                  <a:schemeClr val="dk1"/>
                </a:solidFill>
                <a:latin typeface="Assistant"/>
                <a:ea typeface="Assistant"/>
                <a:cs typeface="Assistant"/>
                <a:sym typeface="Assistant"/>
              </a:rPr>
              <a:t>.</a:t>
            </a:r>
            <a:endParaRPr sz="2200" dirty="0">
              <a:solidFill>
                <a:schemeClr val="dk1"/>
              </a:solidFill>
              <a:latin typeface="Assistant"/>
              <a:ea typeface="Assistant"/>
              <a:cs typeface="Assistant"/>
              <a:sym typeface="Assistant"/>
            </a:endParaRPr>
          </a:p>
          <a:p>
            <a:pPr marL="457200" lvl="0" indent="-368300" algn="l" rtl="0">
              <a:lnSpc>
                <a:spcPct val="130000"/>
              </a:lnSpc>
              <a:spcBef>
                <a:spcPts val="0"/>
              </a:spcBef>
              <a:spcAft>
                <a:spcPts val="0"/>
              </a:spcAft>
              <a:buClr>
                <a:schemeClr val="dk1"/>
              </a:buClr>
              <a:buSzPts val="2200"/>
              <a:buFont typeface="Assistant"/>
              <a:buChar char="●"/>
            </a:pPr>
            <a:r>
              <a:rPr lang="en" sz="2200" dirty="0">
                <a:solidFill>
                  <a:schemeClr val="dk1"/>
                </a:solidFill>
                <a:latin typeface="Assistant"/>
                <a:ea typeface="Assistant"/>
                <a:cs typeface="Assistant"/>
                <a:sym typeface="Assistant"/>
              </a:rPr>
              <a:t>When I am not drinking enough water, </a:t>
            </a:r>
            <a:r>
              <a:rPr lang="en" sz="2200" b="1" dirty="0">
                <a:solidFill>
                  <a:schemeClr val="dk1"/>
                </a:solidFill>
                <a:latin typeface="Assistant"/>
                <a:ea typeface="Assistant"/>
                <a:cs typeface="Assistant"/>
                <a:sym typeface="Assistant"/>
              </a:rPr>
              <a:t>I am wishing I had my water bottle </a:t>
            </a:r>
            <a:r>
              <a:rPr lang="en-US" sz="2200" b="1" dirty="0" err="1">
                <a:solidFill>
                  <a:schemeClr val="dk1"/>
                </a:solidFill>
                <a:latin typeface="Assistant"/>
                <a:ea typeface="Assistant"/>
                <a:cs typeface="Assistant"/>
                <a:sym typeface="Assistant"/>
              </a:rPr>
              <a:t>wi</a:t>
            </a:r>
            <a:r>
              <a:rPr lang="en" sz="2200" b="1" dirty="0" err="1">
                <a:solidFill>
                  <a:schemeClr val="dk1"/>
                </a:solidFill>
                <a:latin typeface="Assistant"/>
                <a:ea typeface="Assistant"/>
                <a:cs typeface="Assistant"/>
                <a:sym typeface="Assistant"/>
              </a:rPr>
              <a:t>th</a:t>
            </a:r>
            <a:r>
              <a:rPr lang="en" sz="2200" b="1" dirty="0">
                <a:solidFill>
                  <a:schemeClr val="dk1"/>
                </a:solidFill>
                <a:latin typeface="Assistant"/>
                <a:ea typeface="Assistant"/>
                <a:cs typeface="Assistant"/>
                <a:sym typeface="Assistant"/>
              </a:rPr>
              <a:t> me, because I am at school and thirsty.</a:t>
            </a:r>
          </a:p>
          <a:p>
            <a:pPr marL="457200" lvl="0" indent="-368300" algn="l" rtl="0">
              <a:lnSpc>
                <a:spcPct val="130000"/>
              </a:lnSpc>
              <a:spcBef>
                <a:spcPts val="0"/>
              </a:spcBef>
              <a:spcAft>
                <a:spcPts val="0"/>
              </a:spcAft>
              <a:buClr>
                <a:schemeClr val="dk1"/>
              </a:buClr>
              <a:buSzPts val="2200"/>
              <a:buFont typeface="Assistant"/>
              <a:buChar char="●"/>
            </a:pPr>
            <a:r>
              <a:rPr lang="en" sz="2200" dirty="0">
                <a:solidFill>
                  <a:schemeClr val="dk1"/>
                </a:solidFill>
                <a:latin typeface="Assistant"/>
                <a:ea typeface="Assistant"/>
                <a:cs typeface="Assistant"/>
                <a:sym typeface="Assistant"/>
              </a:rPr>
              <a:t>This behavior is a </a:t>
            </a:r>
            <a:r>
              <a:rPr lang="en" sz="2200" b="1" dirty="0">
                <a:solidFill>
                  <a:schemeClr val="dk1"/>
                </a:solidFill>
                <a:latin typeface="Assistant"/>
                <a:ea typeface="Assistant"/>
                <a:cs typeface="Assistant"/>
                <a:sym typeface="Assistant"/>
              </a:rPr>
              <a:t>good choice for me to modify</a:t>
            </a:r>
            <a:r>
              <a:rPr lang="en" sz="2200" dirty="0">
                <a:solidFill>
                  <a:schemeClr val="dk1"/>
                </a:solidFill>
                <a:latin typeface="Assistant"/>
                <a:ea typeface="Assistant"/>
                <a:cs typeface="Assistant"/>
                <a:sym typeface="Assistant"/>
              </a:rPr>
              <a:t> </a:t>
            </a:r>
            <a:r>
              <a:rPr lang="en" sz="2200" i="1" dirty="0">
                <a:solidFill>
                  <a:schemeClr val="dk1"/>
                </a:solidFill>
                <a:latin typeface="Assistant"/>
                <a:ea typeface="Assistant"/>
                <a:cs typeface="Assistant"/>
                <a:sym typeface="Assistant"/>
              </a:rPr>
              <a:t>because</a:t>
            </a:r>
            <a:r>
              <a:rPr lang="en" sz="2200" dirty="0">
                <a:solidFill>
                  <a:schemeClr val="dk1"/>
                </a:solidFill>
                <a:latin typeface="Assistant"/>
                <a:ea typeface="Assistant"/>
                <a:cs typeface="Assistant"/>
                <a:sym typeface="Assistant"/>
              </a:rPr>
              <a:t> </a:t>
            </a:r>
            <a:r>
              <a:rPr lang="en" sz="2200" b="1" dirty="0">
                <a:solidFill>
                  <a:schemeClr val="dk1"/>
                </a:solidFill>
                <a:latin typeface="Assistant"/>
                <a:ea typeface="Assistant"/>
                <a:cs typeface="Assistant"/>
                <a:sym typeface="Assistant"/>
              </a:rPr>
              <a:t>I have control over whether I drink water or not, and I have been wanting to do this for a long time</a:t>
            </a:r>
            <a:r>
              <a:rPr lang="en" sz="2200" dirty="0">
                <a:solidFill>
                  <a:schemeClr val="dk1"/>
                </a:solidFill>
                <a:latin typeface="Assistant"/>
                <a:ea typeface="Assistant"/>
                <a:cs typeface="Assistant"/>
                <a:sym typeface="Assistant"/>
              </a:rPr>
              <a:t>.</a:t>
            </a:r>
            <a:endParaRPr sz="2200" dirty="0">
              <a:solidFill>
                <a:schemeClr val="dk1"/>
              </a:solidFill>
              <a:latin typeface="Assistant"/>
              <a:ea typeface="Assistant"/>
              <a:cs typeface="Assistant"/>
              <a:sym typeface="Assistan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178"/>
        <p:cNvGrpSpPr/>
        <p:nvPr/>
      </p:nvGrpSpPr>
      <p:grpSpPr>
        <a:xfrm>
          <a:off x="0" y="0"/>
          <a:ext cx="0" cy="0"/>
          <a:chOff x="0" y="0"/>
          <a:chExt cx="0" cy="0"/>
        </a:xfrm>
      </p:grpSpPr>
      <p:sp>
        <p:nvSpPr>
          <p:cNvPr id="179" name="Google Shape;179;p40"/>
          <p:cNvSpPr txBox="1">
            <a:spLocks noGrp="1"/>
          </p:cNvSpPr>
          <p:nvPr>
            <p:ph type="title"/>
          </p:nvPr>
        </p:nvSpPr>
        <p:spPr>
          <a:xfrm>
            <a:off x="124264" y="185918"/>
            <a:ext cx="9019736" cy="951221"/>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sz="3000" dirty="0">
                <a:solidFill>
                  <a:srgbClr val="0070C0"/>
                </a:solidFill>
              </a:rPr>
              <a:t>4c. </a:t>
            </a:r>
            <a:r>
              <a:rPr lang="en" sz="3000" dirty="0">
                <a:solidFill>
                  <a:srgbClr val="0070C0"/>
                </a:solidFill>
                <a:latin typeface="Alexandria"/>
                <a:ea typeface="Alexandria"/>
                <a:cs typeface="Alexandria"/>
                <a:sym typeface="Alexandria"/>
              </a:rPr>
              <a:t>What are the CONSEQUENCES of engaging in your unwanted target behavior? </a:t>
            </a:r>
            <a:endParaRPr sz="3000" dirty="0">
              <a:solidFill>
                <a:srgbClr val="0070C0"/>
              </a:solidFill>
            </a:endParaRPr>
          </a:p>
        </p:txBody>
      </p:sp>
      <p:sp>
        <p:nvSpPr>
          <p:cNvPr id="180" name="Google Shape;180;p40"/>
          <p:cNvSpPr txBox="1">
            <a:spLocks noGrp="1"/>
          </p:cNvSpPr>
          <p:nvPr>
            <p:ph type="body" idx="4294967295"/>
          </p:nvPr>
        </p:nvSpPr>
        <p:spPr>
          <a:xfrm>
            <a:off x="251339" y="1409883"/>
            <a:ext cx="8766051" cy="1145400"/>
          </a:xfrm>
          <a:prstGeom prst="rect">
            <a:avLst/>
          </a:prstGeom>
        </p:spPr>
        <p:txBody>
          <a:bodyPr spcFirstLastPara="1" wrap="square" lIns="91425" tIns="91425" rIns="91425" bIns="91425" anchor="t" anchorCtr="0">
            <a:noAutofit/>
          </a:bodyPr>
          <a:lstStyle/>
          <a:p>
            <a:pPr marL="342900" indent="-342900"/>
            <a:r>
              <a:rPr lang="en" sz="2400" dirty="0">
                <a:solidFill>
                  <a:srgbClr val="000000"/>
                </a:solidFill>
              </a:rPr>
              <a:t>List and describe </a:t>
            </a:r>
            <a:r>
              <a:rPr lang="en" sz="2400" b="1" i="1" dirty="0">
                <a:solidFill>
                  <a:srgbClr val="000000"/>
                </a:solidFill>
              </a:rPr>
              <a:t>two examples</a:t>
            </a:r>
            <a:r>
              <a:rPr lang="en" sz="2400" dirty="0">
                <a:solidFill>
                  <a:srgbClr val="000000"/>
                </a:solidFill>
              </a:rPr>
              <a:t>. You must  use the word </a:t>
            </a:r>
            <a:r>
              <a:rPr lang="en" sz="2400" i="1" dirty="0">
                <a:solidFill>
                  <a:srgbClr val="000000"/>
                </a:solidFill>
              </a:rPr>
              <a:t>consequence(s) </a:t>
            </a:r>
            <a:r>
              <a:rPr lang="en" sz="2400" dirty="0">
                <a:solidFill>
                  <a:srgbClr val="000000"/>
                </a:solidFill>
              </a:rPr>
              <a:t>in your answer.  </a:t>
            </a:r>
            <a:r>
              <a:rPr lang="en" sz="2800" dirty="0"/>
              <a:t> </a:t>
            </a:r>
            <a:endParaRPr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184"/>
        <p:cNvGrpSpPr/>
        <p:nvPr/>
      </p:nvGrpSpPr>
      <p:grpSpPr>
        <a:xfrm>
          <a:off x="0" y="0"/>
          <a:ext cx="0" cy="0"/>
          <a:chOff x="0" y="0"/>
          <a:chExt cx="0" cy="0"/>
        </a:xfrm>
      </p:grpSpPr>
      <p:sp>
        <p:nvSpPr>
          <p:cNvPr id="185" name="Google Shape;185;p41"/>
          <p:cNvSpPr txBox="1">
            <a:spLocks noGrp="1"/>
          </p:cNvSpPr>
          <p:nvPr>
            <p:ph type="title"/>
          </p:nvPr>
        </p:nvSpPr>
        <p:spPr>
          <a:xfrm>
            <a:off x="1234500" y="189490"/>
            <a:ext cx="66750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dirty="0">
                <a:solidFill>
                  <a:srgbClr val="0070C0"/>
                </a:solidFill>
              </a:rPr>
              <a:t>Example</a:t>
            </a:r>
            <a:endParaRPr sz="3500" dirty="0">
              <a:solidFill>
                <a:srgbClr val="0070C0"/>
              </a:solidFill>
            </a:endParaRPr>
          </a:p>
        </p:txBody>
      </p:sp>
      <p:sp>
        <p:nvSpPr>
          <p:cNvPr id="186" name="Google Shape;186;p41"/>
          <p:cNvSpPr txBox="1"/>
          <p:nvPr/>
        </p:nvSpPr>
        <p:spPr>
          <a:xfrm>
            <a:off x="0" y="956300"/>
            <a:ext cx="9144000" cy="2442000"/>
          </a:xfrm>
          <a:prstGeom prst="rect">
            <a:avLst/>
          </a:prstGeom>
          <a:noFill/>
          <a:ln>
            <a:noFill/>
          </a:ln>
        </p:spPr>
        <p:txBody>
          <a:bodyPr spcFirstLastPara="1" wrap="square" lIns="91425" tIns="91425" rIns="91425" bIns="91425" anchor="t" anchorCtr="0">
            <a:noAutofit/>
          </a:bodyPr>
          <a:lstStyle/>
          <a:p>
            <a:pPr marL="69850" lvl="0">
              <a:lnSpc>
                <a:spcPct val="150000"/>
              </a:lnSpc>
              <a:buClr>
                <a:schemeClr val="dk1"/>
              </a:buClr>
              <a:buSzPts val="2500"/>
            </a:pPr>
            <a:r>
              <a:rPr lang="en" sz="2400" dirty="0"/>
              <a:t>4c. </a:t>
            </a:r>
            <a:r>
              <a:rPr lang="en" sz="2400" dirty="0">
                <a:latin typeface="Alexandria"/>
                <a:ea typeface="Alexandria"/>
                <a:cs typeface="Alexandria"/>
                <a:sym typeface="Alexandria"/>
              </a:rPr>
              <a:t>What are the CONSEQUENCES of engaging in your unwanted target behavior? </a:t>
            </a:r>
            <a:endParaRPr lang="en" sz="2400" dirty="0">
              <a:solidFill>
                <a:schemeClr val="dk1"/>
              </a:solidFill>
              <a:latin typeface="Assistant"/>
              <a:ea typeface="Assistant"/>
              <a:cs typeface="Assistant"/>
              <a:sym typeface="Assistant"/>
            </a:endParaRPr>
          </a:p>
          <a:p>
            <a:pPr marL="457200" lvl="0" indent="-387350" algn="l" rtl="0">
              <a:lnSpc>
                <a:spcPct val="130000"/>
              </a:lnSpc>
              <a:spcBef>
                <a:spcPts val="600"/>
              </a:spcBef>
              <a:spcAft>
                <a:spcPts val="0"/>
              </a:spcAft>
              <a:buClr>
                <a:schemeClr val="dk1"/>
              </a:buClr>
              <a:buSzPts val="2500"/>
              <a:buFont typeface="Assistant"/>
              <a:buChar char="●"/>
            </a:pPr>
            <a:r>
              <a:rPr lang="en" sz="2500" dirty="0">
                <a:solidFill>
                  <a:schemeClr val="dk1"/>
                </a:solidFill>
                <a:latin typeface="Assistant"/>
                <a:ea typeface="Assistant"/>
                <a:cs typeface="Assistant"/>
                <a:sym typeface="Assistant"/>
              </a:rPr>
              <a:t>One </a:t>
            </a:r>
            <a:r>
              <a:rPr lang="en" sz="2500" i="1" dirty="0">
                <a:solidFill>
                  <a:schemeClr val="dk1"/>
                </a:solidFill>
                <a:latin typeface="Assistant"/>
                <a:ea typeface="Assistant"/>
                <a:cs typeface="Assistant"/>
                <a:sym typeface="Assistant"/>
              </a:rPr>
              <a:t>consequence </a:t>
            </a:r>
            <a:r>
              <a:rPr lang="en" sz="2500" dirty="0">
                <a:solidFill>
                  <a:schemeClr val="dk1"/>
                </a:solidFill>
                <a:latin typeface="Assistant"/>
                <a:ea typeface="Assistant"/>
                <a:cs typeface="Assistant"/>
                <a:sym typeface="Assistant"/>
              </a:rPr>
              <a:t> of not drinking enough water is that </a:t>
            </a:r>
            <a:r>
              <a:rPr lang="en" sz="2500" b="1" dirty="0">
                <a:solidFill>
                  <a:schemeClr val="dk1"/>
                </a:solidFill>
                <a:latin typeface="Assistant"/>
                <a:ea typeface="Assistant"/>
                <a:cs typeface="Assistant"/>
                <a:sym typeface="Assistant"/>
              </a:rPr>
              <a:t>I am spending too much money on sodas</a:t>
            </a:r>
            <a:r>
              <a:rPr lang="en" sz="2500" dirty="0">
                <a:solidFill>
                  <a:schemeClr val="dk1"/>
                </a:solidFill>
                <a:latin typeface="Assistant"/>
                <a:ea typeface="Assistant"/>
                <a:cs typeface="Assistant"/>
                <a:sym typeface="Assistant"/>
              </a:rPr>
              <a:t>.</a:t>
            </a:r>
            <a:endParaRPr sz="2500" dirty="0">
              <a:solidFill>
                <a:schemeClr val="dk1"/>
              </a:solidFill>
              <a:latin typeface="Assistant"/>
              <a:ea typeface="Assistant"/>
              <a:cs typeface="Assistant"/>
              <a:sym typeface="Assistant"/>
            </a:endParaRPr>
          </a:p>
          <a:p>
            <a:pPr marL="457200" lvl="0" indent="-387350" algn="l" rtl="0">
              <a:lnSpc>
                <a:spcPct val="130000"/>
              </a:lnSpc>
              <a:spcBef>
                <a:spcPts val="600"/>
              </a:spcBef>
              <a:spcAft>
                <a:spcPts val="0"/>
              </a:spcAft>
              <a:buClr>
                <a:schemeClr val="dk1"/>
              </a:buClr>
              <a:buSzPts val="2500"/>
              <a:buFont typeface="Assistant"/>
              <a:buChar char="●"/>
            </a:pPr>
            <a:r>
              <a:rPr lang="en" sz="2500" dirty="0">
                <a:solidFill>
                  <a:schemeClr val="dk1"/>
                </a:solidFill>
                <a:latin typeface="Assistant"/>
                <a:ea typeface="Assistant"/>
                <a:cs typeface="Assistant"/>
                <a:sym typeface="Assistant"/>
              </a:rPr>
              <a:t>Another </a:t>
            </a:r>
            <a:r>
              <a:rPr lang="en" sz="2500" i="1" dirty="0">
                <a:solidFill>
                  <a:schemeClr val="dk1"/>
                </a:solidFill>
                <a:latin typeface="Assistant"/>
                <a:ea typeface="Assistant"/>
                <a:cs typeface="Assistant"/>
                <a:sym typeface="Assistant"/>
              </a:rPr>
              <a:t>consequence </a:t>
            </a:r>
            <a:r>
              <a:rPr lang="en" sz="2500" dirty="0">
                <a:solidFill>
                  <a:schemeClr val="dk1"/>
                </a:solidFill>
                <a:latin typeface="Assistant"/>
                <a:ea typeface="Assistant"/>
                <a:cs typeface="Assistant"/>
                <a:sym typeface="Assistant"/>
              </a:rPr>
              <a:t> of not drinking enough water is that </a:t>
            </a:r>
            <a:r>
              <a:rPr lang="en" sz="2500" b="1" dirty="0">
                <a:solidFill>
                  <a:schemeClr val="dk1"/>
                </a:solidFill>
                <a:latin typeface="Assistant"/>
                <a:ea typeface="Assistant"/>
                <a:cs typeface="Assistant"/>
                <a:sym typeface="Assistant"/>
              </a:rPr>
              <a:t>I get a headache, become irritable, and am not fun to be around</a:t>
            </a:r>
            <a:r>
              <a:rPr lang="en" sz="2500" dirty="0">
                <a:solidFill>
                  <a:schemeClr val="dk1"/>
                </a:solidFill>
                <a:latin typeface="Assistant"/>
                <a:ea typeface="Assistant"/>
                <a:cs typeface="Assistant"/>
                <a:sym typeface="Assistant"/>
              </a:rPr>
              <a:t> because I am dehydrated.</a:t>
            </a:r>
            <a:endParaRPr sz="1875" dirty="0">
              <a:solidFill>
                <a:schemeClr val="dk1"/>
              </a:solidFill>
              <a:latin typeface="Assistant"/>
              <a:ea typeface="Assistant"/>
              <a:cs typeface="Assistant"/>
              <a:sym typeface="Assistan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180"/>
        <p:cNvGrpSpPr/>
        <p:nvPr/>
      </p:nvGrpSpPr>
      <p:grpSpPr>
        <a:xfrm>
          <a:off x="0" y="0"/>
          <a:ext cx="0" cy="0"/>
          <a:chOff x="0" y="0"/>
          <a:chExt cx="0" cy="0"/>
        </a:xfrm>
      </p:grpSpPr>
      <p:sp>
        <p:nvSpPr>
          <p:cNvPr id="181" name="Google Shape;181;p23"/>
          <p:cNvSpPr/>
          <p:nvPr/>
        </p:nvSpPr>
        <p:spPr>
          <a:xfrm>
            <a:off x="2799888" y="2388582"/>
            <a:ext cx="453698" cy="413113"/>
          </a:xfrm>
          <a:prstGeom prst="rightArrow">
            <a:avLst>
              <a:gd name="adj1" fmla="val 50000"/>
              <a:gd name="adj2" fmla="val 50000"/>
            </a:avLst>
          </a:prstGeom>
          <a:solidFill>
            <a:schemeClr val="tx1">
              <a:lumMod val="90000"/>
              <a:lumOff val="10000"/>
            </a:schemeClr>
          </a:solidFill>
          <a:ln w="25400" cap="flat" cmpd="sng">
            <a:solidFill>
              <a:srgbClr val="1A161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82" name="Google Shape;182;p23"/>
          <p:cNvSpPr txBox="1">
            <a:spLocks noGrp="1"/>
          </p:cNvSpPr>
          <p:nvPr>
            <p:ph type="title"/>
          </p:nvPr>
        </p:nvSpPr>
        <p:spPr>
          <a:xfrm>
            <a:off x="530679" y="-35178"/>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US" sz="4000" dirty="0">
                <a:solidFill>
                  <a:schemeClr val="tx1"/>
                </a:solidFill>
                <a:latin typeface="Times New Roman" panose="02020603050405020304" pitchFamily="18" charset="0"/>
                <a:cs typeface="Times New Roman" panose="02020603050405020304" pitchFamily="18" charset="0"/>
              </a:rPr>
              <a:t>Review of ABCs</a:t>
            </a:r>
            <a:br>
              <a:rPr lang="en-US" dirty="0"/>
            </a:br>
            <a:endParaRPr dirty="0"/>
          </a:p>
        </p:txBody>
      </p:sp>
      <p:sp>
        <p:nvSpPr>
          <p:cNvPr id="183" name="Google Shape;183;p23"/>
          <p:cNvSpPr txBox="1"/>
          <p:nvPr/>
        </p:nvSpPr>
        <p:spPr>
          <a:xfrm>
            <a:off x="146957" y="1064149"/>
            <a:ext cx="2449286" cy="938719"/>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2200" b="1" i="0" u="none" strike="noStrike" cap="none" dirty="0">
                <a:solidFill>
                  <a:schemeClr val="dk1"/>
                </a:solidFill>
                <a:latin typeface="Times New Roman"/>
                <a:ea typeface="Times New Roman"/>
                <a:cs typeface="Times New Roman"/>
                <a:sym typeface="Times New Roman"/>
              </a:rPr>
              <a:t>ANTECEDENTS</a:t>
            </a:r>
            <a:endParaRPr dirty="0"/>
          </a:p>
          <a:p>
            <a:pPr marL="0" marR="0" lvl="0" indent="0" algn="ctr" rtl="0">
              <a:lnSpc>
                <a:spcPct val="100000"/>
              </a:lnSpc>
              <a:spcBef>
                <a:spcPts val="0"/>
              </a:spcBef>
              <a:spcAft>
                <a:spcPts val="0"/>
              </a:spcAft>
              <a:buNone/>
            </a:pPr>
            <a:endParaRPr sz="2200" b="1" i="0" u="none" strike="noStrike" cap="none" dirty="0">
              <a:solidFill>
                <a:srgbClr val="000000"/>
              </a:solidFill>
              <a:latin typeface="Arial"/>
              <a:ea typeface="Arial"/>
              <a:cs typeface="Arial"/>
              <a:sym typeface="Arial"/>
            </a:endParaRPr>
          </a:p>
        </p:txBody>
      </p:sp>
      <p:sp>
        <p:nvSpPr>
          <p:cNvPr id="184" name="Google Shape;184;p23"/>
          <p:cNvSpPr/>
          <p:nvPr/>
        </p:nvSpPr>
        <p:spPr>
          <a:xfrm>
            <a:off x="118535" y="3484033"/>
            <a:ext cx="2506132" cy="1524000"/>
          </a:xfrm>
          <a:prstGeom prst="roundRect">
            <a:avLst>
              <a:gd name="adj" fmla="val 16667"/>
            </a:avLst>
          </a:prstGeom>
          <a:noFill/>
          <a:ln w="8890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7030A0"/>
              </a:solidFill>
              <a:latin typeface="Arial"/>
              <a:ea typeface="Arial"/>
              <a:cs typeface="Arial"/>
              <a:sym typeface="Arial"/>
            </a:endParaRPr>
          </a:p>
        </p:txBody>
      </p:sp>
      <p:sp>
        <p:nvSpPr>
          <p:cNvPr id="185" name="Google Shape;185;p23"/>
          <p:cNvSpPr/>
          <p:nvPr/>
        </p:nvSpPr>
        <p:spPr>
          <a:xfrm>
            <a:off x="3338287" y="3467705"/>
            <a:ext cx="2506132" cy="1524000"/>
          </a:xfrm>
          <a:prstGeom prst="roundRect">
            <a:avLst>
              <a:gd name="adj" fmla="val 16667"/>
            </a:avLst>
          </a:prstGeom>
          <a:noFill/>
          <a:ln w="8890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86" name="Google Shape;186;p23"/>
          <p:cNvSpPr/>
          <p:nvPr/>
        </p:nvSpPr>
        <p:spPr>
          <a:xfrm>
            <a:off x="6519627" y="3500967"/>
            <a:ext cx="2506132" cy="1524000"/>
          </a:xfrm>
          <a:prstGeom prst="roundRect">
            <a:avLst>
              <a:gd name="adj" fmla="val 16667"/>
            </a:avLst>
          </a:prstGeom>
          <a:noFill/>
          <a:ln w="8890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87" name="Google Shape;187;p23"/>
          <p:cNvSpPr/>
          <p:nvPr/>
        </p:nvSpPr>
        <p:spPr>
          <a:xfrm>
            <a:off x="2860431" y="1183996"/>
            <a:ext cx="453698" cy="413113"/>
          </a:xfrm>
          <a:prstGeom prst="rightArrow">
            <a:avLst>
              <a:gd name="adj1" fmla="val 50000"/>
              <a:gd name="adj2" fmla="val 50000"/>
            </a:avLst>
          </a:prstGeom>
          <a:solidFill>
            <a:schemeClr val="tx1">
              <a:lumMod val="90000"/>
              <a:lumOff val="10000"/>
            </a:schemeClr>
          </a:solidFill>
          <a:ln w="25400" cap="flat" cmpd="sng">
            <a:solidFill>
              <a:srgbClr val="1A161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88" name="Google Shape;188;p23"/>
          <p:cNvSpPr/>
          <p:nvPr/>
        </p:nvSpPr>
        <p:spPr>
          <a:xfrm>
            <a:off x="135469" y="1790701"/>
            <a:ext cx="2506132" cy="1524000"/>
          </a:xfrm>
          <a:prstGeom prst="roundRect">
            <a:avLst>
              <a:gd name="adj" fmla="val 16667"/>
            </a:avLst>
          </a:prstGeom>
          <a:noFill/>
          <a:ln w="88900"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89" name="Google Shape;189;p23"/>
          <p:cNvSpPr/>
          <p:nvPr/>
        </p:nvSpPr>
        <p:spPr>
          <a:xfrm>
            <a:off x="3355952" y="1770660"/>
            <a:ext cx="2506132" cy="1524000"/>
          </a:xfrm>
          <a:prstGeom prst="roundRect">
            <a:avLst>
              <a:gd name="adj" fmla="val 16667"/>
            </a:avLst>
          </a:prstGeom>
          <a:noFill/>
          <a:ln w="88900"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0" name="Google Shape;190;p23"/>
          <p:cNvSpPr/>
          <p:nvPr/>
        </p:nvSpPr>
        <p:spPr>
          <a:xfrm>
            <a:off x="6527454" y="1760546"/>
            <a:ext cx="2506132" cy="1524000"/>
          </a:xfrm>
          <a:prstGeom prst="roundRect">
            <a:avLst>
              <a:gd name="adj" fmla="val 16667"/>
            </a:avLst>
          </a:prstGeom>
          <a:noFill/>
          <a:ln w="88900"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1" name="Google Shape;191;p23"/>
          <p:cNvSpPr/>
          <p:nvPr/>
        </p:nvSpPr>
        <p:spPr>
          <a:xfrm>
            <a:off x="5987316" y="2413186"/>
            <a:ext cx="453698" cy="413113"/>
          </a:xfrm>
          <a:prstGeom prst="rightArrow">
            <a:avLst>
              <a:gd name="adj1" fmla="val 50000"/>
              <a:gd name="adj2" fmla="val 50000"/>
            </a:avLst>
          </a:prstGeom>
          <a:solidFill>
            <a:schemeClr val="tx1">
              <a:lumMod val="90000"/>
              <a:lumOff val="10000"/>
            </a:schemeClr>
          </a:solidFill>
          <a:ln w="25400" cap="flat" cmpd="sng">
            <a:solidFill>
              <a:srgbClr val="1A161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2" name="Google Shape;192;p23"/>
          <p:cNvSpPr/>
          <p:nvPr/>
        </p:nvSpPr>
        <p:spPr>
          <a:xfrm>
            <a:off x="5988956" y="4004066"/>
            <a:ext cx="453698" cy="413113"/>
          </a:xfrm>
          <a:prstGeom prst="rightArrow">
            <a:avLst>
              <a:gd name="adj1" fmla="val 50000"/>
              <a:gd name="adj2" fmla="val 50000"/>
            </a:avLst>
          </a:prstGeom>
          <a:solidFill>
            <a:schemeClr val="tx1">
              <a:lumMod val="90000"/>
              <a:lumOff val="10000"/>
            </a:schemeClr>
          </a:solidFill>
          <a:ln w="25400" cap="flat" cmpd="sng">
            <a:solidFill>
              <a:srgbClr val="1A161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3" name="Google Shape;193;p23"/>
          <p:cNvSpPr/>
          <p:nvPr/>
        </p:nvSpPr>
        <p:spPr>
          <a:xfrm>
            <a:off x="2777671" y="3976852"/>
            <a:ext cx="453698" cy="413113"/>
          </a:xfrm>
          <a:prstGeom prst="rightArrow">
            <a:avLst>
              <a:gd name="adj1" fmla="val 50000"/>
              <a:gd name="adj2" fmla="val 50000"/>
            </a:avLst>
          </a:prstGeom>
          <a:solidFill>
            <a:schemeClr val="tx1">
              <a:lumMod val="90000"/>
              <a:lumOff val="10000"/>
            </a:schemeClr>
          </a:solidFill>
          <a:ln w="25400" cap="flat" cmpd="sng">
            <a:solidFill>
              <a:srgbClr val="1A161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4" name="Google Shape;194;p23"/>
          <p:cNvSpPr txBox="1"/>
          <p:nvPr/>
        </p:nvSpPr>
        <p:spPr>
          <a:xfrm>
            <a:off x="530679" y="2287234"/>
            <a:ext cx="227783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0070C0"/>
                </a:solidFill>
                <a:latin typeface="Times New Roman"/>
                <a:ea typeface="Times New Roman"/>
                <a:cs typeface="Times New Roman"/>
                <a:sym typeface="Times New Roman"/>
              </a:rPr>
              <a:t>sugar cravings</a:t>
            </a:r>
            <a:endParaRPr sz="1800" b="0" i="0" u="none" strike="noStrike" cap="none" dirty="0">
              <a:solidFill>
                <a:srgbClr val="000000"/>
              </a:solidFill>
              <a:latin typeface="Arial"/>
              <a:ea typeface="Arial"/>
              <a:cs typeface="Arial"/>
              <a:sym typeface="Arial"/>
            </a:endParaRPr>
          </a:p>
        </p:txBody>
      </p:sp>
      <p:sp>
        <p:nvSpPr>
          <p:cNvPr id="195" name="Google Shape;195;p23"/>
          <p:cNvSpPr txBox="1"/>
          <p:nvPr/>
        </p:nvSpPr>
        <p:spPr>
          <a:xfrm>
            <a:off x="392234" y="3745897"/>
            <a:ext cx="1861713" cy="92328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7030A0"/>
                </a:solidFill>
                <a:latin typeface="Times New Roman"/>
                <a:ea typeface="Times New Roman"/>
                <a:cs typeface="Times New Roman"/>
                <a:sym typeface="Times New Roman"/>
              </a:rPr>
              <a:t>waking up late and forgetting my water bottle </a:t>
            </a:r>
            <a:endParaRPr sz="1800" b="0" i="0" u="none" strike="noStrike" cap="none" dirty="0">
              <a:solidFill>
                <a:srgbClr val="000000"/>
              </a:solidFill>
              <a:latin typeface="Arial"/>
              <a:ea typeface="Arial"/>
              <a:cs typeface="Arial"/>
              <a:sym typeface="Arial"/>
            </a:endParaRPr>
          </a:p>
        </p:txBody>
      </p:sp>
      <p:sp>
        <p:nvSpPr>
          <p:cNvPr id="196" name="Google Shape;196;p23"/>
          <p:cNvSpPr txBox="1"/>
          <p:nvPr/>
        </p:nvSpPr>
        <p:spPr>
          <a:xfrm>
            <a:off x="3546330" y="2132834"/>
            <a:ext cx="1959429" cy="92328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0070C0"/>
                </a:solidFill>
                <a:latin typeface="Times New Roman"/>
                <a:ea typeface="Times New Roman"/>
                <a:cs typeface="Times New Roman"/>
                <a:sym typeface="Times New Roman"/>
              </a:rPr>
              <a:t>I am drinking a sweet soda instead.</a:t>
            </a:r>
            <a:endParaRPr sz="1800" b="0" i="0" u="none" strike="noStrike" cap="none" dirty="0">
              <a:solidFill>
                <a:srgbClr val="000000"/>
              </a:solidFill>
              <a:latin typeface="Arial"/>
              <a:ea typeface="Arial"/>
              <a:cs typeface="Arial"/>
              <a:sym typeface="Arial"/>
            </a:endParaRPr>
          </a:p>
        </p:txBody>
      </p:sp>
      <p:sp>
        <p:nvSpPr>
          <p:cNvPr id="198" name="Google Shape;198;p23"/>
          <p:cNvSpPr txBox="1"/>
          <p:nvPr/>
        </p:nvSpPr>
        <p:spPr>
          <a:xfrm>
            <a:off x="6792687" y="2063440"/>
            <a:ext cx="2073728"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0070C0"/>
                </a:solidFill>
                <a:latin typeface="Times New Roman"/>
                <a:ea typeface="Times New Roman"/>
                <a:cs typeface="Times New Roman"/>
                <a:sym typeface="Times New Roman"/>
              </a:rPr>
              <a:t>I am spending too much money on sodas at the UC.</a:t>
            </a:r>
            <a:endParaRPr sz="1800" b="0" i="0" u="none" strike="noStrike" cap="none" dirty="0">
              <a:solidFill>
                <a:srgbClr val="000000"/>
              </a:solidFill>
              <a:latin typeface="Arial"/>
              <a:ea typeface="Arial"/>
              <a:cs typeface="Arial"/>
              <a:sym typeface="Arial"/>
            </a:endParaRPr>
          </a:p>
        </p:txBody>
      </p:sp>
      <p:sp>
        <p:nvSpPr>
          <p:cNvPr id="199" name="Google Shape;199;p23"/>
          <p:cNvSpPr txBox="1"/>
          <p:nvPr/>
        </p:nvSpPr>
        <p:spPr>
          <a:xfrm>
            <a:off x="6691934" y="3523497"/>
            <a:ext cx="2383972" cy="14773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7030A0"/>
                </a:solidFill>
                <a:latin typeface="Times New Roman"/>
                <a:ea typeface="Times New Roman"/>
                <a:cs typeface="Times New Roman"/>
                <a:sym typeface="Times New Roman"/>
              </a:rPr>
              <a:t>I get a headache, become irritable, and am not fun to be around because I am dehydrated.</a:t>
            </a:r>
            <a:endParaRPr sz="1800" b="0" i="0" u="none" strike="noStrike" cap="none" dirty="0">
              <a:solidFill>
                <a:srgbClr val="000000"/>
              </a:solidFill>
              <a:latin typeface="Arial"/>
              <a:ea typeface="Arial"/>
              <a:cs typeface="Arial"/>
              <a:sym typeface="Arial"/>
            </a:endParaRPr>
          </a:p>
        </p:txBody>
      </p:sp>
      <p:sp>
        <p:nvSpPr>
          <p:cNvPr id="200" name="Google Shape;200;p23"/>
          <p:cNvSpPr txBox="1"/>
          <p:nvPr/>
        </p:nvSpPr>
        <p:spPr>
          <a:xfrm>
            <a:off x="3385457" y="1036935"/>
            <a:ext cx="2449286" cy="938719"/>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2200" b="1" i="0" u="none" strike="noStrike" cap="none" dirty="0">
                <a:solidFill>
                  <a:schemeClr val="dk1"/>
                </a:solidFill>
                <a:latin typeface="Times New Roman"/>
                <a:ea typeface="Times New Roman"/>
                <a:cs typeface="Times New Roman"/>
                <a:sym typeface="Times New Roman"/>
              </a:rPr>
              <a:t>BEHAVIORS</a:t>
            </a:r>
            <a:endParaRPr dirty="0"/>
          </a:p>
          <a:p>
            <a:pPr marL="0" marR="0" lvl="0" indent="0" algn="ctr" rtl="0">
              <a:lnSpc>
                <a:spcPct val="100000"/>
              </a:lnSpc>
              <a:spcBef>
                <a:spcPts val="0"/>
              </a:spcBef>
              <a:spcAft>
                <a:spcPts val="0"/>
              </a:spcAft>
              <a:buNone/>
            </a:pPr>
            <a:endParaRPr sz="2200" b="1" i="0" u="none" strike="noStrike" cap="none" dirty="0">
              <a:solidFill>
                <a:srgbClr val="000000"/>
              </a:solidFill>
              <a:latin typeface="Arial"/>
              <a:ea typeface="Arial"/>
              <a:cs typeface="Arial"/>
              <a:sym typeface="Arial"/>
            </a:endParaRPr>
          </a:p>
        </p:txBody>
      </p:sp>
      <p:sp>
        <p:nvSpPr>
          <p:cNvPr id="201" name="Google Shape;201;p23"/>
          <p:cNvSpPr txBox="1"/>
          <p:nvPr/>
        </p:nvSpPr>
        <p:spPr>
          <a:xfrm>
            <a:off x="6285977" y="1012405"/>
            <a:ext cx="3091543" cy="938719"/>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2200" b="1" i="0" u="none" strike="noStrike" cap="none" dirty="0">
                <a:solidFill>
                  <a:schemeClr val="dk1"/>
                </a:solidFill>
                <a:latin typeface="Times New Roman"/>
                <a:ea typeface="Times New Roman"/>
                <a:cs typeface="Times New Roman"/>
                <a:sym typeface="Times New Roman"/>
              </a:rPr>
              <a:t>CONSEQUENCES</a:t>
            </a:r>
            <a:endParaRPr dirty="0"/>
          </a:p>
          <a:p>
            <a:pPr marL="0" marR="0" lvl="0" indent="0" algn="ctr" rtl="0">
              <a:lnSpc>
                <a:spcPct val="100000"/>
              </a:lnSpc>
              <a:spcBef>
                <a:spcPts val="0"/>
              </a:spcBef>
              <a:spcAft>
                <a:spcPts val="0"/>
              </a:spcAft>
              <a:buNone/>
            </a:pPr>
            <a:endParaRPr sz="2200" b="1" i="0" u="none" strike="noStrike" cap="none" dirty="0">
              <a:solidFill>
                <a:srgbClr val="000000"/>
              </a:solidFill>
              <a:latin typeface="Arial"/>
              <a:ea typeface="Arial"/>
              <a:cs typeface="Arial"/>
              <a:sym typeface="Arial"/>
            </a:endParaRPr>
          </a:p>
        </p:txBody>
      </p:sp>
      <p:sp>
        <p:nvSpPr>
          <p:cNvPr id="202" name="Google Shape;202;p23"/>
          <p:cNvSpPr/>
          <p:nvPr/>
        </p:nvSpPr>
        <p:spPr>
          <a:xfrm>
            <a:off x="0" y="1665514"/>
            <a:ext cx="2775857" cy="3477986"/>
          </a:xfrm>
          <a:prstGeom prst="roundRect">
            <a:avLst>
              <a:gd name="adj" fmla="val 16667"/>
            </a:avLst>
          </a:prstGeom>
          <a:noFill/>
          <a:ln w="825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3" name="Google Shape;203;p23"/>
          <p:cNvSpPr/>
          <p:nvPr/>
        </p:nvSpPr>
        <p:spPr>
          <a:xfrm>
            <a:off x="6368143" y="1665514"/>
            <a:ext cx="2775857" cy="3477986"/>
          </a:xfrm>
          <a:prstGeom prst="roundRect">
            <a:avLst>
              <a:gd name="adj" fmla="val 16667"/>
            </a:avLst>
          </a:prstGeom>
          <a:noFill/>
          <a:ln w="8255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4" name="Google Shape;204;p23"/>
          <p:cNvSpPr/>
          <p:nvPr/>
        </p:nvSpPr>
        <p:spPr>
          <a:xfrm>
            <a:off x="1052187" y="388307"/>
            <a:ext cx="563671" cy="801666"/>
          </a:xfrm>
          <a:prstGeom prst="downArrow">
            <a:avLst>
              <a:gd name="adj1" fmla="val 50000"/>
              <a:gd name="adj2" fmla="val 50000"/>
            </a:avLst>
          </a:prstGeom>
          <a:solidFill>
            <a:srgbClr val="FF0000"/>
          </a:solidFill>
          <a:ln w="25400" cap="flat" cmpd="sng">
            <a:solidFill>
              <a:srgbClr val="1A161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5" name="Google Shape;205;p23"/>
          <p:cNvSpPr/>
          <p:nvPr/>
        </p:nvSpPr>
        <p:spPr>
          <a:xfrm>
            <a:off x="7492653" y="365343"/>
            <a:ext cx="563671" cy="801666"/>
          </a:xfrm>
          <a:prstGeom prst="downArrow">
            <a:avLst>
              <a:gd name="adj1" fmla="val 50000"/>
              <a:gd name="adj2" fmla="val 50000"/>
            </a:avLst>
          </a:prstGeom>
          <a:solidFill>
            <a:srgbClr val="FFC000"/>
          </a:solidFill>
          <a:ln w="25400" cap="flat" cmpd="sng">
            <a:solidFill>
              <a:srgbClr val="1A161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6" name="Google Shape;206;p23"/>
          <p:cNvSpPr/>
          <p:nvPr/>
        </p:nvSpPr>
        <p:spPr>
          <a:xfrm>
            <a:off x="5971062" y="1138067"/>
            <a:ext cx="453698" cy="413113"/>
          </a:xfrm>
          <a:prstGeom prst="rightArrow">
            <a:avLst>
              <a:gd name="adj1" fmla="val 50000"/>
              <a:gd name="adj2" fmla="val 50000"/>
            </a:avLst>
          </a:prstGeom>
          <a:solidFill>
            <a:schemeClr val="tx1">
              <a:lumMod val="90000"/>
              <a:lumOff val="10000"/>
            </a:schemeClr>
          </a:solidFill>
          <a:ln w="25400" cap="flat" cmpd="sng">
            <a:solidFill>
              <a:srgbClr val="1A161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7" name="Google Shape;207;p23"/>
          <p:cNvSpPr txBox="1"/>
          <p:nvPr/>
        </p:nvSpPr>
        <p:spPr>
          <a:xfrm>
            <a:off x="1636821" y="463777"/>
            <a:ext cx="5332692"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4000" b="0" i="0" u="none" strike="noStrike" cap="none" dirty="0">
                <a:solidFill>
                  <a:srgbClr val="FF6600"/>
                </a:solidFill>
                <a:latin typeface="Times New Roman" panose="02020603050405020304" pitchFamily="18" charset="0"/>
                <a:ea typeface="Vidaloka"/>
                <a:cs typeface="Times New Roman" panose="02020603050405020304" pitchFamily="18" charset="0"/>
                <a:sym typeface="Vidaloka"/>
              </a:rPr>
              <a:t>&amp; Intervention Strategies</a:t>
            </a:r>
            <a:endParaRPr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4118C30-C522-E655-FD96-08BB5C8FF3D4}"/>
              </a:ext>
            </a:extLst>
          </p:cNvPr>
          <p:cNvSpPr txBox="1"/>
          <p:nvPr/>
        </p:nvSpPr>
        <p:spPr>
          <a:xfrm>
            <a:off x="3412795" y="3657390"/>
            <a:ext cx="2734787" cy="1200329"/>
          </a:xfrm>
          <a:prstGeom prst="rect">
            <a:avLst/>
          </a:prstGeom>
          <a:noFill/>
        </p:spPr>
        <p:txBody>
          <a:bodyPr wrap="square" rtlCol="0">
            <a:spAutoFit/>
          </a:bodyPr>
          <a:lstStyle/>
          <a:p>
            <a:r>
              <a:rPr lang="en-US" sz="1800" b="1" dirty="0">
                <a:solidFill>
                  <a:srgbClr val="7030A0"/>
                </a:solidFill>
                <a:latin typeface="Times New Roman"/>
                <a:cs typeface="Times New Roman"/>
                <a:sym typeface="Assistant"/>
              </a:rPr>
              <a:t>I am wishing I had my water bottle with me, because I am at school and thirsty.</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8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9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8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9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8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9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9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8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0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04"/>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0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 grpId="0" animBg="1"/>
      <p:bldP spid="183" grpId="0"/>
      <p:bldP spid="184" grpId="0" animBg="1"/>
      <p:bldP spid="185" grpId="0" animBg="1"/>
      <p:bldP spid="186" grpId="0" animBg="1"/>
      <p:bldP spid="187" grpId="0" animBg="1"/>
      <p:bldP spid="188" grpId="0" animBg="1"/>
      <p:bldP spid="189" grpId="0" animBg="1"/>
      <p:bldP spid="190" grpId="0" animBg="1"/>
      <p:bldP spid="191" grpId="0" animBg="1"/>
      <p:bldP spid="192" grpId="0" animBg="1"/>
      <p:bldP spid="193" grpId="0" animBg="1"/>
      <p:bldP spid="194" grpId="0"/>
      <p:bldP spid="195" grpId="0"/>
      <p:bldP spid="196" grpId="0"/>
      <p:bldP spid="198" grpId="0"/>
      <p:bldP spid="199" grpId="0"/>
      <p:bldP spid="200" grpId="0"/>
      <p:bldP spid="201" grpId="0"/>
      <p:bldP spid="202" grpId="0" animBg="1"/>
      <p:bldP spid="203" grpId="0" animBg="1"/>
      <p:bldP spid="204" grpId="0" animBg="1"/>
      <p:bldP spid="205" grpId="0" animBg="1"/>
      <p:bldP spid="206" grpId="0" animBg="1"/>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195"/>
        <p:cNvGrpSpPr/>
        <p:nvPr/>
      </p:nvGrpSpPr>
      <p:grpSpPr>
        <a:xfrm>
          <a:off x="0" y="0"/>
          <a:ext cx="0" cy="0"/>
          <a:chOff x="0" y="0"/>
          <a:chExt cx="0" cy="0"/>
        </a:xfrm>
      </p:grpSpPr>
      <p:sp>
        <p:nvSpPr>
          <p:cNvPr id="196" name="Google Shape;196;p43"/>
          <p:cNvSpPr txBox="1">
            <a:spLocks noGrp="1"/>
          </p:cNvSpPr>
          <p:nvPr>
            <p:ph type="title"/>
          </p:nvPr>
        </p:nvSpPr>
        <p:spPr>
          <a:xfrm>
            <a:off x="0" y="121540"/>
            <a:ext cx="9144000" cy="2105843"/>
          </a:xfrm>
          <a:prstGeom prst="rect">
            <a:avLst/>
          </a:prstGeom>
        </p:spPr>
        <p:txBody>
          <a:bodyPr spcFirstLastPara="1" wrap="square" lIns="91425" tIns="91425" rIns="91425" bIns="91425" anchor="t" anchorCtr="0">
            <a:noAutofit/>
          </a:bodyPr>
          <a:lstStyle/>
          <a:p>
            <a:pPr marL="403225" lvl="0" indent="-403225" rtl="0">
              <a:spcBef>
                <a:spcPts val="0"/>
              </a:spcBef>
              <a:spcAft>
                <a:spcPts val="0"/>
              </a:spcAft>
              <a:buNone/>
            </a:pPr>
            <a:r>
              <a:rPr lang="en" sz="3000" dirty="0">
                <a:solidFill>
                  <a:srgbClr val="0070C0"/>
                </a:solidFill>
              </a:rPr>
              <a:t>5. </a:t>
            </a:r>
            <a:r>
              <a:rPr lang="en" sz="3000" dirty="0">
                <a:solidFill>
                  <a:srgbClr val="0070C0"/>
                </a:solidFill>
                <a:latin typeface="Alexandria"/>
                <a:ea typeface="Alexandria"/>
                <a:cs typeface="Alexandria"/>
                <a:sym typeface="Alexandria"/>
              </a:rPr>
              <a:t>Why do you continue to engage in the unwanted target behavior, even though it results in undesired consequences?</a:t>
            </a:r>
            <a:endParaRPr sz="3000" dirty="0">
              <a:solidFill>
                <a:srgbClr val="0070C0"/>
              </a:solidFill>
            </a:endParaRPr>
          </a:p>
        </p:txBody>
      </p:sp>
      <p:sp>
        <p:nvSpPr>
          <p:cNvPr id="197" name="Google Shape;197;p43"/>
          <p:cNvSpPr txBox="1">
            <a:spLocks noGrp="1"/>
          </p:cNvSpPr>
          <p:nvPr>
            <p:ph type="body" idx="4294967295"/>
          </p:nvPr>
        </p:nvSpPr>
        <p:spPr>
          <a:xfrm>
            <a:off x="196948" y="1786597"/>
            <a:ext cx="8820443" cy="3011988"/>
          </a:xfrm>
          <a:prstGeom prst="rect">
            <a:avLst/>
          </a:prstGeom>
        </p:spPr>
        <p:txBody>
          <a:bodyPr spcFirstLastPara="1" wrap="square" lIns="91425" tIns="91425" rIns="91425" bIns="91425" anchor="t" anchorCtr="0">
            <a:noAutofit/>
          </a:bodyPr>
          <a:lstStyle/>
          <a:p>
            <a:pPr marL="342900" indent="-342900"/>
            <a:r>
              <a:rPr lang="en" sz="2300" dirty="0">
                <a:solidFill>
                  <a:srgbClr val="000000"/>
                </a:solidFill>
              </a:rPr>
              <a:t>It may be to gain something, to escape a task, to receive attention, or something else. </a:t>
            </a:r>
            <a:endParaRPr sz="2300" dirty="0">
              <a:solidFill>
                <a:srgbClr val="000000"/>
              </a:solidFill>
            </a:endParaRPr>
          </a:p>
          <a:p>
            <a:pPr marL="342900" indent="-342900"/>
            <a:r>
              <a:rPr lang="en" sz="2300" dirty="0">
                <a:solidFill>
                  <a:srgbClr val="000000"/>
                </a:solidFill>
              </a:rPr>
              <a:t>List and describe </a:t>
            </a:r>
            <a:r>
              <a:rPr lang="en" sz="2300" b="1" dirty="0">
                <a:solidFill>
                  <a:srgbClr val="000000"/>
                </a:solidFill>
              </a:rPr>
              <a:t>two examples</a:t>
            </a:r>
            <a:r>
              <a:rPr lang="en" sz="2300" dirty="0">
                <a:solidFill>
                  <a:srgbClr val="000000"/>
                </a:solidFill>
              </a:rPr>
              <a:t>.</a:t>
            </a:r>
            <a:endParaRPr sz="23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7">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201"/>
        <p:cNvGrpSpPr/>
        <p:nvPr/>
      </p:nvGrpSpPr>
      <p:grpSpPr>
        <a:xfrm>
          <a:off x="0" y="0"/>
          <a:ext cx="0" cy="0"/>
          <a:chOff x="0" y="0"/>
          <a:chExt cx="0" cy="0"/>
        </a:xfrm>
      </p:grpSpPr>
      <p:sp>
        <p:nvSpPr>
          <p:cNvPr id="202" name="Google Shape;202;p44"/>
          <p:cNvSpPr txBox="1">
            <a:spLocks noGrp="1"/>
          </p:cNvSpPr>
          <p:nvPr>
            <p:ph type="title"/>
          </p:nvPr>
        </p:nvSpPr>
        <p:spPr>
          <a:xfrm>
            <a:off x="1248567" y="0"/>
            <a:ext cx="66750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dirty="0">
                <a:solidFill>
                  <a:srgbClr val="0070C0"/>
                </a:solidFill>
              </a:rPr>
              <a:t>Example</a:t>
            </a:r>
            <a:endParaRPr sz="3600" dirty="0">
              <a:solidFill>
                <a:srgbClr val="0070C0"/>
              </a:solidFill>
            </a:endParaRPr>
          </a:p>
        </p:txBody>
      </p:sp>
      <p:sp>
        <p:nvSpPr>
          <p:cNvPr id="203" name="Google Shape;203;p44"/>
          <p:cNvSpPr txBox="1"/>
          <p:nvPr/>
        </p:nvSpPr>
        <p:spPr>
          <a:xfrm>
            <a:off x="0" y="654215"/>
            <a:ext cx="9003323" cy="2442000"/>
          </a:xfrm>
          <a:prstGeom prst="rect">
            <a:avLst/>
          </a:prstGeom>
          <a:noFill/>
          <a:ln>
            <a:noFill/>
          </a:ln>
        </p:spPr>
        <p:txBody>
          <a:bodyPr spcFirstLastPara="1" wrap="square" lIns="91425" tIns="91425" rIns="91425" bIns="91425" anchor="t" anchorCtr="0">
            <a:noAutofit/>
          </a:bodyPr>
          <a:lstStyle/>
          <a:p>
            <a:pPr marL="403225" lvl="0" indent="-314325">
              <a:lnSpc>
                <a:spcPct val="150000"/>
              </a:lnSpc>
              <a:buClr>
                <a:schemeClr val="dk1"/>
              </a:buClr>
              <a:buSzPts val="2200"/>
            </a:pPr>
            <a:r>
              <a:rPr lang="en" sz="2000" b="1" dirty="0"/>
              <a:t>5. </a:t>
            </a:r>
            <a:r>
              <a:rPr lang="en" sz="2000" b="1" dirty="0">
                <a:latin typeface="Alexandria"/>
                <a:ea typeface="Alexandria"/>
                <a:cs typeface="Alexandria"/>
                <a:sym typeface="Alexandria"/>
              </a:rPr>
              <a:t>Why do you continue to engage in the unwanted target behavior, even though it results in undesired consequences?</a:t>
            </a:r>
          </a:p>
          <a:p>
            <a:pPr marL="403225" lvl="0" indent="-314325">
              <a:lnSpc>
                <a:spcPct val="150000"/>
              </a:lnSpc>
              <a:buClr>
                <a:schemeClr val="dk1"/>
              </a:buClr>
              <a:buSzPts val="2200"/>
            </a:pPr>
            <a:endParaRPr lang="en" sz="2000" b="1" dirty="0">
              <a:solidFill>
                <a:schemeClr val="dk1"/>
              </a:solidFill>
              <a:latin typeface="Assistant"/>
              <a:ea typeface="Assistant"/>
              <a:cs typeface="Assistant"/>
              <a:sym typeface="Assistant"/>
            </a:endParaRPr>
          </a:p>
          <a:p>
            <a:pPr marL="457200" lvl="0" indent="-368300" algn="l" rtl="0">
              <a:lnSpc>
                <a:spcPct val="150000"/>
              </a:lnSpc>
              <a:spcBef>
                <a:spcPts val="0"/>
              </a:spcBef>
              <a:spcAft>
                <a:spcPts val="0"/>
              </a:spcAft>
              <a:buClr>
                <a:schemeClr val="dk1"/>
              </a:buClr>
              <a:buSzPts val="2200"/>
              <a:buFont typeface="Assistant"/>
              <a:buChar char="●"/>
            </a:pPr>
            <a:r>
              <a:rPr lang="en" sz="2000" dirty="0">
                <a:solidFill>
                  <a:schemeClr val="dk1"/>
                </a:solidFill>
                <a:latin typeface="Assistant"/>
                <a:ea typeface="Assistant"/>
                <a:cs typeface="Assistant"/>
                <a:sym typeface="Assistant"/>
              </a:rPr>
              <a:t>I continue to not drink enough water </a:t>
            </a:r>
            <a:r>
              <a:rPr lang="en" sz="2000" b="1" dirty="0">
                <a:solidFill>
                  <a:schemeClr val="dk1"/>
                </a:solidFill>
                <a:latin typeface="Assistant"/>
                <a:ea typeface="Assistant"/>
                <a:cs typeface="Assistant"/>
                <a:sym typeface="Assistant"/>
              </a:rPr>
              <a:t>because soda tastes so good, and I get my sugar fix</a:t>
            </a:r>
            <a:r>
              <a:rPr lang="en" sz="2000" dirty="0">
                <a:solidFill>
                  <a:schemeClr val="dk1"/>
                </a:solidFill>
                <a:latin typeface="Assistant"/>
                <a:ea typeface="Assistant"/>
                <a:cs typeface="Assistant"/>
                <a:sym typeface="Assistant"/>
              </a:rPr>
              <a:t>. (I am gaining something).</a:t>
            </a:r>
            <a:endParaRPr sz="2000" dirty="0">
              <a:solidFill>
                <a:schemeClr val="dk1"/>
              </a:solidFill>
              <a:latin typeface="Assistant"/>
              <a:ea typeface="Assistant"/>
              <a:cs typeface="Assistant"/>
              <a:sym typeface="Assistant"/>
            </a:endParaRPr>
          </a:p>
          <a:p>
            <a:pPr marL="457200" lvl="0" indent="-368300" algn="l" rtl="0">
              <a:lnSpc>
                <a:spcPct val="150000"/>
              </a:lnSpc>
              <a:spcBef>
                <a:spcPts val="0"/>
              </a:spcBef>
              <a:spcAft>
                <a:spcPts val="0"/>
              </a:spcAft>
              <a:buClr>
                <a:schemeClr val="dk1"/>
              </a:buClr>
              <a:buSzPts val="2200"/>
              <a:buFont typeface="Assistant"/>
              <a:buChar char="●"/>
            </a:pPr>
            <a:r>
              <a:rPr lang="en" sz="2000" dirty="0">
                <a:solidFill>
                  <a:schemeClr val="dk1"/>
                </a:solidFill>
                <a:latin typeface="Assistant"/>
                <a:ea typeface="Assistant"/>
                <a:cs typeface="Assistant"/>
                <a:sym typeface="Assistant"/>
              </a:rPr>
              <a:t>I continue to not drink enough water </a:t>
            </a:r>
            <a:r>
              <a:rPr lang="en" sz="2000" b="1" dirty="0">
                <a:solidFill>
                  <a:schemeClr val="dk1"/>
                </a:solidFill>
                <a:latin typeface="Assistant"/>
                <a:ea typeface="Assistant"/>
                <a:cs typeface="Assistant"/>
                <a:sym typeface="Assistant"/>
              </a:rPr>
              <a:t>because I oversleep after I have been staying up late having fun in the dorm with my friends. </a:t>
            </a:r>
            <a:r>
              <a:rPr lang="en" sz="2000" dirty="0">
                <a:solidFill>
                  <a:schemeClr val="dk1"/>
                </a:solidFill>
                <a:latin typeface="Assistant"/>
                <a:ea typeface="Assistant"/>
                <a:cs typeface="Assistant"/>
                <a:sym typeface="Assistant"/>
              </a:rPr>
              <a:t>(I am gaining something).</a:t>
            </a:r>
            <a:endParaRPr dirty="0">
              <a:solidFill>
                <a:schemeClr val="dk1"/>
              </a:solidFill>
              <a:latin typeface="Assistant"/>
              <a:ea typeface="Assistant"/>
              <a:cs typeface="Assistant"/>
              <a:sym typeface="Assistan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207"/>
        <p:cNvGrpSpPr/>
        <p:nvPr/>
      </p:nvGrpSpPr>
      <p:grpSpPr>
        <a:xfrm>
          <a:off x="0" y="0"/>
          <a:ext cx="0" cy="0"/>
          <a:chOff x="0" y="0"/>
          <a:chExt cx="0" cy="0"/>
        </a:xfrm>
      </p:grpSpPr>
      <p:sp>
        <p:nvSpPr>
          <p:cNvPr id="208" name="Google Shape;208;p45"/>
          <p:cNvSpPr txBox="1">
            <a:spLocks noGrp="1"/>
          </p:cNvSpPr>
          <p:nvPr>
            <p:ph type="title"/>
          </p:nvPr>
        </p:nvSpPr>
        <p:spPr>
          <a:xfrm>
            <a:off x="205457" y="204375"/>
            <a:ext cx="8797865" cy="640200"/>
          </a:xfrm>
          <a:prstGeom prst="rect">
            <a:avLst/>
          </a:prstGeom>
        </p:spPr>
        <p:txBody>
          <a:bodyPr spcFirstLastPara="1" wrap="square" lIns="91425" tIns="91425" rIns="91425" bIns="91425" anchor="t" anchorCtr="0">
            <a:noAutofit/>
          </a:bodyPr>
          <a:lstStyle/>
          <a:p>
            <a:pPr marL="403225" indent="-403225" fontAlgn="base"/>
            <a:r>
              <a:rPr lang="en" sz="2400" dirty="0">
                <a:solidFill>
                  <a:srgbClr val="0070C0"/>
                </a:solidFill>
              </a:rPr>
              <a:t>6. </a:t>
            </a:r>
            <a:r>
              <a:rPr lang="en-US" sz="2400" b="1" dirty="0">
                <a:solidFill>
                  <a:srgbClr val="0070C0"/>
                </a:solidFill>
                <a:latin typeface="Arial"/>
                <a:ea typeface="Arial"/>
                <a:cs typeface="Arial"/>
                <a:sym typeface="Arial"/>
              </a:rPr>
              <a:t>One way we can try to change our unwanted target behavior is by changing our antecedents. By changing our antecedents, we can change our behavior and, thus, our consequences change. </a:t>
            </a:r>
            <a:r>
              <a:rPr lang="en-US" sz="2400" dirty="0">
                <a:solidFill>
                  <a:srgbClr val="0070C0"/>
                </a:solidFill>
                <a:latin typeface="Arial"/>
                <a:ea typeface="Arial"/>
                <a:cs typeface="Arial"/>
                <a:sym typeface="Arial"/>
              </a:rPr>
              <a:t> </a:t>
            </a:r>
            <a:br>
              <a:rPr lang="en-US" sz="2000" dirty="0">
                <a:solidFill>
                  <a:srgbClr val="000000"/>
                </a:solidFill>
                <a:latin typeface="Arial"/>
                <a:ea typeface="Arial"/>
                <a:cs typeface="Arial"/>
                <a:sym typeface="Arial"/>
              </a:rPr>
            </a:br>
            <a:r>
              <a:rPr lang="en-US" sz="2000" dirty="0">
                <a:solidFill>
                  <a:srgbClr val="000000"/>
                </a:solidFill>
                <a:latin typeface="Arial"/>
                <a:ea typeface="Arial"/>
                <a:cs typeface="Arial"/>
                <a:sym typeface="Arial"/>
              </a:rPr>
              <a:t> </a:t>
            </a:r>
            <a:br>
              <a:rPr lang="en-US" sz="2000" dirty="0">
                <a:solidFill>
                  <a:srgbClr val="000000"/>
                </a:solidFill>
                <a:latin typeface="Arial"/>
                <a:ea typeface="Arial"/>
                <a:cs typeface="Arial"/>
                <a:sym typeface="Arial"/>
              </a:rPr>
            </a:br>
            <a:br>
              <a:rPr lang="en-US" dirty="0">
                <a:solidFill>
                  <a:srgbClr val="000000"/>
                </a:solidFill>
                <a:latin typeface="Arial"/>
                <a:ea typeface="Arial"/>
                <a:cs typeface="Arial"/>
                <a:sym typeface="Arial"/>
              </a:rPr>
            </a:br>
            <a:endParaRPr sz="2600" dirty="0"/>
          </a:p>
        </p:txBody>
      </p:sp>
      <p:sp>
        <p:nvSpPr>
          <p:cNvPr id="2" name="TextBox 1">
            <a:extLst>
              <a:ext uri="{FF2B5EF4-FFF2-40B4-BE49-F238E27FC236}">
                <a16:creationId xmlns:a16="http://schemas.microsoft.com/office/drawing/2014/main" id="{5C6EB0B5-4D6A-8FAF-CAA0-0C5A196AC8C2}"/>
              </a:ext>
            </a:extLst>
          </p:cNvPr>
          <p:cNvSpPr txBox="1"/>
          <p:nvPr/>
        </p:nvSpPr>
        <p:spPr>
          <a:xfrm>
            <a:off x="407963" y="1965267"/>
            <a:ext cx="8468751" cy="2051203"/>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en-US" sz="2000" dirty="0"/>
              <a:t>Describe how you could </a:t>
            </a:r>
            <a:r>
              <a:rPr lang="en-US" sz="2000" u="sng" dirty="0"/>
              <a:t>change each of your two antecedents</a:t>
            </a:r>
            <a:r>
              <a:rPr lang="en-US" sz="2000" dirty="0"/>
              <a:t> (as you described in 4a above) to your </a:t>
            </a:r>
            <a:r>
              <a:rPr lang="en-US" sz="2000" u="sng" dirty="0"/>
              <a:t>unwanted target behavior</a:t>
            </a:r>
            <a:r>
              <a:rPr lang="en-US" sz="2000" dirty="0"/>
              <a:t> in order to try to help you to get closer to your </a:t>
            </a:r>
            <a:r>
              <a:rPr lang="en-US" sz="2000" u="sng" dirty="0"/>
              <a:t>wanted goal behavior</a:t>
            </a:r>
            <a:r>
              <a:rPr lang="en-US" sz="2000" dirty="0"/>
              <a:t>. Then, include how your changes to these </a:t>
            </a:r>
            <a:r>
              <a:rPr lang="en-US" sz="2000" u="sng" dirty="0"/>
              <a:t>antecedents</a:t>
            </a:r>
            <a:r>
              <a:rPr lang="en-US" sz="2000" dirty="0"/>
              <a:t> may </a:t>
            </a:r>
            <a:r>
              <a:rPr lang="en-US" sz="2000" u="sng" dirty="0"/>
              <a:t>impact your consequences</a:t>
            </a:r>
            <a:r>
              <a:rPr lang="en-US" sz="2000" dirty="0"/>
              <a:t> (as you described in 4c above).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212"/>
        <p:cNvGrpSpPr/>
        <p:nvPr/>
      </p:nvGrpSpPr>
      <p:grpSpPr>
        <a:xfrm>
          <a:off x="0" y="0"/>
          <a:ext cx="0" cy="0"/>
          <a:chOff x="0" y="0"/>
          <a:chExt cx="0" cy="0"/>
        </a:xfrm>
      </p:grpSpPr>
      <p:sp>
        <p:nvSpPr>
          <p:cNvPr id="213" name="Google Shape;213;p46"/>
          <p:cNvSpPr txBox="1">
            <a:spLocks noGrp="1"/>
          </p:cNvSpPr>
          <p:nvPr>
            <p:ph type="title"/>
          </p:nvPr>
        </p:nvSpPr>
        <p:spPr>
          <a:xfrm>
            <a:off x="1192297" y="140677"/>
            <a:ext cx="66750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dirty="0">
                <a:solidFill>
                  <a:srgbClr val="0070C0"/>
                </a:solidFill>
              </a:rPr>
              <a:t>Example 1</a:t>
            </a:r>
            <a:endParaRPr sz="3600" dirty="0">
              <a:solidFill>
                <a:srgbClr val="0070C0"/>
              </a:solidFill>
            </a:endParaRPr>
          </a:p>
        </p:txBody>
      </p:sp>
      <p:sp>
        <p:nvSpPr>
          <p:cNvPr id="214" name="Google Shape;214;p46"/>
          <p:cNvSpPr txBox="1"/>
          <p:nvPr/>
        </p:nvSpPr>
        <p:spPr>
          <a:xfrm>
            <a:off x="62038" y="783236"/>
            <a:ext cx="9081962" cy="2442000"/>
          </a:xfrm>
          <a:prstGeom prst="rect">
            <a:avLst/>
          </a:prstGeom>
          <a:noFill/>
          <a:ln>
            <a:noFill/>
          </a:ln>
        </p:spPr>
        <p:txBody>
          <a:bodyPr spcFirstLastPara="1" wrap="square" lIns="91425" tIns="91425" rIns="91425" bIns="91425" anchor="t" anchorCtr="0">
            <a:noAutofit/>
          </a:bodyPr>
          <a:lstStyle/>
          <a:p>
            <a:pPr marL="292100" lvl="0" indent="-292100">
              <a:lnSpc>
                <a:spcPct val="150000"/>
              </a:lnSpc>
            </a:pPr>
            <a:r>
              <a:rPr lang="en" sz="1800" dirty="0"/>
              <a:t>6. </a:t>
            </a:r>
            <a:r>
              <a:rPr lang="en-US" sz="1800" b="1" dirty="0"/>
              <a:t>One way we can try to change our unwanted target behavior is by changing our antecedents. By changing our antecedents, we can change our behavior and, thus, our consequences change. </a:t>
            </a:r>
            <a:r>
              <a:rPr lang="en-US" sz="1800" dirty="0"/>
              <a:t> </a:t>
            </a:r>
            <a:endParaRPr lang="en" sz="1800" dirty="0">
              <a:solidFill>
                <a:schemeClr val="dk1"/>
              </a:solidFill>
              <a:latin typeface="Assistant"/>
              <a:ea typeface="Assistant"/>
              <a:cs typeface="Assistant"/>
              <a:sym typeface="Assistant"/>
            </a:endParaRPr>
          </a:p>
          <a:p>
            <a:pPr marL="571500" lvl="0" indent="-279400" rtl="0">
              <a:lnSpc>
                <a:spcPct val="150000"/>
              </a:lnSpc>
              <a:spcBef>
                <a:spcPts val="0"/>
              </a:spcBef>
              <a:spcAft>
                <a:spcPts val="0"/>
              </a:spcAft>
              <a:buFont typeface="Arial" panose="020B0604020202020204" pitchFamily="34" charset="0"/>
              <a:buChar char="•"/>
            </a:pPr>
            <a:r>
              <a:rPr lang="en" sz="1800" dirty="0">
                <a:solidFill>
                  <a:schemeClr val="dk1"/>
                </a:solidFill>
                <a:latin typeface="Assistant"/>
                <a:ea typeface="Assistant"/>
                <a:cs typeface="Assistant"/>
                <a:sym typeface="Assistant"/>
              </a:rPr>
              <a:t>I am going to </a:t>
            </a:r>
            <a:r>
              <a:rPr lang="en" sz="1800" b="1" u="sng" dirty="0">
                <a:solidFill>
                  <a:schemeClr val="dk1"/>
                </a:solidFill>
                <a:latin typeface="Assistant"/>
                <a:ea typeface="Assistant"/>
                <a:cs typeface="Assistant"/>
                <a:sym typeface="Assistant"/>
              </a:rPr>
              <a:t>change my antecedent of sugar cravings</a:t>
            </a:r>
            <a:r>
              <a:rPr lang="en" sz="1800" dirty="0">
                <a:solidFill>
                  <a:schemeClr val="dk1"/>
                </a:solidFill>
                <a:latin typeface="Assistant"/>
                <a:ea typeface="Assistant"/>
                <a:cs typeface="Assistant"/>
                <a:sym typeface="Assistant"/>
              </a:rPr>
              <a:t> (original A) that leads to my </a:t>
            </a:r>
            <a:r>
              <a:rPr lang="en" sz="1800" u="sng" dirty="0">
                <a:solidFill>
                  <a:schemeClr val="dk1"/>
                </a:solidFill>
                <a:latin typeface="Assistant"/>
                <a:ea typeface="Assistant"/>
                <a:cs typeface="Assistant"/>
                <a:sym typeface="Assistant"/>
              </a:rPr>
              <a:t>drinking soda instead of drinking enough water</a:t>
            </a:r>
            <a:r>
              <a:rPr lang="en" sz="1800" dirty="0">
                <a:solidFill>
                  <a:schemeClr val="dk1"/>
                </a:solidFill>
                <a:latin typeface="Assistant"/>
                <a:ea typeface="Assistant"/>
                <a:cs typeface="Assistant"/>
                <a:sym typeface="Assistant"/>
              </a:rPr>
              <a:t> (UTB) by </a:t>
            </a:r>
            <a:r>
              <a:rPr lang="en" sz="1800" b="1" u="sng" dirty="0">
                <a:solidFill>
                  <a:schemeClr val="dk1"/>
                </a:solidFill>
                <a:latin typeface="Assistant"/>
                <a:ea typeface="Assistant"/>
                <a:cs typeface="Assistant"/>
                <a:sym typeface="Assistant"/>
              </a:rPr>
              <a:t>buying fruit-flavored water at the grocery store</a:t>
            </a:r>
            <a:r>
              <a:rPr lang="en" sz="1800" dirty="0">
                <a:solidFill>
                  <a:schemeClr val="dk1"/>
                </a:solidFill>
                <a:latin typeface="Assistant"/>
                <a:ea typeface="Assistant"/>
                <a:cs typeface="Assistant"/>
                <a:sym typeface="Assistant"/>
              </a:rPr>
              <a:t> (new A), which I hope will help me to </a:t>
            </a:r>
            <a:r>
              <a:rPr lang="en" sz="1800" u="sng" dirty="0">
                <a:solidFill>
                  <a:schemeClr val="dk1"/>
                </a:solidFill>
                <a:latin typeface="Assistant"/>
                <a:ea typeface="Assistant"/>
                <a:cs typeface="Assistant"/>
                <a:sym typeface="Assistant"/>
              </a:rPr>
              <a:t>drink more water </a:t>
            </a:r>
            <a:r>
              <a:rPr lang="en" sz="1800" dirty="0">
                <a:solidFill>
                  <a:schemeClr val="dk1"/>
                </a:solidFill>
                <a:latin typeface="Assistant"/>
                <a:ea typeface="Assistant"/>
                <a:cs typeface="Assistant"/>
                <a:sym typeface="Assistant"/>
              </a:rPr>
              <a:t>(WGB). When I start </a:t>
            </a:r>
            <a:r>
              <a:rPr lang="en" sz="1800" u="sng" dirty="0">
                <a:solidFill>
                  <a:schemeClr val="dk1"/>
                </a:solidFill>
                <a:latin typeface="Assistant"/>
                <a:ea typeface="Assistant"/>
                <a:cs typeface="Assistant"/>
                <a:sym typeface="Assistant"/>
              </a:rPr>
              <a:t>buying the fruit-flavored water</a:t>
            </a:r>
            <a:r>
              <a:rPr lang="en" sz="1800" dirty="0">
                <a:solidFill>
                  <a:schemeClr val="dk1"/>
                </a:solidFill>
                <a:latin typeface="Assistant"/>
                <a:ea typeface="Assistant"/>
                <a:cs typeface="Assistant"/>
                <a:sym typeface="Assistant"/>
              </a:rPr>
              <a:t> from the grocery (new A), </a:t>
            </a:r>
            <a:r>
              <a:rPr lang="en" sz="1800" u="sng" dirty="0">
                <a:solidFill>
                  <a:schemeClr val="dk1"/>
                </a:solidFill>
                <a:latin typeface="Assistant"/>
                <a:ea typeface="Assistant"/>
                <a:cs typeface="Assistant"/>
                <a:sym typeface="Assistant"/>
              </a:rPr>
              <a:t>I hope that I will no longer suffer from my consequence of </a:t>
            </a:r>
            <a:r>
              <a:rPr lang="en" sz="1800" b="1" u="sng" dirty="0">
                <a:solidFill>
                  <a:schemeClr val="dk1"/>
                </a:solidFill>
                <a:latin typeface="Assistant"/>
                <a:ea typeface="Assistant"/>
                <a:cs typeface="Assistant"/>
                <a:sym typeface="Assistant"/>
              </a:rPr>
              <a:t>spending too much money</a:t>
            </a:r>
            <a:r>
              <a:rPr lang="en" sz="1800" dirty="0">
                <a:solidFill>
                  <a:schemeClr val="dk1"/>
                </a:solidFill>
                <a:latin typeface="Assistant"/>
                <a:ea typeface="Assistant"/>
                <a:cs typeface="Assistant"/>
                <a:sym typeface="Assistant"/>
              </a:rPr>
              <a:t> on sodas at the UC (original C). Instead, </a:t>
            </a:r>
            <a:r>
              <a:rPr lang="en" sz="1800" b="1" u="sng" dirty="0">
                <a:solidFill>
                  <a:schemeClr val="dk1"/>
                </a:solidFill>
                <a:latin typeface="Assistant"/>
                <a:ea typeface="Assistant"/>
                <a:cs typeface="Assistant"/>
                <a:sym typeface="Assistant"/>
              </a:rPr>
              <a:t>I hope that I will have extra money to spend to go to movies with my friends</a:t>
            </a:r>
            <a:r>
              <a:rPr lang="en" sz="1800" dirty="0">
                <a:solidFill>
                  <a:schemeClr val="dk1"/>
                </a:solidFill>
                <a:latin typeface="Assistant"/>
                <a:ea typeface="Assistant"/>
                <a:cs typeface="Assistant"/>
                <a:sym typeface="Assistant"/>
              </a:rPr>
              <a:t> (new C). </a:t>
            </a:r>
            <a:endParaRPr sz="1600" dirty="0">
              <a:solidFill>
                <a:schemeClr val="dk1"/>
              </a:solidFill>
              <a:latin typeface="Assistant"/>
              <a:ea typeface="Assistant"/>
              <a:cs typeface="Assistant"/>
              <a:sym typeface="Assistan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218"/>
        <p:cNvGrpSpPr/>
        <p:nvPr/>
      </p:nvGrpSpPr>
      <p:grpSpPr>
        <a:xfrm>
          <a:off x="0" y="0"/>
          <a:ext cx="0" cy="0"/>
          <a:chOff x="0" y="0"/>
          <a:chExt cx="0" cy="0"/>
        </a:xfrm>
      </p:grpSpPr>
      <p:sp>
        <p:nvSpPr>
          <p:cNvPr id="219" name="Google Shape;219;p47"/>
          <p:cNvSpPr txBox="1">
            <a:spLocks noGrp="1"/>
          </p:cNvSpPr>
          <p:nvPr>
            <p:ph type="title"/>
          </p:nvPr>
        </p:nvSpPr>
        <p:spPr>
          <a:xfrm>
            <a:off x="1234500" y="105085"/>
            <a:ext cx="66750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dirty="0">
                <a:solidFill>
                  <a:srgbClr val="0070C0"/>
                </a:solidFill>
              </a:rPr>
              <a:t>Example 2</a:t>
            </a:r>
            <a:endParaRPr sz="3600" dirty="0">
              <a:solidFill>
                <a:srgbClr val="0070C0"/>
              </a:solidFill>
            </a:endParaRPr>
          </a:p>
        </p:txBody>
      </p:sp>
      <p:sp>
        <p:nvSpPr>
          <p:cNvPr id="220" name="Google Shape;220;p47"/>
          <p:cNvSpPr txBox="1"/>
          <p:nvPr/>
        </p:nvSpPr>
        <p:spPr>
          <a:xfrm>
            <a:off x="98474" y="868069"/>
            <a:ext cx="8947052" cy="2442000"/>
          </a:xfrm>
          <a:prstGeom prst="rect">
            <a:avLst/>
          </a:prstGeom>
          <a:noFill/>
          <a:ln>
            <a:noFill/>
          </a:ln>
        </p:spPr>
        <p:txBody>
          <a:bodyPr spcFirstLastPara="1" wrap="square" lIns="91425" tIns="91425" rIns="91425" bIns="91425" anchor="t" anchorCtr="0">
            <a:noAutofit/>
          </a:bodyPr>
          <a:lstStyle/>
          <a:p>
            <a:pPr marL="292100" indent="-292100">
              <a:lnSpc>
                <a:spcPct val="150000"/>
              </a:lnSpc>
            </a:pPr>
            <a:r>
              <a:rPr lang="en" sz="1800" dirty="0"/>
              <a:t>6. </a:t>
            </a:r>
            <a:r>
              <a:rPr lang="en-US" sz="1800" b="1" dirty="0"/>
              <a:t>One way we can try to change our unwanted target behavior is by changing our antecedents. By changing our antecedents, we can change our behavior and, thus, our consequences change. </a:t>
            </a:r>
            <a:r>
              <a:rPr lang="en-US" sz="1800" dirty="0"/>
              <a:t> </a:t>
            </a:r>
            <a:endParaRPr lang="en" sz="1800" dirty="0">
              <a:solidFill>
                <a:schemeClr val="dk1"/>
              </a:solidFill>
              <a:latin typeface="Assistant"/>
              <a:ea typeface="Assistant"/>
              <a:cs typeface="Assistant"/>
              <a:sym typeface="Assistant"/>
            </a:endParaRPr>
          </a:p>
          <a:p>
            <a:pPr marL="571500" lvl="0" indent="-279400" rtl="0">
              <a:lnSpc>
                <a:spcPct val="150000"/>
              </a:lnSpc>
              <a:spcBef>
                <a:spcPts val="0"/>
              </a:spcBef>
              <a:spcAft>
                <a:spcPts val="0"/>
              </a:spcAft>
              <a:buFont typeface="Arial" panose="020B0604020202020204" pitchFamily="34" charset="0"/>
              <a:buChar char="•"/>
            </a:pPr>
            <a:r>
              <a:rPr lang="en" sz="1800" dirty="0">
                <a:solidFill>
                  <a:schemeClr val="dk1"/>
                </a:solidFill>
                <a:latin typeface="Assistant"/>
                <a:ea typeface="Assistant"/>
                <a:cs typeface="Assistant"/>
                <a:sym typeface="Assistant"/>
              </a:rPr>
              <a:t>I am going to </a:t>
            </a:r>
            <a:r>
              <a:rPr lang="en" sz="1800" b="1" u="sng" dirty="0">
                <a:solidFill>
                  <a:schemeClr val="dk1"/>
                </a:solidFill>
                <a:latin typeface="Assistant"/>
                <a:ea typeface="Assistant"/>
                <a:cs typeface="Assistant"/>
                <a:sym typeface="Assistant"/>
              </a:rPr>
              <a:t>change my antecedent of waking up late</a:t>
            </a:r>
            <a:r>
              <a:rPr lang="en" sz="1800" b="1" dirty="0">
                <a:solidFill>
                  <a:schemeClr val="dk1"/>
                </a:solidFill>
                <a:latin typeface="Assistant"/>
                <a:ea typeface="Assistant"/>
                <a:cs typeface="Assistant"/>
                <a:sym typeface="Assistant"/>
              </a:rPr>
              <a:t> </a:t>
            </a:r>
            <a:r>
              <a:rPr lang="en" sz="1800" b="1" u="sng" dirty="0">
                <a:solidFill>
                  <a:schemeClr val="dk1"/>
                </a:solidFill>
                <a:latin typeface="Assistant"/>
                <a:ea typeface="Assistant"/>
                <a:cs typeface="Assistant"/>
                <a:sym typeface="Assistant"/>
              </a:rPr>
              <a:t>and forgetting my water bottle</a:t>
            </a:r>
            <a:r>
              <a:rPr lang="en" sz="1800" b="1" dirty="0">
                <a:solidFill>
                  <a:schemeClr val="dk1"/>
                </a:solidFill>
                <a:latin typeface="Assistant"/>
                <a:ea typeface="Assistant"/>
                <a:cs typeface="Assistant"/>
                <a:sym typeface="Assistant"/>
              </a:rPr>
              <a:t> </a:t>
            </a:r>
            <a:r>
              <a:rPr lang="en" sz="1800" dirty="0">
                <a:solidFill>
                  <a:schemeClr val="dk1"/>
                </a:solidFill>
                <a:latin typeface="Assistant"/>
                <a:ea typeface="Assistant"/>
                <a:cs typeface="Assistant"/>
                <a:sym typeface="Assistant"/>
              </a:rPr>
              <a:t>(original A) that leads to my </a:t>
            </a:r>
            <a:r>
              <a:rPr lang="en-US" sz="1800" u="sng" dirty="0">
                <a:solidFill>
                  <a:schemeClr val="dk1"/>
                </a:solidFill>
                <a:latin typeface="Assistant"/>
                <a:ea typeface="Assistant"/>
                <a:cs typeface="Assistant"/>
                <a:sym typeface="Assistant"/>
              </a:rPr>
              <a:t>wishing that I had my water bottle with me </a:t>
            </a:r>
            <a:r>
              <a:rPr lang="en" sz="1800" dirty="0">
                <a:solidFill>
                  <a:schemeClr val="dk1"/>
                </a:solidFill>
                <a:latin typeface="Assistant"/>
                <a:ea typeface="Assistant"/>
                <a:cs typeface="Assistant"/>
                <a:sym typeface="Assistant"/>
              </a:rPr>
              <a:t>(UTB) by </a:t>
            </a:r>
            <a:r>
              <a:rPr lang="en" sz="1800" b="1" u="sng" dirty="0">
                <a:solidFill>
                  <a:schemeClr val="dk1"/>
                </a:solidFill>
                <a:latin typeface="Assistant"/>
                <a:ea typeface="Assistant"/>
                <a:cs typeface="Assistant"/>
                <a:sym typeface="Assistant"/>
              </a:rPr>
              <a:t>setting more than one alarm</a:t>
            </a:r>
            <a:r>
              <a:rPr lang="en" sz="1800" dirty="0">
                <a:solidFill>
                  <a:schemeClr val="dk1"/>
                </a:solidFill>
                <a:latin typeface="Assistant"/>
                <a:ea typeface="Assistant"/>
                <a:cs typeface="Assistant"/>
                <a:sym typeface="Assistant"/>
              </a:rPr>
              <a:t> (new A), so I am not in a hurry and remember my bottle, which will help me to </a:t>
            </a:r>
            <a:r>
              <a:rPr lang="en" sz="1800" u="sng" dirty="0">
                <a:solidFill>
                  <a:schemeClr val="dk1"/>
                </a:solidFill>
                <a:latin typeface="Assistant"/>
                <a:ea typeface="Assistant"/>
                <a:cs typeface="Assistant"/>
                <a:sym typeface="Assistant"/>
              </a:rPr>
              <a:t>drink more water</a:t>
            </a:r>
            <a:r>
              <a:rPr lang="en" sz="1800" dirty="0">
                <a:solidFill>
                  <a:schemeClr val="dk1"/>
                </a:solidFill>
                <a:latin typeface="Assistant"/>
                <a:ea typeface="Assistant"/>
                <a:cs typeface="Assistant"/>
                <a:sym typeface="Assistant"/>
              </a:rPr>
              <a:t> (WGB). When I start </a:t>
            </a:r>
            <a:r>
              <a:rPr lang="en" sz="1800" u="sng" dirty="0">
                <a:solidFill>
                  <a:schemeClr val="dk1"/>
                </a:solidFill>
                <a:latin typeface="Assistant"/>
                <a:ea typeface="Assistant"/>
                <a:cs typeface="Assistant"/>
                <a:sym typeface="Assistant"/>
              </a:rPr>
              <a:t>setting more than one alarm</a:t>
            </a:r>
            <a:r>
              <a:rPr lang="en" sz="1800" dirty="0">
                <a:solidFill>
                  <a:schemeClr val="dk1"/>
                </a:solidFill>
                <a:latin typeface="Assistant"/>
                <a:ea typeface="Assistant"/>
                <a:cs typeface="Assistant"/>
                <a:sym typeface="Assistant"/>
              </a:rPr>
              <a:t> (new A), </a:t>
            </a:r>
            <a:r>
              <a:rPr lang="en" sz="1800" u="sng" dirty="0">
                <a:solidFill>
                  <a:schemeClr val="dk1"/>
                </a:solidFill>
                <a:latin typeface="Assistant"/>
                <a:ea typeface="Assistant"/>
                <a:cs typeface="Assistant"/>
                <a:sym typeface="Assistant"/>
              </a:rPr>
              <a:t>I hope that I will no longer suffer from my consequence of </a:t>
            </a:r>
            <a:r>
              <a:rPr lang="en" sz="1800" b="1" u="sng" dirty="0">
                <a:solidFill>
                  <a:schemeClr val="dk1"/>
                </a:solidFill>
                <a:latin typeface="Assistant"/>
                <a:ea typeface="Assistant"/>
                <a:cs typeface="Assistant"/>
                <a:sym typeface="Assistant"/>
              </a:rPr>
              <a:t>getting a headache, becoming irritable, and not being fun to be around</a:t>
            </a:r>
            <a:r>
              <a:rPr lang="en" sz="1800" b="1" dirty="0">
                <a:solidFill>
                  <a:schemeClr val="dk1"/>
                </a:solidFill>
                <a:latin typeface="Assistant"/>
                <a:ea typeface="Assistant"/>
                <a:cs typeface="Assistant"/>
                <a:sym typeface="Assistant"/>
              </a:rPr>
              <a:t> </a:t>
            </a:r>
            <a:r>
              <a:rPr lang="en" sz="1800" dirty="0">
                <a:solidFill>
                  <a:schemeClr val="dk1"/>
                </a:solidFill>
                <a:latin typeface="Assistant"/>
                <a:ea typeface="Assistant"/>
                <a:cs typeface="Assistant"/>
                <a:sym typeface="Assistant"/>
              </a:rPr>
              <a:t>(original C). Instead, </a:t>
            </a:r>
            <a:r>
              <a:rPr lang="en" sz="1800" b="1" u="sng" dirty="0">
                <a:solidFill>
                  <a:schemeClr val="dk1"/>
                </a:solidFill>
                <a:latin typeface="Assistant"/>
                <a:ea typeface="Assistant"/>
                <a:cs typeface="Assistant"/>
                <a:sym typeface="Assistant"/>
              </a:rPr>
              <a:t>I hope I will feel better, and my friends and I will have more fun</a:t>
            </a:r>
            <a:r>
              <a:rPr lang="en" sz="1800" dirty="0">
                <a:solidFill>
                  <a:schemeClr val="dk1"/>
                </a:solidFill>
                <a:latin typeface="Assistant"/>
                <a:ea typeface="Assistant"/>
                <a:cs typeface="Assistant"/>
                <a:sym typeface="Assistant"/>
              </a:rPr>
              <a:t> (new C).</a:t>
            </a:r>
            <a:endParaRPr sz="1800" dirty="0">
              <a:solidFill>
                <a:schemeClr val="dk1"/>
              </a:solidFill>
              <a:latin typeface="Assistant"/>
              <a:ea typeface="Assistant"/>
              <a:cs typeface="Assistant"/>
              <a:sym typeface="Assistant"/>
            </a:endParaRPr>
          </a:p>
          <a:p>
            <a:pPr marL="0" lvl="0" indent="0" algn="ctr" rtl="0">
              <a:lnSpc>
                <a:spcPct val="150000"/>
              </a:lnSpc>
              <a:spcBef>
                <a:spcPts val="0"/>
              </a:spcBef>
              <a:spcAft>
                <a:spcPts val="0"/>
              </a:spcAft>
              <a:buNone/>
            </a:pPr>
            <a:endParaRPr sz="1300" dirty="0">
              <a:solidFill>
                <a:schemeClr val="dk1"/>
              </a:solidFill>
              <a:latin typeface="Assistant"/>
              <a:ea typeface="Assistant"/>
              <a:cs typeface="Assistant"/>
              <a:sym typeface="Assistan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5BC5C-8AB6-B640-C415-2936D8D28E45}"/>
              </a:ext>
            </a:extLst>
          </p:cNvPr>
          <p:cNvSpPr>
            <a:spLocks noGrp="1"/>
          </p:cNvSpPr>
          <p:nvPr>
            <p:ph type="title"/>
          </p:nvPr>
        </p:nvSpPr>
        <p:spPr>
          <a:xfrm>
            <a:off x="295422" y="113521"/>
            <a:ext cx="8567224" cy="640200"/>
          </a:xfrm>
        </p:spPr>
        <p:txBody>
          <a:bodyPr/>
          <a:lstStyle/>
          <a:p>
            <a:pPr algn="ctr"/>
            <a:r>
              <a:rPr lang="en-US" sz="3600" dirty="0">
                <a:solidFill>
                  <a:srgbClr val="0070C0"/>
                </a:solidFill>
              </a:rPr>
              <a:t>Submit This Handout to Canvas</a:t>
            </a:r>
          </a:p>
        </p:txBody>
      </p:sp>
      <p:sp>
        <p:nvSpPr>
          <p:cNvPr id="4" name="TextBox 3">
            <a:extLst>
              <a:ext uri="{FF2B5EF4-FFF2-40B4-BE49-F238E27FC236}">
                <a16:creationId xmlns:a16="http://schemas.microsoft.com/office/drawing/2014/main" id="{1772624F-2F84-9B08-F871-5B52EDD16F43}"/>
              </a:ext>
            </a:extLst>
          </p:cNvPr>
          <p:cNvSpPr txBox="1"/>
          <p:nvPr/>
        </p:nvSpPr>
        <p:spPr>
          <a:xfrm>
            <a:off x="145473" y="820244"/>
            <a:ext cx="8848577" cy="4362733"/>
          </a:xfrm>
          <a:prstGeom prst="rect">
            <a:avLst/>
          </a:prstGeom>
          <a:noFill/>
        </p:spPr>
        <p:txBody>
          <a:bodyPr wrap="square" rtlCol="0">
            <a:spAutoFit/>
          </a:bodyPr>
          <a:lstStyle/>
          <a:p>
            <a:r>
              <a:rPr lang="en-US" sz="1850" b="1" u="sng" dirty="0"/>
              <a:t>Before you leave Small Group TODAY:</a:t>
            </a:r>
          </a:p>
          <a:p>
            <a:pPr marL="285750" indent="-285750">
              <a:buFont typeface="Arial" panose="020B0604020202020204" pitchFamily="34" charset="0"/>
              <a:buChar char="•"/>
            </a:pPr>
            <a:r>
              <a:rPr lang="en-US" sz="1850" dirty="0"/>
              <a:t>Take photos of or scan your current, handwritten draft of your Handout responses.</a:t>
            </a:r>
          </a:p>
          <a:p>
            <a:pPr marL="285750" indent="-285750">
              <a:buFont typeface="Arial" panose="020B0604020202020204" pitchFamily="34" charset="0"/>
              <a:buChar char="•"/>
            </a:pPr>
            <a:r>
              <a:rPr lang="en-US" sz="1850" dirty="0"/>
              <a:t>Then, upload your photos or your scan to the Canvas submission folder entitled “Behavior Modification Handout #1: Defining Behaviors, ABCs, and SMART Goals.”</a:t>
            </a:r>
          </a:p>
          <a:p>
            <a:endParaRPr lang="en-US" sz="1850" dirty="0"/>
          </a:p>
          <a:p>
            <a:r>
              <a:rPr lang="en-US" sz="1850" b="1" u="sng" dirty="0"/>
              <a:t>Before Sunday night, February 8</a:t>
            </a:r>
            <a:r>
              <a:rPr lang="en-US" sz="1850" b="1" u="sng" baseline="30000" dirty="0"/>
              <a:t>th</a:t>
            </a:r>
            <a:r>
              <a:rPr lang="en-US" sz="1850" b="1" u="sng" dirty="0"/>
              <a:t> at 11:59pm:</a:t>
            </a:r>
          </a:p>
          <a:p>
            <a:pPr marL="285750" lvl="4" indent="-285750">
              <a:buFont typeface="Arial" panose="020B0604020202020204" pitchFamily="34" charset="0"/>
              <a:buChar char="•"/>
            </a:pPr>
            <a:r>
              <a:rPr lang="en-US" sz="1850" dirty="0"/>
              <a:t>Finish completing the Handout, if you did not complete it today. </a:t>
            </a:r>
          </a:p>
          <a:p>
            <a:pPr marL="285750" lvl="6" indent="-285750">
              <a:buFont typeface="Arial" panose="020B0604020202020204" pitchFamily="34" charset="0"/>
              <a:buChar char="•"/>
            </a:pPr>
            <a:r>
              <a:rPr lang="en-US" sz="1850" dirty="0"/>
              <a:t>Then, type out your handwritten responses into a Microsoft Word document.</a:t>
            </a:r>
          </a:p>
          <a:p>
            <a:pPr marL="285750" indent="-285750">
              <a:buFont typeface="Arial" panose="020B0604020202020204" pitchFamily="34" charset="0"/>
              <a:buChar char="•"/>
            </a:pPr>
            <a:r>
              <a:rPr lang="en-US" sz="1850" dirty="0"/>
              <a:t>You are welcome to use AI to proofread and to edit your typed responses. AI can also be used to help you to brainstorm. We’ll talk about specifics in a minute.</a:t>
            </a:r>
          </a:p>
          <a:p>
            <a:pPr marL="285750" lvl="1" indent="-285750">
              <a:buFont typeface="Arial" panose="020B0604020202020204" pitchFamily="34" charset="0"/>
              <a:buChar char="•"/>
            </a:pPr>
            <a:r>
              <a:rPr lang="en-US" sz="1850" dirty="0"/>
              <a:t>In the Canvas submission folder, every student should have at least two submissions for this Handout: an upload of photos or a scan of their handwritten draft </a:t>
            </a:r>
            <a:r>
              <a:rPr lang="en-US" sz="1850" u="sng" dirty="0"/>
              <a:t>and</a:t>
            </a:r>
            <a:r>
              <a:rPr lang="en-US" sz="1850" dirty="0"/>
              <a:t> an upload of their finalized Microsoft Word document. </a:t>
            </a:r>
          </a:p>
        </p:txBody>
      </p:sp>
    </p:spTree>
    <p:extLst>
      <p:ext uri="{BB962C8B-B14F-4D97-AF65-F5344CB8AC3E}">
        <p14:creationId xmlns:p14="http://schemas.microsoft.com/office/powerpoint/2010/main" val="42135990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a:extLst>
            <a:ext uri="{FF2B5EF4-FFF2-40B4-BE49-F238E27FC236}">
              <a16:creationId xmlns:a16="http://schemas.microsoft.com/office/drawing/2014/main" id="{2F03FBF2-EB79-2091-B60C-5AB9C289F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D7C6A-05FD-8D28-3669-7AACF8E8558F}"/>
              </a:ext>
            </a:extLst>
          </p:cNvPr>
          <p:cNvSpPr>
            <a:spLocks noGrp="1"/>
          </p:cNvSpPr>
          <p:nvPr>
            <p:ph type="title"/>
          </p:nvPr>
        </p:nvSpPr>
        <p:spPr>
          <a:xfrm>
            <a:off x="283848" y="101946"/>
            <a:ext cx="8567224" cy="640200"/>
          </a:xfrm>
        </p:spPr>
        <p:txBody>
          <a:bodyPr/>
          <a:lstStyle/>
          <a:p>
            <a:pPr algn="ctr"/>
            <a:r>
              <a:rPr lang="en-US" sz="3600" dirty="0">
                <a:solidFill>
                  <a:srgbClr val="0070C0"/>
                </a:solidFill>
              </a:rPr>
              <a:t>If You Decide to Use AI to Help You</a:t>
            </a:r>
          </a:p>
        </p:txBody>
      </p:sp>
      <p:sp>
        <p:nvSpPr>
          <p:cNvPr id="4" name="TextBox 3">
            <a:extLst>
              <a:ext uri="{FF2B5EF4-FFF2-40B4-BE49-F238E27FC236}">
                <a16:creationId xmlns:a16="http://schemas.microsoft.com/office/drawing/2014/main" id="{DF287EB2-B947-4711-255E-8C82F481D288}"/>
              </a:ext>
            </a:extLst>
          </p:cNvPr>
          <p:cNvSpPr txBox="1"/>
          <p:nvPr/>
        </p:nvSpPr>
        <p:spPr>
          <a:xfrm>
            <a:off x="0" y="870093"/>
            <a:ext cx="9051403" cy="4293483"/>
          </a:xfrm>
          <a:prstGeom prst="rect">
            <a:avLst/>
          </a:prstGeom>
          <a:noFill/>
        </p:spPr>
        <p:txBody>
          <a:bodyPr wrap="square" rtlCol="0">
            <a:spAutoFit/>
          </a:bodyPr>
          <a:lstStyle/>
          <a:p>
            <a:pPr marL="285750" indent="-285750">
              <a:buFont typeface="Arial" panose="020B0604020202020204" pitchFamily="34" charset="0"/>
              <a:buChar char="•"/>
            </a:pPr>
            <a:r>
              <a:rPr lang="en-US" sz="2100" dirty="0"/>
              <a:t>If you decide to use AI to provide you with feedback on your responses, please include the following additional information in your Handout document:  </a:t>
            </a:r>
          </a:p>
          <a:p>
            <a:pPr marL="636587" lvl="4" indent="-285750">
              <a:buFont typeface="Courier New" panose="02070309020205020404" pitchFamily="49" charset="0"/>
              <a:buChar char="o"/>
            </a:pPr>
            <a:r>
              <a:rPr lang="en-US" sz="2100" dirty="0"/>
              <a:t>Which AI platform(s) did you use?</a:t>
            </a:r>
          </a:p>
          <a:p>
            <a:pPr marL="636587" lvl="4" indent="-285750">
              <a:buFont typeface="Courier New" panose="02070309020205020404" pitchFamily="49" charset="0"/>
              <a:buChar char="o"/>
            </a:pPr>
            <a:r>
              <a:rPr lang="en-US" sz="2100" dirty="0"/>
              <a:t>What prompt(s) did you use to provide yourself with feedback on your Handout responses or to make edits to them?</a:t>
            </a:r>
          </a:p>
          <a:p>
            <a:pPr marL="636587" lvl="4" indent="-285750">
              <a:buFont typeface="Courier New" panose="02070309020205020404" pitchFamily="49" charset="0"/>
              <a:buChar char="o"/>
            </a:pPr>
            <a:r>
              <a:rPr lang="en-US" sz="2100" dirty="0"/>
              <a:t>How did you change your responses based on the AI feedback?</a:t>
            </a:r>
          </a:p>
          <a:p>
            <a:pPr marL="636587" lvl="4" indent="-285750">
              <a:buFont typeface="Courier New" panose="02070309020205020404" pitchFamily="49" charset="0"/>
              <a:buChar char="o"/>
            </a:pPr>
            <a:r>
              <a:rPr lang="en-US" sz="2100" dirty="0"/>
              <a:t>Please upload your output from AI with your revised Handout responses. </a:t>
            </a:r>
          </a:p>
          <a:p>
            <a:pPr marL="636587" lvl="4" indent="-285750">
              <a:buFont typeface="Courier New" panose="02070309020205020404" pitchFamily="49" charset="0"/>
              <a:buChar char="o"/>
            </a:pPr>
            <a:r>
              <a:rPr lang="en-US" sz="2100" dirty="0"/>
              <a:t>Once your Handout responses are finalized, you need to upload your Microsoft Word typed document to the Canvas submission folder.</a:t>
            </a:r>
          </a:p>
          <a:p>
            <a:pPr marL="285750" lvl="1" indent="-285750">
              <a:buFont typeface="Arial" panose="020B0604020202020204" pitchFamily="34" charset="0"/>
              <a:buChar char="•"/>
            </a:pPr>
            <a:r>
              <a:rPr lang="en-US" sz="2100" u="sng" dirty="0"/>
              <a:t>Note</a:t>
            </a:r>
            <a:r>
              <a:rPr lang="en-US" sz="2100" dirty="0"/>
              <a:t>: You must turn in handwritten responses to the Handout so that we can make sure that you are not offloading your thinking to AI. </a:t>
            </a:r>
          </a:p>
        </p:txBody>
      </p:sp>
    </p:spTree>
    <p:extLst>
      <p:ext uri="{BB962C8B-B14F-4D97-AF65-F5344CB8AC3E}">
        <p14:creationId xmlns:p14="http://schemas.microsoft.com/office/powerpoint/2010/main" val="40487549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80"/>
        <p:cNvGrpSpPr/>
        <p:nvPr/>
      </p:nvGrpSpPr>
      <p:grpSpPr>
        <a:xfrm>
          <a:off x="0" y="0"/>
          <a:ext cx="0" cy="0"/>
          <a:chOff x="0" y="0"/>
          <a:chExt cx="0" cy="0"/>
        </a:xfrm>
      </p:grpSpPr>
      <p:sp>
        <p:nvSpPr>
          <p:cNvPr id="81" name="Google Shape;81;p23"/>
          <p:cNvSpPr txBox="1">
            <a:spLocks noGrp="1"/>
          </p:cNvSpPr>
          <p:nvPr>
            <p:ph type="title"/>
          </p:nvPr>
        </p:nvSpPr>
        <p:spPr>
          <a:xfrm>
            <a:off x="1058067" y="188850"/>
            <a:ext cx="7056000" cy="651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800" dirty="0">
                <a:solidFill>
                  <a:srgbClr val="0070C0"/>
                </a:solidFill>
              </a:rPr>
              <a:t>Five-Minute Meetings</a:t>
            </a:r>
            <a:endParaRPr sz="3800" dirty="0">
              <a:solidFill>
                <a:srgbClr val="0070C0"/>
              </a:solidFill>
            </a:endParaRPr>
          </a:p>
        </p:txBody>
      </p:sp>
      <p:sp>
        <p:nvSpPr>
          <p:cNvPr id="82" name="Google Shape;82;p23"/>
          <p:cNvSpPr txBox="1">
            <a:spLocks noGrp="1"/>
          </p:cNvSpPr>
          <p:nvPr>
            <p:ph type="subTitle" idx="1"/>
          </p:nvPr>
        </p:nvSpPr>
        <p:spPr>
          <a:xfrm>
            <a:off x="151639" y="947190"/>
            <a:ext cx="8876613" cy="2988201"/>
          </a:xfrm>
          <a:prstGeom prst="rect">
            <a:avLst/>
          </a:prstGeom>
        </p:spPr>
        <p:txBody>
          <a:bodyPr spcFirstLastPara="1" wrap="square" lIns="91425" tIns="91425" rIns="91425" bIns="91425" anchor="t" anchorCtr="0">
            <a:noAutofit/>
          </a:bodyPr>
          <a:lstStyle/>
          <a:p>
            <a:pPr marL="457200" lvl="0" indent="-355600" algn="l" rtl="0">
              <a:spcBef>
                <a:spcPts val="0"/>
              </a:spcBef>
              <a:spcAft>
                <a:spcPts val="0"/>
              </a:spcAft>
              <a:buClr>
                <a:schemeClr val="dk1"/>
              </a:buClr>
              <a:buSzPts val="2000"/>
              <a:buChar char="●"/>
            </a:pPr>
            <a:r>
              <a:rPr lang="en" sz="2200" dirty="0"/>
              <a:t>To help YOU p</a:t>
            </a:r>
            <a:r>
              <a:rPr lang="en-US" sz="2200" dirty="0"/>
              <a:t>re</a:t>
            </a:r>
            <a:r>
              <a:rPr lang="en" sz="2200" dirty="0"/>
              <a:t>pare for your Behavior Modification Assignment Project, you will meet with one of us to review your answers to this week’s and next week’s Handouts.</a:t>
            </a:r>
          </a:p>
          <a:p>
            <a:pPr lvl="0" indent="-355600">
              <a:buClr>
                <a:schemeClr val="dk1"/>
              </a:buClr>
              <a:buSzPts val="2000"/>
            </a:pPr>
            <a:r>
              <a:rPr lang="en-US" sz="2200" dirty="0"/>
              <a:t>You will sign up for a Five-Minute Meeting with either one of us. </a:t>
            </a:r>
          </a:p>
          <a:p>
            <a:pPr lvl="0" indent="-355600">
              <a:buClr>
                <a:schemeClr val="dk1"/>
              </a:buClr>
              <a:buSzPts val="2000"/>
            </a:pPr>
            <a:r>
              <a:rPr lang="en" sz="2200" dirty="0"/>
              <a:t>You can reserve the time for your Five-Minute Meeting starting today.</a:t>
            </a:r>
          </a:p>
          <a:p>
            <a:pPr lvl="0" indent="-355600">
              <a:buClr>
                <a:schemeClr val="dk1"/>
              </a:buClr>
              <a:buSzPts val="2000"/>
            </a:pPr>
            <a:r>
              <a:rPr lang="en" sz="2200" dirty="0"/>
              <a:t>The Five-Minute Meeting will occur between Monday, February 16</a:t>
            </a:r>
            <a:r>
              <a:rPr lang="en" sz="2200" baseline="30000" dirty="0"/>
              <a:t>th</a:t>
            </a:r>
            <a:r>
              <a:rPr lang="en" sz="2200" dirty="0"/>
              <a:t> and Friday, February 27th. </a:t>
            </a:r>
          </a:p>
          <a:p>
            <a:pPr lvl="0" indent="-355600">
              <a:buClr>
                <a:schemeClr val="dk1"/>
              </a:buClr>
              <a:buSzPts val="2000"/>
            </a:pPr>
            <a:r>
              <a:rPr lang="en" sz="2200" dirty="0"/>
              <a:t>The Five-Minute Meeting is </a:t>
            </a:r>
            <a:r>
              <a:rPr lang="en" sz="2200" u="sng" dirty="0"/>
              <a:t>required</a:t>
            </a:r>
            <a:r>
              <a:rPr lang="en" sz="2200" dirty="0"/>
              <a:t>. It is worth 10 points. </a:t>
            </a:r>
            <a:endParaRPr lang="en" sz="2200" dirty="0">
              <a:sym typeface="Wingdings" pitchFamily="2" charset="2"/>
            </a:endParaRPr>
          </a:p>
          <a:p>
            <a:pPr lvl="0" indent="-355600">
              <a:buClr>
                <a:schemeClr val="dk1"/>
              </a:buClr>
              <a:buSzPts val="2000"/>
            </a:pPr>
            <a:r>
              <a:rPr lang="en" sz="2200" dirty="0">
                <a:sym typeface="Wingdings" pitchFamily="2" charset="2"/>
              </a:rPr>
              <a:t>Five-Minute Meetings need to be in person, unless you must meet virtually.  Just let us know. </a:t>
            </a:r>
            <a:endParaRPr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Learning-by-Teaching Activity by Slidesgo">
  <a:themeElements>
    <a:clrScheme name="Simple Light">
      <a:dk1>
        <a:srgbClr val="202020"/>
      </a:dk1>
      <a:lt1>
        <a:srgbClr val="F7F9F8"/>
      </a:lt1>
      <a:dk2>
        <a:srgbClr val="E8B985"/>
      </a:dk2>
      <a:lt2>
        <a:srgbClr val="F2D989"/>
      </a:lt2>
      <a:accent1>
        <a:srgbClr val="C3DEE9"/>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Droplet</Template>
  <TotalTime>610</TotalTime>
  <Words>3622</Words>
  <Application>Microsoft Macintosh PowerPoint</Application>
  <PresentationFormat>On-screen Show (16:9)</PresentationFormat>
  <Paragraphs>277</Paragraphs>
  <Slides>30</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Assistant</vt:lpstr>
      <vt:lpstr>Arial</vt:lpstr>
      <vt:lpstr>Times New Roman</vt:lpstr>
      <vt:lpstr>Alexandria Medium</vt:lpstr>
      <vt:lpstr>Alexandria</vt:lpstr>
      <vt:lpstr>Open Sans</vt:lpstr>
      <vt:lpstr>Wingdings</vt:lpstr>
      <vt:lpstr>Courier New</vt:lpstr>
      <vt:lpstr>Learning-by-Teaching Activity by Slidesgo</vt:lpstr>
      <vt:lpstr>Behavior Modification Assignment Project: Defining Behaviors, ABCs,  and SMART Goals</vt:lpstr>
      <vt:lpstr>PowerPoint Presentation</vt:lpstr>
      <vt:lpstr>Behavior Modification  Assignment Project</vt:lpstr>
      <vt:lpstr>Behavior Modification  Assignment Project (cont.)</vt:lpstr>
      <vt:lpstr>Important Note: </vt:lpstr>
      <vt:lpstr>PowerPoint Presentation</vt:lpstr>
      <vt:lpstr>1. Define your unwanted target behavior and explain WHY you chose this particular unwanted target behavior for intervention.</vt:lpstr>
      <vt:lpstr>Example</vt:lpstr>
      <vt:lpstr>2. Next, define your wanted goal behavior that you hope to strengthen by the end of your intervention.</vt:lpstr>
      <vt:lpstr>Example</vt:lpstr>
      <vt:lpstr>Understanding the Two Behaviors</vt:lpstr>
      <vt:lpstr>3. Use the SMART goal acronym to further define your wanted goal behavior.</vt:lpstr>
      <vt:lpstr>PowerPoint Presentation</vt:lpstr>
      <vt:lpstr>Example</vt:lpstr>
      <vt:lpstr>4. Perform a functional behavioral analysis (FBA) of the unwanted target behavior you are trying to change. Detail the ABCs of that behavior.</vt:lpstr>
      <vt:lpstr>4a. What are the ANTECEDENTS (triggers) for your engagement in your unwanted target behavior? </vt:lpstr>
      <vt:lpstr>Example</vt:lpstr>
      <vt:lpstr>4b. What are you ACTIVELY doing during your unwanted target behavior? </vt:lpstr>
      <vt:lpstr>Example</vt:lpstr>
      <vt:lpstr>4c. What are the CONSEQUENCES of engaging in your unwanted target behavior? </vt:lpstr>
      <vt:lpstr>Example</vt:lpstr>
      <vt:lpstr>Review of ABCs </vt:lpstr>
      <vt:lpstr>5. Why do you continue to engage in the unwanted target behavior, even though it results in undesired consequences?</vt:lpstr>
      <vt:lpstr>Example</vt:lpstr>
      <vt:lpstr>6. One way we can try to change our unwanted target behavior is by changing our antecedents. By changing our antecedents, we can change our behavior and, thus, our consequences change.      </vt:lpstr>
      <vt:lpstr>Example 1</vt:lpstr>
      <vt:lpstr>Example 2</vt:lpstr>
      <vt:lpstr>Submit This Handout to Canvas</vt:lpstr>
      <vt:lpstr>If You Decide to Use AI to Help You</vt:lpstr>
      <vt:lpstr>Five-Minute Meetings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University of Memphis PSYC 1030</cp:lastModifiedBy>
  <cp:revision>32</cp:revision>
  <cp:lastPrinted>2025-09-14T18:57:39Z</cp:lastPrinted>
  <dcterms:modified xsi:type="dcterms:W3CDTF">2026-02-04T01:16:39Z</dcterms:modified>
</cp:coreProperties>
</file>